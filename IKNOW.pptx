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28"/>
  </p:notesMasterIdLst>
  <p:sldIdLst>
    <p:sldId id="256" r:id="rId2"/>
    <p:sldId id="258" r:id="rId3"/>
    <p:sldId id="275" r:id="rId4"/>
    <p:sldId id="273" r:id="rId5"/>
    <p:sldId id="274" r:id="rId6"/>
    <p:sldId id="277" r:id="rId7"/>
    <p:sldId id="278" r:id="rId8"/>
    <p:sldId id="281" r:id="rId9"/>
    <p:sldId id="280" r:id="rId10"/>
    <p:sldId id="282" r:id="rId11"/>
    <p:sldId id="283" r:id="rId12"/>
    <p:sldId id="284" r:id="rId13"/>
    <p:sldId id="279" r:id="rId14"/>
    <p:sldId id="285" r:id="rId15"/>
    <p:sldId id="286" r:id="rId16"/>
    <p:sldId id="287" r:id="rId17"/>
    <p:sldId id="288" r:id="rId18"/>
    <p:sldId id="268" r:id="rId19"/>
    <p:sldId id="272" r:id="rId20"/>
    <p:sldId id="263" r:id="rId21"/>
    <p:sldId id="269" r:id="rId22"/>
    <p:sldId id="264" r:id="rId23"/>
    <p:sldId id="260" r:id="rId24"/>
    <p:sldId id="265" r:id="rId25"/>
    <p:sldId id="276" r:id="rId26"/>
    <p:sldId id="271" r:id="rId27"/>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66"/>
    <a:srgbClr val="3E3A5F"/>
    <a:srgbClr val="F159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471" autoAdjust="0"/>
    <p:restoredTop sz="94660"/>
  </p:normalViewPr>
  <p:slideViewPr>
    <p:cSldViewPr>
      <p:cViewPr>
        <p:scale>
          <a:sx n="75" d="100"/>
          <a:sy n="75" d="100"/>
        </p:scale>
        <p:origin x="-1522" y="31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B25C30-B362-4B0E-B499-2D88CA7C7E53}" type="datetimeFigureOut">
              <a:rPr lang="tr-TR" smtClean="0"/>
              <a:t>5.08.2025</a:t>
            </a:fld>
            <a:endParaRPr lang="tr-T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99B732-31EF-4F86-9320-975598378D9E}" type="slidenum">
              <a:rPr lang="tr-TR" smtClean="0"/>
              <a:t>‹#›</a:t>
            </a:fld>
            <a:endParaRPr lang="tr-TR"/>
          </a:p>
        </p:txBody>
      </p:sp>
    </p:spTree>
    <p:extLst>
      <p:ext uri="{BB962C8B-B14F-4D97-AF65-F5344CB8AC3E}">
        <p14:creationId xmlns:p14="http://schemas.microsoft.com/office/powerpoint/2010/main" val="2901762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3B8FC9-E89F-7483-B890-7ED65D935AEF}"/>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tr-TR"/>
          </a:p>
        </p:txBody>
      </p:sp>
      <p:sp>
        <p:nvSpPr>
          <p:cNvPr id="3" name="Subtitle 2">
            <a:extLst>
              <a:ext uri="{FF2B5EF4-FFF2-40B4-BE49-F238E27FC236}">
                <a16:creationId xmlns:a16="http://schemas.microsoft.com/office/drawing/2014/main" xmlns="" id="{150AD515-141B-BBFB-74E1-9AD43B9D5F6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tr-TR"/>
          </a:p>
        </p:txBody>
      </p:sp>
      <p:sp>
        <p:nvSpPr>
          <p:cNvPr id="4" name="Date Placeholder 3">
            <a:extLst>
              <a:ext uri="{FF2B5EF4-FFF2-40B4-BE49-F238E27FC236}">
                <a16:creationId xmlns:a16="http://schemas.microsoft.com/office/drawing/2014/main" xmlns="" id="{12565190-53CA-892E-C1B4-24360A7DA367}"/>
              </a:ext>
            </a:extLst>
          </p:cNvPr>
          <p:cNvSpPr>
            <a:spLocks noGrp="1"/>
          </p:cNvSpPr>
          <p:nvPr>
            <p:ph type="dt" sz="half" idx="10"/>
          </p:nvPr>
        </p:nvSpPr>
        <p:spPr/>
        <p:txBody>
          <a:bodyPr/>
          <a:lstStyle/>
          <a:p>
            <a:fld id="{6D5FB3EC-D34C-4EFD-A5B0-14D97A115A22}" type="datetime1">
              <a:rPr lang="tr-TR" smtClean="0"/>
              <a:t>5.08.2025</a:t>
            </a:fld>
            <a:endParaRPr lang="tr-TR"/>
          </a:p>
        </p:txBody>
      </p:sp>
      <p:sp>
        <p:nvSpPr>
          <p:cNvPr id="5" name="Footer Placeholder 4">
            <a:extLst>
              <a:ext uri="{FF2B5EF4-FFF2-40B4-BE49-F238E27FC236}">
                <a16:creationId xmlns:a16="http://schemas.microsoft.com/office/drawing/2014/main" xmlns="" id="{AA997327-8946-B582-6FA3-740C43789041}"/>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xmlns="" id="{5B1EE571-6164-540F-DDFB-961133B8124A}"/>
              </a:ext>
            </a:extLst>
          </p:cNvPr>
          <p:cNvSpPr>
            <a:spLocks noGrp="1"/>
          </p:cNvSpPr>
          <p:nvPr>
            <p:ph type="sldNum" sz="quarter" idx="12"/>
          </p:nvPr>
        </p:nvSpPr>
        <p:spPr/>
        <p:txBody>
          <a:bodyPr/>
          <a:lstStyle/>
          <a:p>
            <a:fld id="{45536E09-86AD-465C-A544-548EAC427A74}" type="slidenum">
              <a:rPr lang="tr-TR" smtClean="0"/>
              <a:t>‹#›</a:t>
            </a:fld>
            <a:endParaRPr lang="tr-TR"/>
          </a:p>
        </p:txBody>
      </p:sp>
    </p:spTree>
    <p:extLst>
      <p:ext uri="{BB962C8B-B14F-4D97-AF65-F5344CB8AC3E}">
        <p14:creationId xmlns:p14="http://schemas.microsoft.com/office/powerpoint/2010/main" val="979097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77FE7D-3091-A4CB-96A6-45ACB76F80DB}"/>
              </a:ext>
            </a:extLst>
          </p:cNvPr>
          <p:cNvSpPr>
            <a:spLocks noGrp="1"/>
          </p:cNvSpPr>
          <p:nvPr>
            <p:ph type="title"/>
          </p:nvPr>
        </p:nvSpPr>
        <p:spPr/>
        <p:txBody>
          <a:bodyPr/>
          <a:lstStyle/>
          <a:p>
            <a:r>
              <a:rPr lang="en-US"/>
              <a:t>Click to edit Master title style</a:t>
            </a:r>
            <a:endParaRPr lang="tr-TR"/>
          </a:p>
        </p:txBody>
      </p:sp>
      <p:sp>
        <p:nvSpPr>
          <p:cNvPr id="3" name="Content Placeholder 2">
            <a:extLst>
              <a:ext uri="{FF2B5EF4-FFF2-40B4-BE49-F238E27FC236}">
                <a16:creationId xmlns:a16="http://schemas.microsoft.com/office/drawing/2014/main" xmlns="" id="{B5F6B469-A810-1C80-B778-0BFD9A1E11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xmlns="" id="{3443F39E-8972-7B0B-E267-9DD015FAE3C8}"/>
              </a:ext>
            </a:extLst>
          </p:cNvPr>
          <p:cNvSpPr>
            <a:spLocks noGrp="1"/>
          </p:cNvSpPr>
          <p:nvPr>
            <p:ph type="dt" sz="half" idx="10"/>
          </p:nvPr>
        </p:nvSpPr>
        <p:spPr/>
        <p:txBody>
          <a:bodyPr/>
          <a:lstStyle/>
          <a:p>
            <a:fld id="{3A3B3C85-B4C9-4412-B9B9-19959216F3AD}" type="datetime1">
              <a:rPr lang="tr-TR" smtClean="0"/>
              <a:t>5.08.2025</a:t>
            </a:fld>
            <a:endParaRPr lang="tr-TR"/>
          </a:p>
        </p:txBody>
      </p:sp>
      <p:sp>
        <p:nvSpPr>
          <p:cNvPr id="5" name="Footer Placeholder 4">
            <a:extLst>
              <a:ext uri="{FF2B5EF4-FFF2-40B4-BE49-F238E27FC236}">
                <a16:creationId xmlns:a16="http://schemas.microsoft.com/office/drawing/2014/main" xmlns="" id="{236D79D0-F89F-2258-3612-5378AB2B702C}"/>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xmlns="" id="{A614F1B2-0A36-5E3D-C728-E185819EA958}"/>
              </a:ext>
            </a:extLst>
          </p:cNvPr>
          <p:cNvSpPr>
            <a:spLocks noGrp="1"/>
          </p:cNvSpPr>
          <p:nvPr>
            <p:ph type="sldNum" sz="quarter" idx="12"/>
          </p:nvPr>
        </p:nvSpPr>
        <p:spPr/>
        <p:txBody>
          <a:bodyPr/>
          <a:lstStyle/>
          <a:p>
            <a:fld id="{45536E09-86AD-465C-A544-548EAC427A74}" type="slidenum">
              <a:rPr lang="tr-TR" smtClean="0"/>
              <a:t>‹#›</a:t>
            </a:fld>
            <a:endParaRPr lang="tr-TR"/>
          </a:p>
        </p:txBody>
      </p:sp>
    </p:spTree>
    <p:extLst>
      <p:ext uri="{BB962C8B-B14F-4D97-AF65-F5344CB8AC3E}">
        <p14:creationId xmlns:p14="http://schemas.microsoft.com/office/powerpoint/2010/main" val="3072663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754472-C222-B617-EE1D-5D0350EA3AB4}"/>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tr-TR"/>
          </a:p>
        </p:txBody>
      </p:sp>
      <p:sp>
        <p:nvSpPr>
          <p:cNvPr id="3" name="Text Placeholder 2">
            <a:extLst>
              <a:ext uri="{FF2B5EF4-FFF2-40B4-BE49-F238E27FC236}">
                <a16:creationId xmlns:a16="http://schemas.microsoft.com/office/drawing/2014/main" xmlns="" id="{9987C64D-07FD-DC7E-FCF5-4720E016DCCC}"/>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878F993-9D4D-F83A-EBFE-EA2CC8436CC2}"/>
              </a:ext>
            </a:extLst>
          </p:cNvPr>
          <p:cNvSpPr>
            <a:spLocks noGrp="1"/>
          </p:cNvSpPr>
          <p:nvPr>
            <p:ph type="dt" sz="half" idx="10"/>
          </p:nvPr>
        </p:nvSpPr>
        <p:spPr/>
        <p:txBody>
          <a:bodyPr/>
          <a:lstStyle/>
          <a:p>
            <a:fld id="{7BB4B032-15F8-4822-8A0C-A12980F6A0BF}" type="datetime1">
              <a:rPr lang="tr-TR" smtClean="0"/>
              <a:t>5.08.2025</a:t>
            </a:fld>
            <a:endParaRPr lang="tr-TR"/>
          </a:p>
        </p:txBody>
      </p:sp>
      <p:sp>
        <p:nvSpPr>
          <p:cNvPr id="5" name="Footer Placeholder 4">
            <a:extLst>
              <a:ext uri="{FF2B5EF4-FFF2-40B4-BE49-F238E27FC236}">
                <a16:creationId xmlns:a16="http://schemas.microsoft.com/office/drawing/2014/main" xmlns="" id="{EA3326E2-58EB-A357-7780-8CEFBA37E898}"/>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xmlns="" id="{7B3CD001-3907-1B54-97F0-DB6ED13D039F}"/>
              </a:ext>
            </a:extLst>
          </p:cNvPr>
          <p:cNvSpPr>
            <a:spLocks noGrp="1"/>
          </p:cNvSpPr>
          <p:nvPr>
            <p:ph type="sldNum" sz="quarter" idx="12"/>
          </p:nvPr>
        </p:nvSpPr>
        <p:spPr/>
        <p:txBody>
          <a:bodyPr/>
          <a:lstStyle/>
          <a:p>
            <a:fld id="{45536E09-86AD-465C-A544-548EAC427A74}" type="slidenum">
              <a:rPr lang="tr-TR" smtClean="0"/>
              <a:t>‹#›</a:t>
            </a:fld>
            <a:endParaRPr lang="tr-TR"/>
          </a:p>
        </p:txBody>
      </p:sp>
    </p:spTree>
    <p:extLst>
      <p:ext uri="{BB962C8B-B14F-4D97-AF65-F5344CB8AC3E}">
        <p14:creationId xmlns:p14="http://schemas.microsoft.com/office/powerpoint/2010/main" val="141635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8238D4-F02C-1A7B-17C3-F8C026E5977F}"/>
              </a:ext>
            </a:extLst>
          </p:cNvPr>
          <p:cNvSpPr>
            <a:spLocks noGrp="1"/>
          </p:cNvSpPr>
          <p:nvPr>
            <p:ph type="title"/>
          </p:nvPr>
        </p:nvSpPr>
        <p:spPr/>
        <p:txBody>
          <a:bodyPr/>
          <a:lstStyle/>
          <a:p>
            <a:r>
              <a:rPr lang="en-US"/>
              <a:t>Click to edit Master title style</a:t>
            </a:r>
            <a:endParaRPr lang="tr-TR"/>
          </a:p>
        </p:txBody>
      </p:sp>
      <p:sp>
        <p:nvSpPr>
          <p:cNvPr id="3" name="Content Placeholder 2">
            <a:extLst>
              <a:ext uri="{FF2B5EF4-FFF2-40B4-BE49-F238E27FC236}">
                <a16:creationId xmlns:a16="http://schemas.microsoft.com/office/drawing/2014/main" xmlns="" id="{78EDC608-BF4B-E45B-9A94-00D28A393B33}"/>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a:extLst>
              <a:ext uri="{FF2B5EF4-FFF2-40B4-BE49-F238E27FC236}">
                <a16:creationId xmlns:a16="http://schemas.microsoft.com/office/drawing/2014/main" xmlns="" id="{A65CC1B0-B7D8-A319-D686-2C3219FE358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a:extLst>
              <a:ext uri="{FF2B5EF4-FFF2-40B4-BE49-F238E27FC236}">
                <a16:creationId xmlns:a16="http://schemas.microsoft.com/office/drawing/2014/main" xmlns="" id="{084CD46D-C693-F82A-06B0-21D2212C9D9E}"/>
              </a:ext>
            </a:extLst>
          </p:cNvPr>
          <p:cNvSpPr>
            <a:spLocks noGrp="1"/>
          </p:cNvSpPr>
          <p:nvPr>
            <p:ph type="dt" sz="half" idx="10"/>
          </p:nvPr>
        </p:nvSpPr>
        <p:spPr/>
        <p:txBody>
          <a:bodyPr/>
          <a:lstStyle/>
          <a:p>
            <a:fld id="{B03E615A-3716-4096-B961-A912248E261F}" type="datetime1">
              <a:rPr lang="tr-TR" smtClean="0"/>
              <a:t>5.08.2025</a:t>
            </a:fld>
            <a:endParaRPr lang="tr-TR"/>
          </a:p>
        </p:txBody>
      </p:sp>
      <p:sp>
        <p:nvSpPr>
          <p:cNvPr id="6" name="Footer Placeholder 5">
            <a:extLst>
              <a:ext uri="{FF2B5EF4-FFF2-40B4-BE49-F238E27FC236}">
                <a16:creationId xmlns:a16="http://schemas.microsoft.com/office/drawing/2014/main" xmlns="" id="{47BD6929-6396-51F5-1FBC-952BB7298785}"/>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xmlns="" id="{5ACA3966-D69B-B5D5-DEA0-04A7FA320B0A}"/>
              </a:ext>
            </a:extLst>
          </p:cNvPr>
          <p:cNvSpPr>
            <a:spLocks noGrp="1"/>
          </p:cNvSpPr>
          <p:nvPr>
            <p:ph type="sldNum" sz="quarter" idx="12"/>
          </p:nvPr>
        </p:nvSpPr>
        <p:spPr/>
        <p:txBody>
          <a:bodyPr/>
          <a:lstStyle/>
          <a:p>
            <a:fld id="{45536E09-86AD-465C-A544-548EAC427A74}" type="slidenum">
              <a:rPr lang="tr-TR" smtClean="0"/>
              <a:t>‹#›</a:t>
            </a:fld>
            <a:endParaRPr lang="tr-TR"/>
          </a:p>
        </p:txBody>
      </p:sp>
    </p:spTree>
    <p:extLst>
      <p:ext uri="{BB962C8B-B14F-4D97-AF65-F5344CB8AC3E}">
        <p14:creationId xmlns:p14="http://schemas.microsoft.com/office/powerpoint/2010/main" val="3098314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17F581-2A60-B174-DC38-139500E1CC7A}"/>
              </a:ext>
            </a:extLst>
          </p:cNvPr>
          <p:cNvSpPr>
            <a:spLocks noGrp="1"/>
          </p:cNvSpPr>
          <p:nvPr>
            <p:ph type="title"/>
          </p:nvPr>
        </p:nvSpPr>
        <p:spPr>
          <a:xfrm>
            <a:off x="629841" y="365126"/>
            <a:ext cx="7886700" cy="1325563"/>
          </a:xfrm>
        </p:spPr>
        <p:txBody>
          <a:bodyPr/>
          <a:lstStyle/>
          <a:p>
            <a:r>
              <a:rPr lang="en-US"/>
              <a:t>Click to edit Master title style</a:t>
            </a:r>
            <a:endParaRPr lang="tr-TR"/>
          </a:p>
        </p:txBody>
      </p:sp>
      <p:sp>
        <p:nvSpPr>
          <p:cNvPr id="3" name="Text Placeholder 2">
            <a:extLst>
              <a:ext uri="{FF2B5EF4-FFF2-40B4-BE49-F238E27FC236}">
                <a16:creationId xmlns:a16="http://schemas.microsoft.com/office/drawing/2014/main" xmlns="" id="{5EA1D389-1273-DB6B-C124-8CD4CDD7479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C9EBC3A-2B8D-F828-AC2F-0191F6606EDC}"/>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a:extLst>
              <a:ext uri="{FF2B5EF4-FFF2-40B4-BE49-F238E27FC236}">
                <a16:creationId xmlns:a16="http://schemas.microsoft.com/office/drawing/2014/main" xmlns="" id="{DF6397D1-2C11-C106-B6C0-840E3F2B7266}"/>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257F46DD-0C2C-DD34-3E06-A3771A4A393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a:extLst>
              <a:ext uri="{FF2B5EF4-FFF2-40B4-BE49-F238E27FC236}">
                <a16:creationId xmlns:a16="http://schemas.microsoft.com/office/drawing/2014/main" xmlns="" id="{B06AC0B7-3080-0E44-0768-C2E1F8D13EAE}"/>
              </a:ext>
            </a:extLst>
          </p:cNvPr>
          <p:cNvSpPr>
            <a:spLocks noGrp="1"/>
          </p:cNvSpPr>
          <p:nvPr>
            <p:ph type="dt" sz="half" idx="10"/>
          </p:nvPr>
        </p:nvSpPr>
        <p:spPr/>
        <p:txBody>
          <a:bodyPr/>
          <a:lstStyle/>
          <a:p>
            <a:fld id="{CD93DCD4-0B63-4BEB-B5D6-C8B375C35FF5}" type="datetime1">
              <a:rPr lang="tr-TR" smtClean="0"/>
              <a:t>5.08.2025</a:t>
            </a:fld>
            <a:endParaRPr lang="tr-TR"/>
          </a:p>
        </p:txBody>
      </p:sp>
      <p:sp>
        <p:nvSpPr>
          <p:cNvPr id="8" name="Footer Placeholder 7">
            <a:extLst>
              <a:ext uri="{FF2B5EF4-FFF2-40B4-BE49-F238E27FC236}">
                <a16:creationId xmlns:a16="http://schemas.microsoft.com/office/drawing/2014/main" xmlns="" id="{13CCF1AC-C862-5120-2151-EB1965236D7A}"/>
              </a:ext>
            </a:extLst>
          </p:cNvPr>
          <p:cNvSpPr>
            <a:spLocks noGrp="1"/>
          </p:cNvSpPr>
          <p:nvPr>
            <p:ph type="ftr" sz="quarter" idx="11"/>
          </p:nvPr>
        </p:nvSpPr>
        <p:spPr/>
        <p:txBody>
          <a:bodyPr/>
          <a:lstStyle/>
          <a:p>
            <a:endParaRPr lang="tr-TR"/>
          </a:p>
        </p:txBody>
      </p:sp>
      <p:sp>
        <p:nvSpPr>
          <p:cNvPr id="9" name="Slide Number Placeholder 8">
            <a:extLst>
              <a:ext uri="{FF2B5EF4-FFF2-40B4-BE49-F238E27FC236}">
                <a16:creationId xmlns:a16="http://schemas.microsoft.com/office/drawing/2014/main" xmlns="" id="{04275CFC-1C71-B985-B2B0-8A06A9AC8619}"/>
              </a:ext>
            </a:extLst>
          </p:cNvPr>
          <p:cNvSpPr>
            <a:spLocks noGrp="1"/>
          </p:cNvSpPr>
          <p:nvPr>
            <p:ph type="sldNum" sz="quarter" idx="12"/>
          </p:nvPr>
        </p:nvSpPr>
        <p:spPr/>
        <p:txBody>
          <a:bodyPr/>
          <a:lstStyle/>
          <a:p>
            <a:fld id="{45536E09-86AD-465C-A544-548EAC427A74}" type="slidenum">
              <a:rPr lang="tr-TR" smtClean="0"/>
              <a:t>‹#›</a:t>
            </a:fld>
            <a:endParaRPr lang="tr-TR"/>
          </a:p>
        </p:txBody>
      </p:sp>
    </p:spTree>
    <p:extLst>
      <p:ext uri="{BB962C8B-B14F-4D97-AF65-F5344CB8AC3E}">
        <p14:creationId xmlns:p14="http://schemas.microsoft.com/office/powerpoint/2010/main" val="1124765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34D4DC-0C7D-3191-ECE3-A8DE6B39BB57}"/>
              </a:ext>
            </a:extLst>
          </p:cNvPr>
          <p:cNvSpPr>
            <a:spLocks noGrp="1"/>
          </p:cNvSpPr>
          <p:nvPr>
            <p:ph type="title"/>
          </p:nvPr>
        </p:nvSpPr>
        <p:spPr/>
        <p:txBody>
          <a:bodyPr/>
          <a:lstStyle/>
          <a:p>
            <a:r>
              <a:rPr lang="en-US"/>
              <a:t>Click to edit Master title style</a:t>
            </a:r>
            <a:endParaRPr lang="tr-TR"/>
          </a:p>
        </p:txBody>
      </p:sp>
      <p:sp>
        <p:nvSpPr>
          <p:cNvPr id="3" name="Date Placeholder 2">
            <a:extLst>
              <a:ext uri="{FF2B5EF4-FFF2-40B4-BE49-F238E27FC236}">
                <a16:creationId xmlns:a16="http://schemas.microsoft.com/office/drawing/2014/main" xmlns="" id="{786AEE91-726E-4EE1-4996-612088815459}"/>
              </a:ext>
            </a:extLst>
          </p:cNvPr>
          <p:cNvSpPr>
            <a:spLocks noGrp="1"/>
          </p:cNvSpPr>
          <p:nvPr>
            <p:ph type="dt" sz="half" idx="10"/>
          </p:nvPr>
        </p:nvSpPr>
        <p:spPr/>
        <p:txBody>
          <a:bodyPr/>
          <a:lstStyle/>
          <a:p>
            <a:fld id="{473699E1-B412-41DA-86AF-17923EA2AD81}" type="datetime1">
              <a:rPr lang="tr-TR" smtClean="0"/>
              <a:t>5.08.2025</a:t>
            </a:fld>
            <a:endParaRPr lang="tr-TR"/>
          </a:p>
        </p:txBody>
      </p:sp>
      <p:sp>
        <p:nvSpPr>
          <p:cNvPr id="4" name="Footer Placeholder 3">
            <a:extLst>
              <a:ext uri="{FF2B5EF4-FFF2-40B4-BE49-F238E27FC236}">
                <a16:creationId xmlns:a16="http://schemas.microsoft.com/office/drawing/2014/main" xmlns="" id="{4BCC9C0A-8C8E-2F1B-FF8F-9A20138A10F6}"/>
              </a:ext>
            </a:extLst>
          </p:cNvPr>
          <p:cNvSpPr>
            <a:spLocks noGrp="1"/>
          </p:cNvSpPr>
          <p:nvPr>
            <p:ph type="ftr" sz="quarter" idx="11"/>
          </p:nvPr>
        </p:nvSpPr>
        <p:spPr/>
        <p:txBody>
          <a:bodyPr/>
          <a:lstStyle/>
          <a:p>
            <a:endParaRPr lang="tr-TR"/>
          </a:p>
        </p:txBody>
      </p:sp>
      <p:sp>
        <p:nvSpPr>
          <p:cNvPr id="5" name="Slide Number Placeholder 4">
            <a:extLst>
              <a:ext uri="{FF2B5EF4-FFF2-40B4-BE49-F238E27FC236}">
                <a16:creationId xmlns:a16="http://schemas.microsoft.com/office/drawing/2014/main" xmlns="" id="{F802D6C7-8565-3CAE-69AA-3E79BAA927D4}"/>
              </a:ext>
            </a:extLst>
          </p:cNvPr>
          <p:cNvSpPr>
            <a:spLocks noGrp="1"/>
          </p:cNvSpPr>
          <p:nvPr>
            <p:ph type="sldNum" sz="quarter" idx="12"/>
          </p:nvPr>
        </p:nvSpPr>
        <p:spPr/>
        <p:txBody>
          <a:bodyPr/>
          <a:lstStyle/>
          <a:p>
            <a:fld id="{45536E09-86AD-465C-A544-548EAC427A74}" type="slidenum">
              <a:rPr lang="tr-TR" smtClean="0"/>
              <a:t>‹#›</a:t>
            </a:fld>
            <a:endParaRPr lang="tr-TR"/>
          </a:p>
        </p:txBody>
      </p:sp>
    </p:spTree>
    <p:extLst>
      <p:ext uri="{BB962C8B-B14F-4D97-AF65-F5344CB8AC3E}">
        <p14:creationId xmlns:p14="http://schemas.microsoft.com/office/powerpoint/2010/main" val="3597526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88F065B2-461D-9743-E05F-5517E8FA7B6B}"/>
              </a:ext>
            </a:extLst>
          </p:cNvPr>
          <p:cNvSpPr>
            <a:spLocks noGrp="1"/>
          </p:cNvSpPr>
          <p:nvPr>
            <p:ph type="dt" sz="half" idx="10"/>
          </p:nvPr>
        </p:nvSpPr>
        <p:spPr/>
        <p:txBody>
          <a:bodyPr/>
          <a:lstStyle/>
          <a:p>
            <a:fld id="{A7F8EE34-20E9-436D-BDC8-A8FABF742C8D}" type="datetime1">
              <a:rPr lang="tr-TR" smtClean="0"/>
              <a:t>5.08.2025</a:t>
            </a:fld>
            <a:endParaRPr lang="tr-TR"/>
          </a:p>
        </p:txBody>
      </p:sp>
      <p:sp>
        <p:nvSpPr>
          <p:cNvPr id="3" name="Footer Placeholder 2">
            <a:extLst>
              <a:ext uri="{FF2B5EF4-FFF2-40B4-BE49-F238E27FC236}">
                <a16:creationId xmlns:a16="http://schemas.microsoft.com/office/drawing/2014/main" xmlns="" id="{277BA35F-844B-DCC8-D14C-33C54FF490C6}"/>
              </a:ext>
            </a:extLst>
          </p:cNvPr>
          <p:cNvSpPr>
            <a:spLocks noGrp="1"/>
          </p:cNvSpPr>
          <p:nvPr>
            <p:ph type="ftr" sz="quarter" idx="11"/>
          </p:nvPr>
        </p:nvSpPr>
        <p:spPr/>
        <p:txBody>
          <a:bodyPr/>
          <a:lstStyle/>
          <a:p>
            <a:endParaRPr lang="tr-TR"/>
          </a:p>
        </p:txBody>
      </p:sp>
      <p:sp>
        <p:nvSpPr>
          <p:cNvPr id="4" name="Slide Number Placeholder 3">
            <a:extLst>
              <a:ext uri="{FF2B5EF4-FFF2-40B4-BE49-F238E27FC236}">
                <a16:creationId xmlns:a16="http://schemas.microsoft.com/office/drawing/2014/main" xmlns="" id="{92F53159-936B-2545-7925-131055F2D15E}"/>
              </a:ext>
            </a:extLst>
          </p:cNvPr>
          <p:cNvSpPr>
            <a:spLocks noGrp="1"/>
          </p:cNvSpPr>
          <p:nvPr>
            <p:ph type="sldNum" sz="quarter" idx="12"/>
          </p:nvPr>
        </p:nvSpPr>
        <p:spPr/>
        <p:txBody>
          <a:bodyPr/>
          <a:lstStyle/>
          <a:p>
            <a:fld id="{45536E09-86AD-465C-A544-548EAC427A74}" type="slidenum">
              <a:rPr lang="tr-TR" smtClean="0"/>
              <a:t>‹#›</a:t>
            </a:fld>
            <a:endParaRPr lang="tr-TR"/>
          </a:p>
        </p:txBody>
      </p:sp>
    </p:spTree>
    <p:extLst>
      <p:ext uri="{BB962C8B-B14F-4D97-AF65-F5344CB8AC3E}">
        <p14:creationId xmlns:p14="http://schemas.microsoft.com/office/powerpoint/2010/main" val="241370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7DE419-0326-AFC1-E2D9-623ABCD0F0E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tr-TR"/>
          </a:p>
        </p:txBody>
      </p:sp>
      <p:sp>
        <p:nvSpPr>
          <p:cNvPr id="3" name="Content Placeholder 2">
            <a:extLst>
              <a:ext uri="{FF2B5EF4-FFF2-40B4-BE49-F238E27FC236}">
                <a16:creationId xmlns:a16="http://schemas.microsoft.com/office/drawing/2014/main" xmlns="" id="{1340A78E-074D-E468-3754-554AC65CFB9C}"/>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a:extLst>
              <a:ext uri="{FF2B5EF4-FFF2-40B4-BE49-F238E27FC236}">
                <a16:creationId xmlns:a16="http://schemas.microsoft.com/office/drawing/2014/main" xmlns="" id="{E9283871-2BF7-A6E8-6C76-FBB3410899E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xmlns="" id="{47B7BC79-C20E-4102-7BB7-6D9C2BF9F91B}"/>
              </a:ext>
            </a:extLst>
          </p:cNvPr>
          <p:cNvSpPr>
            <a:spLocks noGrp="1"/>
          </p:cNvSpPr>
          <p:nvPr>
            <p:ph type="dt" sz="half" idx="10"/>
          </p:nvPr>
        </p:nvSpPr>
        <p:spPr/>
        <p:txBody>
          <a:bodyPr/>
          <a:lstStyle/>
          <a:p>
            <a:fld id="{A5E786F8-0E4D-41C4-ACCF-B512B27B3E7C}" type="datetime1">
              <a:rPr lang="tr-TR" smtClean="0"/>
              <a:t>5.08.2025</a:t>
            </a:fld>
            <a:endParaRPr lang="tr-TR"/>
          </a:p>
        </p:txBody>
      </p:sp>
      <p:sp>
        <p:nvSpPr>
          <p:cNvPr id="6" name="Footer Placeholder 5">
            <a:extLst>
              <a:ext uri="{FF2B5EF4-FFF2-40B4-BE49-F238E27FC236}">
                <a16:creationId xmlns:a16="http://schemas.microsoft.com/office/drawing/2014/main" xmlns="" id="{F994B97F-4473-A775-729C-63EBD37D05C5}"/>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xmlns="" id="{D3C19194-3F32-48E3-36BF-419421C64421}"/>
              </a:ext>
            </a:extLst>
          </p:cNvPr>
          <p:cNvSpPr>
            <a:spLocks noGrp="1"/>
          </p:cNvSpPr>
          <p:nvPr>
            <p:ph type="sldNum" sz="quarter" idx="12"/>
          </p:nvPr>
        </p:nvSpPr>
        <p:spPr/>
        <p:txBody>
          <a:bodyPr/>
          <a:lstStyle/>
          <a:p>
            <a:fld id="{45536E09-86AD-465C-A544-548EAC427A74}" type="slidenum">
              <a:rPr lang="tr-TR" smtClean="0"/>
              <a:t>‹#›</a:t>
            </a:fld>
            <a:endParaRPr lang="tr-TR"/>
          </a:p>
        </p:txBody>
      </p:sp>
    </p:spTree>
    <p:extLst>
      <p:ext uri="{BB962C8B-B14F-4D97-AF65-F5344CB8AC3E}">
        <p14:creationId xmlns:p14="http://schemas.microsoft.com/office/powerpoint/2010/main" val="1542678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CB091D-A0A5-8E9C-3841-E32BAB2C86F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tr-TR"/>
          </a:p>
        </p:txBody>
      </p:sp>
      <p:sp>
        <p:nvSpPr>
          <p:cNvPr id="3" name="Picture Placeholder 2">
            <a:extLst>
              <a:ext uri="{FF2B5EF4-FFF2-40B4-BE49-F238E27FC236}">
                <a16:creationId xmlns:a16="http://schemas.microsoft.com/office/drawing/2014/main" xmlns="" id="{C8E6C17A-946A-6F00-A3A5-9AD206368D2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tr-TR"/>
          </a:p>
        </p:txBody>
      </p:sp>
      <p:sp>
        <p:nvSpPr>
          <p:cNvPr id="4" name="Text Placeholder 3">
            <a:extLst>
              <a:ext uri="{FF2B5EF4-FFF2-40B4-BE49-F238E27FC236}">
                <a16:creationId xmlns:a16="http://schemas.microsoft.com/office/drawing/2014/main" xmlns="" id="{C991B027-18BF-8EDD-8E6B-AB2DA8B67C2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xmlns="" id="{BB10FD60-BC49-726C-D1DB-54F6A5B1468D}"/>
              </a:ext>
            </a:extLst>
          </p:cNvPr>
          <p:cNvSpPr>
            <a:spLocks noGrp="1"/>
          </p:cNvSpPr>
          <p:nvPr>
            <p:ph type="dt" sz="half" idx="10"/>
          </p:nvPr>
        </p:nvSpPr>
        <p:spPr/>
        <p:txBody>
          <a:bodyPr/>
          <a:lstStyle/>
          <a:p>
            <a:fld id="{F856E2EB-7B6C-43F2-B1B8-DDE2F855F44A}" type="datetime1">
              <a:rPr lang="tr-TR" smtClean="0"/>
              <a:t>5.08.2025</a:t>
            </a:fld>
            <a:endParaRPr lang="tr-TR"/>
          </a:p>
        </p:txBody>
      </p:sp>
      <p:sp>
        <p:nvSpPr>
          <p:cNvPr id="6" name="Footer Placeholder 5">
            <a:extLst>
              <a:ext uri="{FF2B5EF4-FFF2-40B4-BE49-F238E27FC236}">
                <a16:creationId xmlns:a16="http://schemas.microsoft.com/office/drawing/2014/main" xmlns="" id="{93C1DC89-3092-8491-47CA-F2A39567606F}"/>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xmlns="" id="{3353283A-9808-4474-2361-D29298106B41}"/>
              </a:ext>
            </a:extLst>
          </p:cNvPr>
          <p:cNvSpPr>
            <a:spLocks noGrp="1"/>
          </p:cNvSpPr>
          <p:nvPr>
            <p:ph type="sldNum" sz="quarter" idx="12"/>
          </p:nvPr>
        </p:nvSpPr>
        <p:spPr/>
        <p:txBody>
          <a:bodyPr/>
          <a:lstStyle/>
          <a:p>
            <a:fld id="{45536E09-86AD-465C-A544-548EAC427A74}" type="slidenum">
              <a:rPr lang="tr-TR" smtClean="0"/>
              <a:t>‹#›</a:t>
            </a:fld>
            <a:endParaRPr lang="tr-TR"/>
          </a:p>
        </p:txBody>
      </p:sp>
    </p:spTree>
    <p:extLst>
      <p:ext uri="{BB962C8B-B14F-4D97-AF65-F5344CB8AC3E}">
        <p14:creationId xmlns:p14="http://schemas.microsoft.com/office/powerpoint/2010/main" val="501292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23BD18-96D7-8957-5B37-E4E5B61407A6}"/>
              </a:ext>
            </a:extLst>
          </p:cNvPr>
          <p:cNvSpPr>
            <a:spLocks noGrp="1"/>
          </p:cNvSpPr>
          <p:nvPr>
            <p:ph type="title"/>
          </p:nvPr>
        </p:nvSpPr>
        <p:spPr/>
        <p:txBody>
          <a:bodyPr/>
          <a:lstStyle/>
          <a:p>
            <a:r>
              <a:rPr lang="en-US"/>
              <a:t>Click to edit Master title style</a:t>
            </a:r>
            <a:endParaRPr lang="tr-TR"/>
          </a:p>
        </p:txBody>
      </p:sp>
      <p:sp>
        <p:nvSpPr>
          <p:cNvPr id="3" name="Vertical Text Placeholder 2">
            <a:extLst>
              <a:ext uri="{FF2B5EF4-FFF2-40B4-BE49-F238E27FC236}">
                <a16:creationId xmlns:a16="http://schemas.microsoft.com/office/drawing/2014/main" xmlns="" id="{DCE16E1E-5AA0-DCA9-D277-227605FC58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xmlns="" id="{17E8561B-7413-245C-6ECC-A3E645769D1A}"/>
              </a:ext>
            </a:extLst>
          </p:cNvPr>
          <p:cNvSpPr>
            <a:spLocks noGrp="1"/>
          </p:cNvSpPr>
          <p:nvPr>
            <p:ph type="dt" sz="half" idx="10"/>
          </p:nvPr>
        </p:nvSpPr>
        <p:spPr/>
        <p:txBody>
          <a:bodyPr/>
          <a:lstStyle/>
          <a:p>
            <a:fld id="{7AD2EF68-0F52-47D7-A5CC-C8CC1646BD03}" type="datetime1">
              <a:rPr lang="tr-TR" smtClean="0"/>
              <a:t>5.08.2025</a:t>
            </a:fld>
            <a:endParaRPr lang="tr-TR"/>
          </a:p>
        </p:txBody>
      </p:sp>
      <p:sp>
        <p:nvSpPr>
          <p:cNvPr id="5" name="Footer Placeholder 4">
            <a:extLst>
              <a:ext uri="{FF2B5EF4-FFF2-40B4-BE49-F238E27FC236}">
                <a16:creationId xmlns:a16="http://schemas.microsoft.com/office/drawing/2014/main" xmlns="" id="{913D2D21-191E-D37B-C2FB-E367EE384532}"/>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xmlns="" id="{0A26EFFD-35DC-0CA0-ED6D-6DCDC600BF6C}"/>
              </a:ext>
            </a:extLst>
          </p:cNvPr>
          <p:cNvSpPr>
            <a:spLocks noGrp="1"/>
          </p:cNvSpPr>
          <p:nvPr>
            <p:ph type="sldNum" sz="quarter" idx="12"/>
          </p:nvPr>
        </p:nvSpPr>
        <p:spPr/>
        <p:txBody>
          <a:bodyPr/>
          <a:lstStyle/>
          <a:p>
            <a:fld id="{45536E09-86AD-465C-A544-548EAC427A74}" type="slidenum">
              <a:rPr lang="tr-TR" smtClean="0"/>
              <a:t>‹#›</a:t>
            </a:fld>
            <a:endParaRPr lang="tr-TR"/>
          </a:p>
        </p:txBody>
      </p:sp>
    </p:spTree>
    <p:extLst>
      <p:ext uri="{BB962C8B-B14F-4D97-AF65-F5344CB8AC3E}">
        <p14:creationId xmlns:p14="http://schemas.microsoft.com/office/powerpoint/2010/main" val="693634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16C62B0-9732-A5B7-BFEB-A206184C5F2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tr-TR"/>
          </a:p>
        </p:txBody>
      </p:sp>
      <p:sp>
        <p:nvSpPr>
          <p:cNvPr id="3" name="Vertical Text Placeholder 2">
            <a:extLst>
              <a:ext uri="{FF2B5EF4-FFF2-40B4-BE49-F238E27FC236}">
                <a16:creationId xmlns:a16="http://schemas.microsoft.com/office/drawing/2014/main" xmlns="" id="{7BB92A01-CC11-28BD-94C3-F4A1458A7156}"/>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xmlns="" id="{D7E45CEF-1123-9543-EE30-96944B8CAAFD}"/>
              </a:ext>
            </a:extLst>
          </p:cNvPr>
          <p:cNvSpPr>
            <a:spLocks noGrp="1"/>
          </p:cNvSpPr>
          <p:nvPr>
            <p:ph type="dt" sz="half" idx="10"/>
          </p:nvPr>
        </p:nvSpPr>
        <p:spPr/>
        <p:txBody>
          <a:bodyPr/>
          <a:lstStyle/>
          <a:p>
            <a:fld id="{D758C9A3-67D9-423E-BEAA-4C39C79F8065}" type="datetime1">
              <a:rPr lang="tr-TR" smtClean="0"/>
              <a:t>5.08.2025</a:t>
            </a:fld>
            <a:endParaRPr lang="tr-TR"/>
          </a:p>
        </p:txBody>
      </p:sp>
      <p:sp>
        <p:nvSpPr>
          <p:cNvPr id="5" name="Footer Placeholder 4">
            <a:extLst>
              <a:ext uri="{FF2B5EF4-FFF2-40B4-BE49-F238E27FC236}">
                <a16:creationId xmlns:a16="http://schemas.microsoft.com/office/drawing/2014/main" xmlns="" id="{FC896ECB-CFC2-94EA-BD28-19A573754493}"/>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xmlns="" id="{EAE4D2BE-3C32-7FD1-0F2D-956A19391D47}"/>
              </a:ext>
            </a:extLst>
          </p:cNvPr>
          <p:cNvSpPr>
            <a:spLocks noGrp="1"/>
          </p:cNvSpPr>
          <p:nvPr>
            <p:ph type="sldNum" sz="quarter" idx="12"/>
          </p:nvPr>
        </p:nvSpPr>
        <p:spPr/>
        <p:txBody>
          <a:bodyPr/>
          <a:lstStyle/>
          <a:p>
            <a:fld id="{45536E09-86AD-465C-A544-548EAC427A74}" type="slidenum">
              <a:rPr lang="tr-TR" smtClean="0"/>
              <a:t>‹#›</a:t>
            </a:fld>
            <a:endParaRPr lang="tr-TR"/>
          </a:p>
        </p:txBody>
      </p:sp>
    </p:spTree>
    <p:extLst>
      <p:ext uri="{BB962C8B-B14F-4D97-AF65-F5344CB8AC3E}">
        <p14:creationId xmlns:p14="http://schemas.microsoft.com/office/powerpoint/2010/main" val="2585647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F4A40D8-28AA-3061-CD67-427A0EDE3F3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tr-TR"/>
          </a:p>
        </p:txBody>
      </p:sp>
      <p:sp>
        <p:nvSpPr>
          <p:cNvPr id="3" name="Text Placeholder 2">
            <a:extLst>
              <a:ext uri="{FF2B5EF4-FFF2-40B4-BE49-F238E27FC236}">
                <a16:creationId xmlns:a16="http://schemas.microsoft.com/office/drawing/2014/main" xmlns="" id="{280DA695-4B2C-A06D-B9AE-CF6C30B96A34}"/>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xmlns="" id="{0E3F5EB2-6704-F40E-033D-01842E3A70E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7BE616A7-AD17-4E85-886B-987EFCA0829E}" type="datetime1">
              <a:rPr lang="tr-TR" smtClean="0"/>
              <a:t>5.08.2025</a:t>
            </a:fld>
            <a:endParaRPr lang="tr-TR"/>
          </a:p>
        </p:txBody>
      </p:sp>
      <p:sp>
        <p:nvSpPr>
          <p:cNvPr id="5" name="Footer Placeholder 4">
            <a:extLst>
              <a:ext uri="{FF2B5EF4-FFF2-40B4-BE49-F238E27FC236}">
                <a16:creationId xmlns:a16="http://schemas.microsoft.com/office/drawing/2014/main" xmlns="" id="{C7F1E369-5696-3546-7E1F-3B083C1E540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tr-TR"/>
          </a:p>
        </p:txBody>
      </p:sp>
      <p:sp>
        <p:nvSpPr>
          <p:cNvPr id="6" name="Slide Number Placeholder 5">
            <a:extLst>
              <a:ext uri="{FF2B5EF4-FFF2-40B4-BE49-F238E27FC236}">
                <a16:creationId xmlns:a16="http://schemas.microsoft.com/office/drawing/2014/main" xmlns="" id="{FF26AA19-BC06-28A9-C0DA-AC90C10B0E8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5536E09-86AD-465C-A544-548EAC427A74}" type="slidenum">
              <a:rPr lang="tr-TR" smtClean="0"/>
              <a:t>‹#›</a:t>
            </a:fld>
            <a:endParaRPr lang="tr-TR"/>
          </a:p>
        </p:txBody>
      </p:sp>
    </p:spTree>
    <p:extLst>
      <p:ext uri="{BB962C8B-B14F-4D97-AF65-F5344CB8AC3E}">
        <p14:creationId xmlns:p14="http://schemas.microsoft.com/office/powerpoint/2010/main" val="4216331732"/>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tr-T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jpg"/><Relationship Id="rId3" Type="http://schemas.openxmlformats.org/officeDocument/2006/relationships/image" Target="../media/image2.png"/><Relationship Id="rId7" Type="http://schemas.openxmlformats.org/officeDocument/2006/relationships/image" Target="../media/image19.jpg"/><Relationship Id="rId12" Type="http://schemas.openxmlformats.org/officeDocument/2006/relationships/image" Target="../media/image24.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2E580257-4935-AD0B-B782-2D62DBCBAB2B}"/>
              </a:ext>
            </a:extLst>
          </p:cNvPr>
          <p:cNvSpPr txBox="1"/>
          <p:nvPr/>
        </p:nvSpPr>
        <p:spPr>
          <a:xfrm>
            <a:off x="2976979" y="3789040"/>
            <a:ext cx="3190040" cy="646331"/>
          </a:xfrm>
          <a:prstGeom prst="rect">
            <a:avLst/>
          </a:prstGeom>
          <a:noFill/>
        </p:spPr>
        <p:txBody>
          <a:bodyPr wrap="none" rtlCol="0">
            <a:spAutoFit/>
          </a:bodyPr>
          <a:lstStyle/>
          <a:p>
            <a:r>
              <a:rPr lang="en-US" b="1" i="0" dirty="0">
                <a:solidFill>
                  <a:srgbClr val="3E3A5F"/>
                </a:solidFill>
                <a:effectLst/>
                <a:latin typeface="Calibri" panose="020F0502020204030204" pitchFamily="34" charset="0"/>
                <a:ea typeface="Calibri" panose="020F0502020204030204" pitchFamily="34" charset="0"/>
                <a:cs typeface="Calibri" panose="020F0502020204030204" pitchFamily="34" charset="0"/>
              </a:rPr>
              <a:t>Your Partner For Digital Growth</a:t>
            </a:r>
          </a:p>
          <a:p>
            <a:endParaRPr lang="tr-TR"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xmlns="" id="{BFAFB01E-9FF4-7E85-9527-397C3925E0B5}"/>
              </a:ext>
            </a:extLst>
          </p:cNvPr>
          <p:cNvSpPr txBox="1"/>
          <p:nvPr/>
        </p:nvSpPr>
        <p:spPr>
          <a:xfrm>
            <a:off x="7596336" y="6453336"/>
            <a:ext cx="1373518" cy="584775"/>
          </a:xfrm>
          <a:prstGeom prst="rect">
            <a:avLst/>
          </a:prstGeom>
          <a:noFill/>
        </p:spPr>
        <p:txBody>
          <a:bodyPr wrap="none" rtlCol="0">
            <a:spAutoFit/>
          </a:bodyPr>
          <a:lstStyle/>
          <a:p>
            <a:r>
              <a:rPr lang="tr-TR" sz="1400" b="1" i="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November 2024</a:t>
            </a:r>
            <a:endParaRPr lang="en-US" sz="1400" b="1" i="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endParaRPr>
          </a:p>
          <a:p>
            <a:endParaRPr lang="tr-TR" dirty="0"/>
          </a:p>
        </p:txBody>
      </p:sp>
      <p:pic>
        <p:nvPicPr>
          <p:cNvPr id="11" name="Picture 10">
            <a:extLst>
              <a:ext uri="{FF2B5EF4-FFF2-40B4-BE49-F238E27FC236}">
                <a16:creationId xmlns:a16="http://schemas.microsoft.com/office/drawing/2014/main" xmlns="" id="{6A92774A-40AB-78DC-CDDC-B507816B17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1636" y="2492896"/>
            <a:ext cx="7220727" cy="1057658"/>
          </a:xfrm>
          <a:prstGeom prst="rect">
            <a:avLst/>
          </a:prstGeom>
        </p:spPr>
      </p:pic>
    </p:spTree>
    <p:extLst>
      <p:ext uri="{BB962C8B-B14F-4D97-AF65-F5344CB8AC3E}">
        <p14:creationId xmlns:p14="http://schemas.microsoft.com/office/powerpoint/2010/main" val="41171736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658062" y="496094"/>
            <a:ext cx="7886700" cy="1325563"/>
          </a:xfrm>
        </p:spPr>
        <p:txBody>
          <a:bodyPr/>
          <a:lstStyle/>
          <a:p>
            <a:r>
              <a:rPr lang="tr-TR" b="1" dirty="0">
                <a:solidFill>
                  <a:srgbClr val="3E3A5F"/>
                </a:solidFill>
              </a:rPr>
              <a:t>Table of Contents</a:t>
            </a:r>
          </a:p>
        </p:txBody>
      </p:sp>
      <p:sp>
        <p:nvSpPr>
          <p:cNvPr id="3" name="İçerik Yer Tutucusu 2"/>
          <p:cNvSpPr>
            <a:spLocks noGrp="1"/>
          </p:cNvSpPr>
          <p:nvPr>
            <p:ph idx="1"/>
          </p:nvPr>
        </p:nvSpPr>
        <p:spPr>
          <a:xfrm>
            <a:off x="625811" y="1628800"/>
            <a:ext cx="7886700" cy="4680520"/>
          </a:xfrm>
        </p:spPr>
        <p:txBody>
          <a:bodyPr>
            <a:normAutofit fontScale="40000" lnSpcReduction="20000"/>
          </a:bodyPr>
          <a:lstStyle/>
          <a:p>
            <a:r>
              <a:rPr lang="tr-TR" sz="3000" b="1" dirty="0">
                <a:solidFill>
                  <a:srgbClr val="666666"/>
                </a:solidFill>
              </a:rPr>
              <a:t>Overview </a:t>
            </a:r>
          </a:p>
          <a:p>
            <a:r>
              <a:rPr lang="tr-TR" sz="3000" b="1" dirty="0">
                <a:solidFill>
                  <a:srgbClr val="666666"/>
                </a:solidFill>
              </a:rPr>
              <a:t>Our Values</a:t>
            </a:r>
          </a:p>
          <a:p>
            <a:r>
              <a:rPr lang="tr-TR" sz="3000" b="1" dirty="0">
                <a:solidFill>
                  <a:srgbClr val="666666"/>
                </a:solidFill>
              </a:rPr>
              <a:t>Industries</a:t>
            </a:r>
          </a:p>
          <a:p>
            <a:r>
              <a:rPr lang="tr-TR" sz="3000" b="1" dirty="0">
                <a:solidFill>
                  <a:srgbClr val="666666"/>
                </a:solidFill>
              </a:rPr>
              <a:t>Historical Milestones</a:t>
            </a:r>
          </a:p>
          <a:p>
            <a:r>
              <a:rPr lang="tr-TR" sz="3000" b="1" dirty="0">
                <a:solidFill>
                  <a:srgbClr val="666666"/>
                </a:solidFill>
              </a:rPr>
              <a:t>Our Services</a:t>
            </a:r>
            <a:endParaRPr lang="tr-TR" sz="2300" b="1" dirty="0">
              <a:solidFill>
                <a:srgbClr val="666666"/>
              </a:solidFill>
            </a:endParaRPr>
          </a:p>
          <a:p>
            <a:pPr lvl="1"/>
            <a:r>
              <a:rPr lang="en-US" sz="3000" dirty="0">
                <a:solidFill>
                  <a:srgbClr val="666666"/>
                </a:solidFill>
              </a:rPr>
              <a:t>Project Management </a:t>
            </a:r>
            <a:endParaRPr lang="tr-TR" sz="3000" dirty="0">
              <a:solidFill>
                <a:srgbClr val="666666"/>
              </a:solidFill>
            </a:endParaRPr>
          </a:p>
          <a:p>
            <a:pPr lvl="1"/>
            <a:r>
              <a:rPr lang="en-US" sz="3000" dirty="0">
                <a:solidFill>
                  <a:srgbClr val="666666"/>
                </a:solidFill>
              </a:rPr>
              <a:t>Software Development</a:t>
            </a:r>
            <a:endParaRPr lang="tr-TR" sz="3000" dirty="0">
              <a:solidFill>
                <a:srgbClr val="666666"/>
              </a:solidFill>
            </a:endParaRPr>
          </a:p>
          <a:p>
            <a:pPr lvl="1"/>
            <a:r>
              <a:rPr lang="en-US" sz="3000" dirty="0">
                <a:solidFill>
                  <a:srgbClr val="666666"/>
                </a:solidFill>
              </a:rPr>
              <a:t>Business Analysis &amp; Solution Architecture</a:t>
            </a:r>
            <a:endParaRPr lang="tr-TR" sz="3000" dirty="0">
              <a:solidFill>
                <a:srgbClr val="666666"/>
              </a:solidFill>
            </a:endParaRPr>
          </a:p>
          <a:p>
            <a:pPr lvl="1"/>
            <a:r>
              <a:rPr lang="tr-TR" sz="3000" dirty="0">
                <a:solidFill>
                  <a:srgbClr val="666666"/>
                </a:solidFill>
              </a:rPr>
              <a:t>Testing &amp; Quality Assurance</a:t>
            </a:r>
          </a:p>
          <a:p>
            <a:pPr lvl="1"/>
            <a:r>
              <a:rPr lang="tr-TR" sz="3000" dirty="0">
                <a:solidFill>
                  <a:srgbClr val="666666"/>
                </a:solidFill>
              </a:rPr>
              <a:t>Operation Support</a:t>
            </a:r>
          </a:p>
          <a:p>
            <a:r>
              <a:rPr lang="tr-TR" sz="3000" b="1" dirty="0">
                <a:solidFill>
                  <a:srgbClr val="666666"/>
                </a:solidFill>
              </a:rPr>
              <a:t>Working Models</a:t>
            </a:r>
          </a:p>
          <a:p>
            <a:pPr lvl="1"/>
            <a:r>
              <a:rPr lang="en-US" sz="3000" dirty="0">
                <a:solidFill>
                  <a:srgbClr val="666666"/>
                </a:solidFill>
              </a:rPr>
              <a:t>Turn-Key Solutions</a:t>
            </a:r>
          </a:p>
          <a:p>
            <a:pPr lvl="1"/>
            <a:r>
              <a:rPr lang="en-US" sz="3000" dirty="0">
                <a:solidFill>
                  <a:srgbClr val="666666"/>
                </a:solidFill>
              </a:rPr>
              <a:t>Managed Services</a:t>
            </a:r>
          </a:p>
          <a:p>
            <a:pPr lvl="1"/>
            <a:r>
              <a:rPr lang="en-US" sz="3000" dirty="0">
                <a:solidFill>
                  <a:srgbClr val="666666"/>
                </a:solidFill>
              </a:rPr>
              <a:t>Consultancy</a:t>
            </a:r>
          </a:p>
          <a:p>
            <a:pPr lvl="1"/>
            <a:r>
              <a:rPr lang="en-US" sz="3000" dirty="0">
                <a:solidFill>
                  <a:srgbClr val="666666"/>
                </a:solidFill>
              </a:rPr>
              <a:t>Outsourcing Services</a:t>
            </a:r>
            <a:endParaRPr lang="tr-TR" sz="2300" dirty="0">
              <a:solidFill>
                <a:srgbClr val="666666"/>
              </a:solidFill>
            </a:endParaRPr>
          </a:p>
          <a:p>
            <a:r>
              <a:rPr lang="tr-TR" sz="3000" b="1" dirty="0">
                <a:solidFill>
                  <a:srgbClr val="666666"/>
                </a:solidFill>
              </a:rPr>
              <a:t>About iKnow - Technology Stack</a:t>
            </a:r>
          </a:p>
          <a:p>
            <a:r>
              <a:rPr lang="tr-TR" sz="3000" b="1" dirty="0">
                <a:solidFill>
                  <a:srgbClr val="666666"/>
                </a:solidFill>
              </a:rPr>
              <a:t>What We Deliver?</a:t>
            </a:r>
          </a:p>
          <a:p>
            <a:pPr lvl="1"/>
            <a:r>
              <a:rPr lang="tr-TR" sz="3000" dirty="0">
                <a:solidFill>
                  <a:srgbClr val="666666"/>
                </a:solidFill>
              </a:rPr>
              <a:t>What We Deliver Rather Than Code? </a:t>
            </a:r>
          </a:p>
          <a:p>
            <a:pPr lvl="1"/>
            <a:r>
              <a:rPr lang="tr-TR" sz="3000" dirty="0">
                <a:solidFill>
                  <a:srgbClr val="666666"/>
                </a:solidFill>
              </a:rPr>
              <a:t>Knowledge Transfer</a:t>
            </a:r>
          </a:p>
          <a:p>
            <a:r>
              <a:rPr lang="tr-TR" sz="3000" b="1" dirty="0">
                <a:solidFill>
                  <a:srgbClr val="666666"/>
                </a:solidFill>
              </a:rPr>
              <a:t>iKnow’s Expertise</a:t>
            </a:r>
          </a:p>
          <a:p>
            <a:r>
              <a:rPr lang="tr-TR" sz="3000" b="1" dirty="0">
                <a:solidFill>
                  <a:srgbClr val="666666"/>
                </a:solidFill>
              </a:rPr>
              <a:t>Some of Our Clients</a:t>
            </a:r>
          </a:p>
          <a:p>
            <a:r>
              <a:rPr lang="tr-TR" sz="3000" b="1" dirty="0">
                <a:solidFill>
                  <a:srgbClr val="666666"/>
                </a:solidFill>
              </a:rPr>
              <a:t>Contact Us</a:t>
            </a:r>
          </a:p>
          <a:p>
            <a:endParaRPr lang="tr-TR" dirty="0"/>
          </a:p>
        </p:txBody>
      </p:sp>
      <p:sp>
        <p:nvSpPr>
          <p:cNvPr id="8" name="Footer Placeholder 7">
            <a:extLst>
              <a:ext uri="{FF2B5EF4-FFF2-40B4-BE49-F238E27FC236}">
                <a16:creationId xmlns:a16="http://schemas.microsoft.com/office/drawing/2014/main" xmlns="" id="{E38EC369-BF0A-6A18-1066-DCD4E6B6B299}"/>
              </a:ext>
            </a:extLst>
          </p:cNvPr>
          <p:cNvSpPr>
            <a:spLocks noGrp="1"/>
          </p:cNvSpPr>
          <p:nvPr>
            <p:ph type="ftr" sz="quarter" idx="11"/>
          </p:nvPr>
        </p:nvSpPr>
        <p:spPr/>
        <p:txBody>
          <a:bodyPr/>
          <a:lstStyle/>
          <a:p>
            <a:r>
              <a:rPr lang="tr-TR" dirty="0"/>
              <a:t>iKnow Technology</a:t>
            </a:r>
          </a:p>
        </p:txBody>
      </p:sp>
      <p:sp>
        <p:nvSpPr>
          <p:cNvPr id="9" name="Slide Number Placeholder 8">
            <a:extLst>
              <a:ext uri="{FF2B5EF4-FFF2-40B4-BE49-F238E27FC236}">
                <a16:creationId xmlns:a16="http://schemas.microsoft.com/office/drawing/2014/main" xmlns="" id="{18DDAD97-A057-F2AC-B7A3-0C2DCDA9B44D}"/>
              </a:ext>
            </a:extLst>
          </p:cNvPr>
          <p:cNvSpPr>
            <a:spLocks noGrp="1"/>
          </p:cNvSpPr>
          <p:nvPr>
            <p:ph type="sldNum" sz="quarter" idx="12"/>
          </p:nvPr>
        </p:nvSpPr>
        <p:spPr/>
        <p:txBody>
          <a:bodyPr/>
          <a:lstStyle/>
          <a:p>
            <a:fld id="{45536E09-86AD-465C-A544-548EAC427A74}" type="slidenum">
              <a:rPr lang="tr-TR" smtClean="0"/>
              <a:t>2</a:t>
            </a:fld>
            <a:endParaRPr lang="tr-TR"/>
          </a:p>
        </p:txBody>
      </p:sp>
      <p:pic>
        <p:nvPicPr>
          <p:cNvPr id="7" name="Picture 6">
            <a:extLst>
              <a:ext uri="{FF2B5EF4-FFF2-40B4-BE49-F238E27FC236}">
                <a16:creationId xmlns:a16="http://schemas.microsoft.com/office/drawing/2014/main" xmlns="" id="{7B058F8E-34D3-34C4-7211-A956E6882D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Tree>
    <p:extLst>
      <p:ext uri="{BB962C8B-B14F-4D97-AF65-F5344CB8AC3E}">
        <p14:creationId xmlns:p14="http://schemas.microsoft.com/office/powerpoint/2010/main" val="36583485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44DC34-06F9-CDB1-1BC2-5E481B13BE2C}"/>
              </a:ext>
            </a:extLst>
          </p:cNvPr>
          <p:cNvSpPr>
            <a:spLocks noGrp="1"/>
          </p:cNvSpPr>
          <p:nvPr>
            <p:ph type="title"/>
          </p:nvPr>
        </p:nvSpPr>
        <p:spPr/>
        <p:txBody>
          <a:bodyPr/>
          <a:lstStyle/>
          <a:p>
            <a:r>
              <a:rPr lang="tr-TR" b="1" dirty="0">
                <a:solidFill>
                  <a:srgbClr val="3E3A5F"/>
                </a:solidFill>
              </a:rPr>
              <a:t>Overview</a:t>
            </a:r>
          </a:p>
        </p:txBody>
      </p:sp>
      <p:sp>
        <p:nvSpPr>
          <p:cNvPr id="3" name="Content Placeholder 2">
            <a:extLst>
              <a:ext uri="{FF2B5EF4-FFF2-40B4-BE49-F238E27FC236}">
                <a16:creationId xmlns:a16="http://schemas.microsoft.com/office/drawing/2014/main" xmlns="" id="{D9B7AD33-56F6-BF7B-D5A6-49DBEC3A8151}"/>
              </a:ext>
            </a:extLst>
          </p:cNvPr>
          <p:cNvSpPr>
            <a:spLocks noGrp="1"/>
          </p:cNvSpPr>
          <p:nvPr>
            <p:ph idx="1"/>
          </p:nvPr>
        </p:nvSpPr>
        <p:spPr>
          <a:xfrm>
            <a:off x="628650" y="1484784"/>
            <a:ext cx="7886700" cy="4351338"/>
          </a:xfrm>
        </p:spPr>
        <p:txBody>
          <a:bodyPr>
            <a:normAutofit fontScale="62500" lnSpcReduction="20000"/>
          </a:bodyPr>
          <a:lstStyle/>
          <a:p>
            <a:pPr marL="0" indent="0" algn="l">
              <a:lnSpc>
                <a:spcPct val="120000"/>
              </a:lnSpc>
              <a:buNone/>
            </a:pPr>
            <a:r>
              <a:rPr lang="en-US" sz="2200" b="0" i="0" dirty="0">
                <a:solidFill>
                  <a:srgbClr val="666666"/>
                </a:solidFill>
                <a:effectLst/>
              </a:rPr>
              <a:t>With the vision of becoming a global player, </a:t>
            </a:r>
            <a:r>
              <a:rPr lang="tr-TR" sz="2200" dirty="0">
                <a:solidFill>
                  <a:srgbClr val="666666"/>
                </a:solidFill>
              </a:rPr>
              <a:t>iKnow</a:t>
            </a:r>
            <a:r>
              <a:rPr lang="en-US" sz="2200" b="0" i="0" dirty="0">
                <a:solidFill>
                  <a:srgbClr val="666666"/>
                </a:solidFill>
                <a:effectLst/>
              </a:rPr>
              <a:t> provides consultancy services on all IT activities such as </a:t>
            </a:r>
            <a:r>
              <a:rPr lang="en-US" sz="2200" b="1" i="0" dirty="0">
                <a:solidFill>
                  <a:srgbClr val="666666"/>
                </a:solidFill>
                <a:effectLst/>
              </a:rPr>
              <a:t>turnkey software solutions, complex system integration, process control consultancy, agile transformation, SDLC, Project &amp; Portfolio Management</a:t>
            </a:r>
            <a:r>
              <a:rPr lang="en-US" sz="2200" b="0" i="0" dirty="0">
                <a:solidFill>
                  <a:srgbClr val="666666"/>
                </a:solidFill>
                <a:effectLst/>
              </a:rPr>
              <a:t>, Test management, software architecture. </a:t>
            </a:r>
            <a:endParaRPr lang="tr-TR" sz="2200" b="0" i="0" dirty="0">
              <a:solidFill>
                <a:srgbClr val="666666"/>
              </a:solidFill>
              <a:effectLst/>
            </a:endParaRPr>
          </a:p>
          <a:p>
            <a:pPr marL="0" indent="0" algn="l">
              <a:lnSpc>
                <a:spcPct val="120000"/>
              </a:lnSpc>
              <a:buNone/>
            </a:pPr>
            <a:r>
              <a:rPr lang="en-US" sz="2200" b="0" i="0" dirty="0">
                <a:solidFill>
                  <a:srgbClr val="666666"/>
                </a:solidFill>
                <a:effectLst/>
              </a:rPr>
              <a:t>With its quality assurance and support services, </a:t>
            </a:r>
            <a:r>
              <a:rPr lang="en-US" sz="2200" b="1" i="0" dirty="0" err="1">
                <a:solidFill>
                  <a:srgbClr val="F15922"/>
                </a:solidFill>
                <a:effectLst/>
              </a:rPr>
              <a:t>iKnow</a:t>
            </a:r>
            <a:r>
              <a:rPr lang="en-US" sz="2200" b="0" i="0" dirty="0">
                <a:solidFill>
                  <a:srgbClr val="666666"/>
                </a:solidFill>
                <a:effectLst/>
              </a:rPr>
              <a:t> offers the </a:t>
            </a:r>
            <a:r>
              <a:rPr lang="en-US" sz="2200" b="1" i="0" dirty="0">
                <a:solidFill>
                  <a:srgbClr val="666666"/>
                </a:solidFill>
                <a:effectLst/>
              </a:rPr>
              <a:t>most</a:t>
            </a:r>
            <a:r>
              <a:rPr lang="en-US" sz="2200" b="0" i="0" dirty="0">
                <a:solidFill>
                  <a:srgbClr val="666666"/>
                </a:solidFill>
                <a:effectLst/>
              </a:rPr>
              <a:t> suitable solution for your organization in line with your demands.</a:t>
            </a:r>
          </a:p>
          <a:p>
            <a:pPr marL="0" indent="0" algn="l">
              <a:lnSpc>
                <a:spcPct val="120000"/>
              </a:lnSpc>
              <a:buNone/>
            </a:pPr>
            <a:r>
              <a:rPr lang="en-US" sz="2200" b="0" i="0" dirty="0">
                <a:solidFill>
                  <a:srgbClr val="666666"/>
                </a:solidFill>
                <a:effectLst/>
              </a:rPr>
              <a:t>It also uses all the tools of new technology while creating projects that increase revenue, add prestige to your company, increase the satisfaction of your customers, create savings and minimize risks.</a:t>
            </a:r>
            <a:endParaRPr lang="tr-TR" sz="2200" b="0" i="0" dirty="0">
              <a:solidFill>
                <a:srgbClr val="666666"/>
              </a:solidFill>
              <a:effectLst/>
            </a:endParaRPr>
          </a:p>
          <a:p>
            <a:pPr marL="0" indent="0" algn="l">
              <a:buNone/>
            </a:pPr>
            <a:endParaRPr lang="en-US" b="0" i="0" dirty="0">
              <a:solidFill>
                <a:srgbClr val="666666"/>
              </a:solidFill>
              <a:effectLst/>
            </a:endParaRPr>
          </a:p>
          <a:p>
            <a:pPr marL="0" indent="0" algn="l">
              <a:buNone/>
            </a:pPr>
            <a:r>
              <a:rPr lang="en-US" sz="2200" b="1" i="0" dirty="0" err="1">
                <a:solidFill>
                  <a:srgbClr val="F15922"/>
                </a:solidFill>
                <a:effectLst/>
              </a:rPr>
              <a:t>iKnow</a:t>
            </a:r>
            <a:r>
              <a:rPr lang="en-US" sz="2200" b="1" i="0" dirty="0">
                <a:solidFill>
                  <a:srgbClr val="666666"/>
                </a:solidFill>
                <a:effectLst/>
              </a:rPr>
              <a:t> </a:t>
            </a:r>
            <a:r>
              <a:rPr lang="en-US" sz="2200" b="1" i="0" dirty="0">
                <a:solidFill>
                  <a:srgbClr val="3E3A5F"/>
                </a:solidFill>
                <a:effectLst/>
              </a:rPr>
              <a:t>adopts four working models. These are</a:t>
            </a:r>
            <a:r>
              <a:rPr lang="tr-TR" sz="2200" b="1" i="0" dirty="0">
                <a:solidFill>
                  <a:srgbClr val="3E3A5F"/>
                </a:solidFill>
                <a:effectLst/>
              </a:rPr>
              <a:t>;</a:t>
            </a:r>
          </a:p>
          <a:p>
            <a:r>
              <a:rPr lang="en-US" sz="2200" b="0" i="0" dirty="0">
                <a:solidFill>
                  <a:srgbClr val="666666"/>
                </a:solidFill>
                <a:effectLst/>
              </a:rPr>
              <a:t>KPI Based Managed Services (Managed Services)</a:t>
            </a:r>
            <a:endParaRPr lang="tr-TR" sz="2200" b="0" i="0" dirty="0">
              <a:solidFill>
                <a:srgbClr val="666666"/>
              </a:solidFill>
              <a:effectLst/>
            </a:endParaRPr>
          </a:p>
          <a:p>
            <a:r>
              <a:rPr lang="en-US" sz="2200" b="0" i="0" dirty="0">
                <a:solidFill>
                  <a:srgbClr val="666666"/>
                </a:solidFill>
                <a:effectLst/>
              </a:rPr>
              <a:t>Project Based Turnkey Services</a:t>
            </a:r>
            <a:endParaRPr lang="tr-TR" sz="2200" b="0" i="0" dirty="0">
              <a:solidFill>
                <a:srgbClr val="666666"/>
              </a:solidFill>
              <a:effectLst/>
            </a:endParaRPr>
          </a:p>
          <a:p>
            <a:r>
              <a:rPr lang="en-US" sz="2200" b="0" i="0" dirty="0">
                <a:solidFill>
                  <a:srgbClr val="666666"/>
                </a:solidFill>
                <a:effectLst/>
              </a:rPr>
              <a:t>Consulting Services</a:t>
            </a:r>
            <a:endParaRPr lang="tr-TR" sz="2200" b="0" i="0" dirty="0">
              <a:solidFill>
                <a:srgbClr val="666666"/>
              </a:solidFill>
              <a:effectLst/>
            </a:endParaRPr>
          </a:p>
          <a:p>
            <a:r>
              <a:rPr lang="en-US" sz="2200" b="0" i="0" dirty="0">
                <a:solidFill>
                  <a:srgbClr val="666666"/>
                </a:solidFill>
                <a:effectLst/>
              </a:rPr>
              <a:t>Outsourcing Services</a:t>
            </a:r>
            <a:endParaRPr lang="tr-TR" sz="2200" b="0" i="0" dirty="0">
              <a:solidFill>
                <a:srgbClr val="666666"/>
              </a:solidFill>
              <a:effectLst/>
            </a:endParaRPr>
          </a:p>
          <a:p>
            <a:endParaRPr lang="en-US" sz="2200" b="0" i="0" dirty="0">
              <a:solidFill>
                <a:srgbClr val="666666"/>
              </a:solidFill>
              <a:effectLst/>
            </a:endParaRPr>
          </a:p>
          <a:p>
            <a:pPr marL="0" indent="0" algn="l">
              <a:lnSpc>
                <a:spcPct val="120000"/>
              </a:lnSpc>
              <a:buNone/>
            </a:pPr>
            <a:r>
              <a:rPr lang="en-US" sz="2200" b="1" i="0" dirty="0" err="1">
                <a:solidFill>
                  <a:srgbClr val="F15922"/>
                </a:solidFill>
                <a:effectLst/>
              </a:rPr>
              <a:t>iKnow</a:t>
            </a:r>
            <a:r>
              <a:rPr lang="en-US" sz="2200" b="0" i="0" dirty="0">
                <a:solidFill>
                  <a:srgbClr val="666666"/>
                </a:solidFill>
                <a:effectLst/>
              </a:rPr>
              <a:t> is one of the leading </a:t>
            </a:r>
            <a:r>
              <a:rPr lang="tr-TR" sz="2200" dirty="0">
                <a:solidFill>
                  <a:srgbClr val="666666"/>
                </a:solidFill>
              </a:rPr>
              <a:t>providers</a:t>
            </a:r>
            <a:r>
              <a:rPr lang="en-US" sz="2200" b="0" i="0" dirty="0">
                <a:solidFill>
                  <a:srgbClr val="666666"/>
                </a:solidFill>
                <a:effectLst/>
              </a:rPr>
              <a:t> in the industry to which it contributes with its experienced staff, the employment it creates, its competence in every field of IT and its solution-oriented approach.</a:t>
            </a:r>
          </a:p>
        </p:txBody>
      </p:sp>
      <p:sp>
        <p:nvSpPr>
          <p:cNvPr id="5" name="Footer Placeholder 4">
            <a:extLst>
              <a:ext uri="{FF2B5EF4-FFF2-40B4-BE49-F238E27FC236}">
                <a16:creationId xmlns:a16="http://schemas.microsoft.com/office/drawing/2014/main" xmlns="" id="{C22ECD84-5F0A-DE20-FF66-63A644631CEB}"/>
              </a:ext>
            </a:extLst>
          </p:cNvPr>
          <p:cNvSpPr>
            <a:spLocks noGrp="1"/>
          </p:cNvSpPr>
          <p:nvPr>
            <p:ph type="ftr" sz="quarter" idx="11"/>
          </p:nvPr>
        </p:nvSpPr>
        <p:spPr/>
        <p:txBody>
          <a:bodyPr/>
          <a:lstStyle/>
          <a:p>
            <a:r>
              <a:rPr lang="tr-TR" dirty="0"/>
              <a:t>iKnow Technology</a:t>
            </a:r>
          </a:p>
        </p:txBody>
      </p:sp>
      <p:sp>
        <p:nvSpPr>
          <p:cNvPr id="6" name="Slide Number Placeholder 5">
            <a:extLst>
              <a:ext uri="{FF2B5EF4-FFF2-40B4-BE49-F238E27FC236}">
                <a16:creationId xmlns:a16="http://schemas.microsoft.com/office/drawing/2014/main" xmlns="" id="{75171BED-5A7C-03C5-B592-7058CC883A97}"/>
              </a:ext>
            </a:extLst>
          </p:cNvPr>
          <p:cNvSpPr>
            <a:spLocks noGrp="1"/>
          </p:cNvSpPr>
          <p:nvPr>
            <p:ph type="sldNum" sz="quarter" idx="12"/>
          </p:nvPr>
        </p:nvSpPr>
        <p:spPr/>
        <p:txBody>
          <a:bodyPr/>
          <a:lstStyle/>
          <a:p>
            <a:fld id="{45536E09-86AD-465C-A544-548EAC427A74}" type="slidenum">
              <a:rPr lang="tr-TR" smtClean="0"/>
              <a:t>3</a:t>
            </a:fld>
            <a:endParaRPr lang="tr-TR"/>
          </a:p>
        </p:txBody>
      </p:sp>
      <p:pic>
        <p:nvPicPr>
          <p:cNvPr id="4" name="Picture 3">
            <a:extLst>
              <a:ext uri="{FF2B5EF4-FFF2-40B4-BE49-F238E27FC236}">
                <a16:creationId xmlns:a16="http://schemas.microsoft.com/office/drawing/2014/main" xmlns="" id="{0D33CA17-434B-5604-506B-A456E9A299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Tree>
    <p:extLst>
      <p:ext uri="{BB962C8B-B14F-4D97-AF65-F5344CB8AC3E}">
        <p14:creationId xmlns:p14="http://schemas.microsoft.com/office/powerpoint/2010/main" val="20386788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A09C33-6FF0-BD2A-7A0B-7D77583D73F6}"/>
              </a:ext>
            </a:extLst>
          </p:cNvPr>
          <p:cNvSpPr>
            <a:spLocks noGrp="1"/>
          </p:cNvSpPr>
          <p:nvPr>
            <p:ph type="title"/>
          </p:nvPr>
        </p:nvSpPr>
        <p:spPr>
          <a:xfrm>
            <a:off x="628650" y="365127"/>
            <a:ext cx="7886700" cy="831626"/>
          </a:xfrm>
        </p:spPr>
        <p:txBody>
          <a:bodyPr/>
          <a:lstStyle/>
          <a:p>
            <a:r>
              <a:rPr lang="tr-TR" b="1" i="0" dirty="0">
                <a:solidFill>
                  <a:srgbClr val="3E3A5F"/>
                </a:solidFill>
                <a:effectLst/>
                <a:ea typeface="Calibri" panose="020F0502020204030204" pitchFamily="34" charset="0"/>
                <a:cs typeface="Calibri" panose="020F0502020204030204" pitchFamily="34" charset="0"/>
              </a:rPr>
              <a:t>Our Values</a:t>
            </a:r>
            <a:endParaRPr lang="tr-TR" b="1" dirty="0">
              <a:solidFill>
                <a:srgbClr val="3E3A5F"/>
              </a:solidFill>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xmlns="" id="{0AFD6EF8-E0BB-BDD4-6F41-53BE1DCE508A}"/>
              </a:ext>
            </a:extLst>
          </p:cNvPr>
          <p:cNvSpPr>
            <a:spLocks noGrp="1"/>
          </p:cNvSpPr>
          <p:nvPr>
            <p:ph idx="1"/>
          </p:nvPr>
        </p:nvSpPr>
        <p:spPr>
          <a:xfrm>
            <a:off x="628650" y="1052736"/>
            <a:ext cx="7886700" cy="1170555"/>
          </a:xfrm>
        </p:spPr>
        <p:txBody>
          <a:bodyPr>
            <a:normAutofit/>
          </a:bodyPr>
          <a:lstStyle/>
          <a:p>
            <a:pPr marL="0" indent="0">
              <a:buNone/>
            </a:pPr>
            <a:r>
              <a:rPr lang="en-US" sz="1400" b="0" i="0" dirty="0">
                <a:solidFill>
                  <a:srgbClr val="222222"/>
                </a:solidFill>
                <a:effectLst/>
              </a:rPr>
              <a:t>Our values are what make us unique, drive our company culture, and govern everything we do.</a:t>
            </a:r>
            <a:endParaRPr lang="tr-TR" sz="1400" dirty="0"/>
          </a:p>
          <a:p>
            <a:pPr marL="0" indent="0" algn="l">
              <a:buNone/>
            </a:pPr>
            <a:r>
              <a:rPr lang="en-US" sz="1400" b="0" i="0" dirty="0">
                <a:solidFill>
                  <a:srgbClr val="222222"/>
                </a:solidFill>
                <a:effectLst/>
              </a:rPr>
              <a:t>Every </a:t>
            </a:r>
            <a:r>
              <a:rPr lang="tr-TR" sz="1400" b="1" i="0" dirty="0">
                <a:solidFill>
                  <a:srgbClr val="F15922"/>
                </a:solidFill>
                <a:effectLst/>
              </a:rPr>
              <a:t>iK</a:t>
            </a:r>
            <a:r>
              <a:rPr lang="tr-TR" sz="1400" b="1" dirty="0">
                <a:solidFill>
                  <a:srgbClr val="F15922"/>
                </a:solidFill>
              </a:rPr>
              <a:t>now</a:t>
            </a:r>
            <a:r>
              <a:rPr lang="tr-TR" sz="1400" dirty="0">
                <a:solidFill>
                  <a:srgbClr val="222222"/>
                </a:solidFill>
              </a:rPr>
              <a:t> </a:t>
            </a:r>
            <a:r>
              <a:rPr lang="en-US" sz="1400" b="0" i="0" dirty="0">
                <a:solidFill>
                  <a:srgbClr val="222222"/>
                </a:solidFill>
                <a:effectLst/>
              </a:rPr>
              <a:t>employee learns our values from their first day. We operate through these values that are at the </a:t>
            </a:r>
            <a:r>
              <a:rPr lang="en-US" sz="1400" b="0" i="0" dirty="0" err="1">
                <a:solidFill>
                  <a:srgbClr val="222222"/>
                </a:solidFill>
                <a:effectLst/>
              </a:rPr>
              <a:t>centre</a:t>
            </a:r>
            <a:r>
              <a:rPr lang="en-US" sz="1400" b="0" i="0" dirty="0">
                <a:solidFill>
                  <a:srgbClr val="222222"/>
                </a:solidFill>
                <a:effectLst/>
              </a:rPr>
              <a:t> of our culture of successful outcomes and focus on delivery.</a:t>
            </a:r>
          </a:p>
          <a:p>
            <a:pPr marL="0" indent="0" algn="l">
              <a:buNone/>
            </a:pPr>
            <a:r>
              <a:rPr lang="en-US" sz="1900" b="1" i="0" dirty="0">
                <a:solidFill>
                  <a:srgbClr val="3E3A5F"/>
                </a:solidFill>
                <a:effectLst/>
              </a:rPr>
              <a:t>What does </a:t>
            </a:r>
            <a:r>
              <a:rPr lang="tr-TR" sz="1900" b="1" dirty="0">
                <a:solidFill>
                  <a:srgbClr val="3E3A5F"/>
                </a:solidFill>
              </a:rPr>
              <a:t>iKnow </a:t>
            </a:r>
            <a:r>
              <a:rPr lang="en-US" sz="1900" b="1" i="0" dirty="0">
                <a:solidFill>
                  <a:srgbClr val="3E3A5F"/>
                </a:solidFill>
                <a:effectLst/>
              </a:rPr>
              <a:t>mean to our people?</a:t>
            </a:r>
            <a:r>
              <a:rPr lang="en-US" sz="1900" b="0" i="0" dirty="0">
                <a:solidFill>
                  <a:srgbClr val="3E3A5F"/>
                </a:solidFill>
                <a:effectLst/>
              </a:rPr>
              <a:t> </a:t>
            </a:r>
          </a:p>
        </p:txBody>
      </p:sp>
      <p:sp>
        <p:nvSpPr>
          <p:cNvPr id="6" name="Footer Placeholder 5">
            <a:extLst>
              <a:ext uri="{FF2B5EF4-FFF2-40B4-BE49-F238E27FC236}">
                <a16:creationId xmlns:a16="http://schemas.microsoft.com/office/drawing/2014/main" xmlns="" id="{9D7A0D4C-9CC9-188C-F6EC-6F656FDD67EC}"/>
              </a:ext>
            </a:extLst>
          </p:cNvPr>
          <p:cNvSpPr>
            <a:spLocks noGrp="1"/>
          </p:cNvSpPr>
          <p:nvPr>
            <p:ph type="ftr" sz="quarter" idx="11"/>
          </p:nvPr>
        </p:nvSpPr>
        <p:spPr/>
        <p:txBody>
          <a:bodyPr/>
          <a:lstStyle/>
          <a:p>
            <a:r>
              <a:rPr lang="tr-TR" dirty="0"/>
              <a:t>iKnow Technology</a:t>
            </a:r>
          </a:p>
        </p:txBody>
      </p:sp>
      <p:sp>
        <p:nvSpPr>
          <p:cNvPr id="7" name="Slide Number Placeholder 6">
            <a:extLst>
              <a:ext uri="{FF2B5EF4-FFF2-40B4-BE49-F238E27FC236}">
                <a16:creationId xmlns:a16="http://schemas.microsoft.com/office/drawing/2014/main" xmlns="" id="{B2069EC0-9246-07E1-8C22-046C73D0797A}"/>
              </a:ext>
            </a:extLst>
          </p:cNvPr>
          <p:cNvSpPr>
            <a:spLocks noGrp="1"/>
          </p:cNvSpPr>
          <p:nvPr>
            <p:ph type="sldNum" sz="quarter" idx="12"/>
          </p:nvPr>
        </p:nvSpPr>
        <p:spPr/>
        <p:txBody>
          <a:bodyPr/>
          <a:lstStyle/>
          <a:p>
            <a:fld id="{45536E09-86AD-465C-A544-548EAC427A74}" type="slidenum">
              <a:rPr lang="tr-TR" smtClean="0"/>
              <a:t>4</a:t>
            </a:fld>
            <a:endParaRPr lang="tr-TR"/>
          </a:p>
        </p:txBody>
      </p:sp>
      <p:pic>
        <p:nvPicPr>
          <p:cNvPr id="4" name="Picture 3">
            <a:extLst>
              <a:ext uri="{FF2B5EF4-FFF2-40B4-BE49-F238E27FC236}">
                <a16:creationId xmlns:a16="http://schemas.microsoft.com/office/drawing/2014/main" xmlns="" id="{A472AEE6-D913-FC48-5209-B74604D29B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
        <p:nvSpPr>
          <p:cNvPr id="5" name="TextBox 4">
            <a:extLst>
              <a:ext uri="{FF2B5EF4-FFF2-40B4-BE49-F238E27FC236}">
                <a16:creationId xmlns:a16="http://schemas.microsoft.com/office/drawing/2014/main" xmlns="" id="{EC6A1B80-E893-1021-DD2C-ACA64FD9E07E}"/>
              </a:ext>
            </a:extLst>
          </p:cNvPr>
          <p:cNvSpPr txBox="1"/>
          <p:nvPr/>
        </p:nvSpPr>
        <p:spPr>
          <a:xfrm>
            <a:off x="628650" y="2204864"/>
            <a:ext cx="8146868" cy="6186309"/>
          </a:xfrm>
          <a:prstGeom prst="rect">
            <a:avLst/>
          </a:prstGeom>
          <a:noFill/>
        </p:spPr>
        <p:txBody>
          <a:bodyPr wrap="square" numCol="2" rtlCol="0">
            <a:spAutoFit/>
          </a:bodyPr>
          <a:lstStyle/>
          <a:p>
            <a:pPr marL="0" indent="0" algn="l">
              <a:buNone/>
            </a:pPr>
            <a:r>
              <a:rPr lang="en-US" sz="1400" b="1" i="0" dirty="0">
                <a:solidFill>
                  <a:srgbClr val="3E3A5F"/>
                </a:solidFill>
                <a:effectLst/>
              </a:rPr>
              <a:t>Client-Centricity</a:t>
            </a:r>
          </a:p>
          <a:p>
            <a:pPr marL="0" indent="0" algn="l">
              <a:buNone/>
            </a:pPr>
            <a:r>
              <a:rPr lang="en-US" sz="1400" b="0" i="0" dirty="0">
                <a:solidFill>
                  <a:srgbClr val="666666"/>
                </a:solidFill>
                <a:effectLst/>
              </a:rPr>
              <a:t>We put our </a:t>
            </a:r>
            <a:r>
              <a:rPr lang="en-US" sz="1400" b="1" i="0" dirty="0">
                <a:solidFill>
                  <a:srgbClr val="666666"/>
                </a:solidFill>
                <a:effectLst/>
              </a:rPr>
              <a:t>clients at the </a:t>
            </a:r>
            <a:r>
              <a:rPr lang="en-US" sz="1400" b="1" i="0" dirty="0" err="1">
                <a:solidFill>
                  <a:srgbClr val="666666"/>
                </a:solidFill>
                <a:effectLst/>
              </a:rPr>
              <a:t>centre</a:t>
            </a:r>
            <a:r>
              <a:rPr lang="en-US" sz="1400" b="1" i="0" dirty="0">
                <a:solidFill>
                  <a:srgbClr val="666666"/>
                </a:solidFill>
                <a:effectLst/>
              </a:rPr>
              <a:t> </a:t>
            </a:r>
            <a:r>
              <a:rPr lang="en-US" sz="1400" b="0" i="0" dirty="0">
                <a:solidFill>
                  <a:srgbClr val="666666"/>
                </a:solidFill>
                <a:effectLst/>
              </a:rPr>
              <a:t>of everything we do. We care about your business, and we commit ourselves to solving your problems through innovative technology solutions. This is a central tenet of a customer-centric company.</a:t>
            </a:r>
            <a:endParaRPr lang="tr-TR" sz="1400" b="0" i="0" dirty="0">
              <a:solidFill>
                <a:srgbClr val="666666"/>
              </a:solidFill>
              <a:effectLst/>
            </a:endParaRPr>
          </a:p>
          <a:p>
            <a:pPr marL="0" indent="0" algn="l">
              <a:buNone/>
            </a:pPr>
            <a:endParaRPr lang="en-US" sz="1400" b="0" i="0" dirty="0">
              <a:solidFill>
                <a:srgbClr val="000000"/>
              </a:solidFill>
              <a:effectLst/>
            </a:endParaRPr>
          </a:p>
          <a:p>
            <a:pPr marL="0" indent="0" algn="l">
              <a:buNone/>
            </a:pPr>
            <a:r>
              <a:rPr lang="en-US" sz="1400" b="1" i="0" dirty="0">
                <a:solidFill>
                  <a:srgbClr val="3E3A5F"/>
                </a:solidFill>
                <a:effectLst/>
              </a:rPr>
              <a:t>People First</a:t>
            </a:r>
          </a:p>
          <a:p>
            <a:pPr marL="0" indent="0" algn="l">
              <a:buNone/>
            </a:pPr>
            <a:r>
              <a:rPr lang="en-US" sz="1400" b="0" i="0" dirty="0">
                <a:solidFill>
                  <a:srgbClr val="666666"/>
                </a:solidFill>
                <a:effectLst/>
              </a:rPr>
              <a:t>At </a:t>
            </a:r>
            <a:r>
              <a:rPr lang="tr-TR" sz="1400" b="1" i="0" dirty="0">
                <a:solidFill>
                  <a:srgbClr val="F15922"/>
                </a:solidFill>
                <a:effectLst/>
              </a:rPr>
              <a:t>iKnow</a:t>
            </a:r>
            <a:r>
              <a:rPr lang="en-US" sz="1400" b="0" i="0" dirty="0">
                <a:solidFill>
                  <a:srgbClr val="666666"/>
                </a:solidFill>
                <a:effectLst/>
              </a:rPr>
              <a:t>, we place a premium on the well-being of </a:t>
            </a:r>
            <a:endParaRPr lang="tr-TR" sz="1400" b="0" i="0" dirty="0">
              <a:solidFill>
                <a:srgbClr val="666666"/>
              </a:solidFill>
              <a:effectLst/>
            </a:endParaRPr>
          </a:p>
          <a:p>
            <a:pPr marL="0" indent="0" algn="l">
              <a:buNone/>
            </a:pPr>
            <a:r>
              <a:rPr lang="en-US" sz="1400" b="0" i="0" dirty="0">
                <a:solidFill>
                  <a:srgbClr val="666666"/>
                </a:solidFill>
                <a:effectLst/>
              </a:rPr>
              <a:t>our team. We hire </a:t>
            </a:r>
            <a:r>
              <a:rPr lang="en-US" sz="1400" b="1" i="0" dirty="0">
                <a:solidFill>
                  <a:srgbClr val="666666"/>
                </a:solidFill>
                <a:effectLst/>
              </a:rPr>
              <a:t>highly skilled, hard-working individuals </a:t>
            </a:r>
            <a:r>
              <a:rPr lang="en-US" sz="1400" b="0" i="0" dirty="0">
                <a:solidFill>
                  <a:srgbClr val="666666"/>
                </a:solidFill>
                <a:effectLst/>
              </a:rPr>
              <a:t>who share our values and ethos, and we treat them with the respect they deserve.</a:t>
            </a:r>
            <a:endParaRPr lang="tr-TR" sz="1400" b="0" i="0" dirty="0">
              <a:solidFill>
                <a:srgbClr val="666666"/>
              </a:solidFill>
              <a:effectLst/>
            </a:endParaRPr>
          </a:p>
          <a:p>
            <a:pPr marL="0" indent="0" algn="l">
              <a:buNone/>
            </a:pPr>
            <a:endParaRPr lang="en-US" sz="1400" b="0" i="0" dirty="0">
              <a:solidFill>
                <a:srgbClr val="000000"/>
              </a:solidFill>
              <a:effectLst/>
            </a:endParaRPr>
          </a:p>
          <a:p>
            <a:pPr marL="0" indent="0" algn="l">
              <a:buNone/>
            </a:pPr>
            <a:r>
              <a:rPr lang="en-US" sz="1400" b="1" i="0" dirty="0">
                <a:solidFill>
                  <a:srgbClr val="3E3A5F"/>
                </a:solidFill>
                <a:effectLst/>
              </a:rPr>
              <a:t>Innovation-Driven</a:t>
            </a:r>
          </a:p>
          <a:p>
            <a:pPr marL="0" indent="0" algn="l">
              <a:buNone/>
            </a:pPr>
            <a:r>
              <a:rPr lang="en-US" sz="1400" b="0" i="0" dirty="0">
                <a:solidFill>
                  <a:srgbClr val="666666"/>
                </a:solidFill>
                <a:effectLst/>
              </a:rPr>
              <a:t>At </a:t>
            </a:r>
            <a:r>
              <a:rPr lang="tr-TR" sz="1400" b="1" i="0" dirty="0">
                <a:solidFill>
                  <a:srgbClr val="F15922"/>
                </a:solidFill>
                <a:effectLst/>
              </a:rPr>
              <a:t>iKnow</a:t>
            </a:r>
            <a:r>
              <a:rPr lang="en-US" sz="1400" b="0" i="0" dirty="0">
                <a:solidFill>
                  <a:srgbClr val="666666"/>
                </a:solidFill>
                <a:effectLst/>
              </a:rPr>
              <a:t>, we focus on creating and implementing </a:t>
            </a:r>
            <a:r>
              <a:rPr lang="en-US" sz="1400" b="1" i="0" dirty="0">
                <a:solidFill>
                  <a:srgbClr val="666666"/>
                </a:solidFill>
                <a:effectLst/>
              </a:rPr>
              <a:t>cutting-edge technology solutions</a:t>
            </a:r>
            <a:r>
              <a:rPr lang="en-US" sz="1400" b="0" i="0" dirty="0">
                <a:solidFill>
                  <a:srgbClr val="666666"/>
                </a:solidFill>
                <a:effectLst/>
              </a:rPr>
              <a:t>. </a:t>
            </a:r>
            <a:endParaRPr lang="tr-TR" sz="1400" b="0" i="0" dirty="0">
              <a:solidFill>
                <a:srgbClr val="666666"/>
              </a:solidFill>
              <a:effectLst/>
            </a:endParaRPr>
          </a:p>
          <a:p>
            <a:pPr marL="0" indent="0" algn="l">
              <a:buNone/>
            </a:pPr>
            <a:r>
              <a:rPr lang="en-US" sz="1400" b="0" i="0" dirty="0">
                <a:solidFill>
                  <a:srgbClr val="666666"/>
                </a:solidFill>
                <a:effectLst/>
              </a:rPr>
              <a:t>We help our clients gain a competitive edge through innovative, value-adding technology.</a:t>
            </a:r>
            <a:endParaRPr lang="tr-TR" sz="1400" b="0" i="0" dirty="0">
              <a:solidFill>
                <a:srgbClr val="666666"/>
              </a:solidFill>
              <a:effectLst/>
            </a:endParaRPr>
          </a:p>
          <a:p>
            <a:pPr marL="0" indent="0" algn="l">
              <a:buNone/>
            </a:pPr>
            <a:endParaRPr lang="en-US" sz="1400" b="0" i="0" dirty="0">
              <a:solidFill>
                <a:srgbClr val="000000"/>
              </a:solidFill>
              <a:effectLst/>
            </a:endParaRPr>
          </a:p>
          <a:p>
            <a:pPr marL="0" indent="0" algn="l">
              <a:buNone/>
            </a:pPr>
            <a:endParaRPr lang="tr-TR" sz="1400" b="1" i="0" dirty="0">
              <a:solidFill>
                <a:srgbClr val="338855"/>
              </a:solidFill>
              <a:effectLst/>
            </a:endParaRPr>
          </a:p>
          <a:p>
            <a:pPr marL="0" indent="0" algn="l">
              <a:buNone/>
            </a:pPr>
            <a:endParaRPr lang="tr-TR" sz="1400" b="1" i="0" dirty="0">
              <a:solidFill>
                <a:srgbClr val="338855"/>
              </a:solidFill>
              <a:effectLst/>
            </a:endParaRPr>
          </a:p>
          <a:p>
            <a:pPr marL="0" indent="0" algn="l">
              <a:buNone/>
            </a:pPr>
            <a:endParaRPr lang="tr-TR" sz="1400" b="1" dirty="0">
              <a:solidFill>
                <a:srgbClr val="338855"/>
              </a:solidFill>
            </a:endParaRPr>
          </a:p>
          <a:p>
            <a:pPr marL="0" indent="0" algn="l">
              <a:buNone/>
            </a:pPr>
            <a:endParaRPr lang="tr-TR" sz="1400" b="1" i="0" dirty="0">
              <a:solidFill>
                <a:srgbClr val="338855"/>
              </a:solidFill>
              <a:effectLst/>
            </a:endParaRPr>
          </a:p>
          <a:p>
            <a:pPr marL="0" indent="0" algn="l">
              <a:buNone/>
            </a:pPr>
            <a:endParaRPr lang="tr-TR" sz="1400" b="1" dirty="0">
              <a:solidFill>
                <a:srgbClr val="338855"/>
              </a:solidFill>
            </a:endParaRPr>
          </a:p>
          <a:p>
            <a:pPr marL="0" indent="0" algn="l">
              <a:buNone/>
            </a:pPr>
            <a:endParaRPr lang="tr-TR" sz="1400" b="1" i="0" dirty="0">
              <a:solidFill>
                <a:srgbClr val="338855"/>
              </a:solidFill>
              <a:effectLst/>
            </a:endParaRPr>
          </a:p>
          <a:p>
            <a:pPr marL="0" indent="0" algn="l">
              <a:buNone/>
            </a:pPr>
            <a:endParaRPr lang="tr-TR" sz="1400" b="1" dirty="0">
              <a:solidFill>
                <a:srgbClr val="338855"/>
              </a:solidFill>
            </a:endParaRPr>
          </a:p>
          <a:p>
            <a:pPr marL="0" indent="0" algn="l">
              <a:buNone/>
            </a:pPr>
            <a:endParaRPr lang="tr-TR" sz="1400" b="1" i="0" dirty="0">
              <a:solidFill>
                <a:srgbClr val="338855"/>
              </a:solidFill>
              <a:effectLst/>
            </a:endParaRPr>
          </a:p>
          <a:p>
            <a:pPr marL="0" indent="0" algn="l">
              <a:buNone/>
            </a:pPr>
            <a:endParaRPr lang="tr-TR" sz="1400" b="1" dirty="0">
              <a:solidFill>
                <a:srgbClr val="338855"/>
              </a:solidFill>
            </a:endParaRPr>
          </a:p>
          <a:p>
            <a:pPr marL="0" indent="0" algn="l">
              <a:buNone/>
            </a:pPr>
            <a:r>
              <a:rPr lang="en-US" sz="1400" b="1" i="0" dirty="0">
                <a:solidFill>
                  <a:srgbClr val="3E3A5F"/>
                </a:solidFill>
                <a:effectLst/>
              </a:rPr>
              <a:t>Honesty &amp; Transparency</a:t>
            </a:r>
          </a:p>
          <a:p>
            <a:pPr marL="0" indent="0" algn="l">
              <a:buNone/>
            </a:pPr>
            <a:r>
              <a:rPr lang="en-US" sz="1400" b="0" i="0" dirty="0">
                <a:solidFill>
                  <a:srgbClr val="666666"/>
                </a:solidFill>
                <a:effectLst/>
              </a:rPr>
              <a:t>We believe in straightforward, no-nonsense communication. We </a:t>
            </a:r>
            <a:r>
              <a:rPr lang="en-US" sz="1400" b="0" i="0" dirty="0" err="1">
                <a:solidFill>
                  <a:srgbClr val="666666"/>
                </a:solidFill>
                <a:effectLst/>
              </a:rPr>
              <a:t>prioriti</a:t>
            </a:r>
            <a:r>
              <a:rPr lang="tr-TR" sz="1400" b="0" i="0" dirty="0">
                <a:solidFill>
                  <a:srgbClr val="666666"/>
                </a:solidFill>
                <a:effectLst/>
              </a:rPr>
              <a:t>z</a:t>
            </a:r>
            <a:r>
              <a:rPr lang="en-US" sz="1400" b="0" i="0" dirty="0">
                <a:solidFill>
                  <a:srgbClr val="666666"/>
                </a:solidFill>
                <a:effectLst/>
              </a:rPr>
              <a:t>e </a:t>
            </a:r>
            <a:r>
              <a:rPr lang="en-US" sz="1400" b="1" i="0" dirty="0">
                <a:solidFill>
                  <a:srgbClr val="666666"/>
                </a:solidFill>
                <a:effectLst/>
              </a:rPr>
              <a:t>honesty</a:t>
            </a:r>
            <a:r>
              <a:rPr lang="en-US" sz="1400" b="0" i="0" dirty="0">
                <a:solidFill>
                  <a:srgbClr val="666666"/>
                </a:solidFill>
                <a:effectLst/>
              </a:rPr>
              <a:t> in all our interactions and </a:t>
            </a:r>
            <a:r>
              <a:rPr lang="en-US" sz="1400" b="1" i="0" dirty="0">
                <a:solidFill>
                  <a:srgbClr val="666666"/>
                </a:solidFill>
                <a:effectLst/>
              </a:rPr>
              <a:t>transparency</a:t>
            </a:r>
            <a:r>
              <a:rPr lang="en-US" sz="1400" b="0" i="0" dirty="0">
                <a:solidFill>
                  <a:srgbClr val="666666"/>
                </a:solidFill>
                <a:effectLst/>
              </a:rPr>
              <a:t> in all our processes.</a:t>
            </a:r>
            <a:endParaRPr lang="tr-TR" sz="1400" b="0" i="0" dirty="0">
              <a:solidFill>
                <a:srgbClr val="666666"/>
              </a:solidFill>
              <a:effectLst/>
            </a:endParaRPr>
          </a:p>
          <a:p>
            <a:pPr marL="0" indent="0" algn="l">
              <a:buNone/>
            </a:pPr>
            <a:endParaRPr lang="en-US" sz="1400" b="0" i="0" dirty="0">
              <a:solidFill>
                <a:srgbClr val="000000"/>
              </a:solidFill>
              <a:effectLst/>
            </a:endParaRPr>
          </a:p>
          <a:p>
            <a:pPr marL="0" indent="0" algn="l">
              <a:buNone/>
            </a:pPr>
            <a:r>
              <a:rPr lang="en-US" sz="1400" b="1" i="0" dirty="0">
                <a:solidFill>
                  <a:srgbClr val="3E3A5F"/>
                </a:solidFill>
                <a:effectLst/>
              </a:rPr>
              <a:t>Predictability</a:t>
            </a:r>
          </a:p>
          <a:p>
            <a:pPr marL="0" indent="0" algn="l">
              <a:buNone/>
            </a:pPr>
            <a:r>
              <a:rPr lang="en-US" sz="1400" b="0" i="0" dirty="0">
                <a:solidFill>
                  <a:srgbClr val="666666"/>
                </a:solidFill>
                <a:effectLst/>
              </a:rPr>
              <a:t>We understand the importance of predictability in quality, scale, and cost. We commit to consistent </a:t>
            </a:r>
            <a:r>
              <a:rPr lang="en-US" sz="1400" b="1" i="0" dirty="0">
                <a:solidFill>
                  <a:srgbClr val="666666"/>
                </a:solidFill>
                <a:effectLst/>
              </a:rPr>
              <a:t>high standards </a:t>
            </a:r>
            <a:r>
              <a:rPr lang="en-US" sz="1400" b="0" i="0" dirty="0">
                <a:solidFill>
                  <a:srgbClr val="666666"/>
                </a:solidFill>
                <a:effectLst/>
              </a:rPr>
              <a:t>in all our projects and processes.</a:t>
            </a:r>
            <a:endParaRPr lang="tr-TR" sz="1400" b="0" i="0" dirty="0">
              <a:solidFill>
                <a:srgbClr val="666666"/>
              </a:solidFill>
              <a:effectLst/>
            </a:endParaRPr>
          </a:p>
          <a:p>
            <a:pPr marL="0" indent="0" algn="l">
              <a:buNone/>
            </a:pPr>
            <a:endParaRPr lang="en-US" sz="1400" b="0" i="0" dirty="0">
              <a:solidFill>
                <a:srgbClr val="000000"/>
              </a:solidFill>
              <a:effectLst/>
            </a:endParaRPr>
          </a:p>
          <a:p>
            <a:pPr marL="0" indent="0" algn="l">
              <a:buNone/>
            </a:pPr>
            <a:r>
              <a:rPr lang="en-US" sz="1400" b="1" i="0" dirty="0">
                <a:solidFill>
                  <a:srgbClr val="3E3A5F"/>
                </a:solidFill>
                <a:effectLst/>
              </a:rPr>
              <a:t>Outcome Oriented</a:t>
            </a:r>
          </a:p>
          <a:p>
            <a:pPr marL="0" indent="0" algn="l">
              <a:buNone/>
            </a:pPr>
            <a:r>
              <a:rPr lang="en-US" sz="1400" b="0" i="0" dirty="0">
                <a:solidFill>
                  <a:srgbClr val="666666"/>
                </a:solidFill>
                <a:effectLst/>
              </a:rPr>
              <a:t>Our focus is always on delivering the highest possible standards. We are driven by outcomes and motivated by </a:t>
            </a:r>
            <a:r>
              <a:rPr lang="en-US" sz="1400" b="1" i="0" dirty="0">
                <a:solidFill>
                  <a:srgbClr val="666666"/>
                </a:solidFill>
                <a:effectLst/>
              </a:rPr>
              <a:t>success</a:t>
            </a:r>
            <a:r>
              <a:rPr lang="en-US" sz="1400" b="0" i="0" dirty="0">
                <a:solidFill>
                  <a:srgbClr val="666666"/>
                </a:solidFill>
                <a:effectLst/>
              </a:rPr>
              <a:t>.</a:t>
            </a:r>
            <a:endParaRPr lang="tr-TR" sz="1400" b="0" i="0" dirty="0">
              <a:solidFill>
                <a:srgbClr val="666666"/>
              </a:solidFill>
              <a:effectLst/>
            </a:endParaRPr>
          </a:p>
          <a:p>
            <a:pPr marL="0" indent="0" algn="l">
              <a:buNone/>
            </a:pPr>
            <a:endParaRPr lang="en-US" sz="1400" b="0" i="0" dirty="0">
              <a:solidFill>
                <a:srgbClr val="000000"/>
              </a:solidFill>
              <a:effectLst/>
            </a:endParaRPr>
          </a:p>
          <a:p>
            <a:pPr marL="0" indent="0" algn="l">
              <a:buNone/>
            </a:pPr>
            <a:r>
              <a:rPr lang="en-US" sz="1400" b="1" i="0" dirty="0">
                <a:solidFill>
                  <a:srgbClr val="3E3A5F"/>
                </a:solidFill>
                <a:effectLst/>
              </a:rPr>
              <a:t>Going One Beyond</a:t>
            </a:r>
          </a:p>
          <a:p>
            <a:pPr marL="0" indent="0" algn="l">
              <a:buNone/>
            </a:pPr>
            <a:r>
              <a:rPr lang="en-US" sz="1400" b="0" i="0" dirty="0">
                <a:solidFill>
                  <a:srgbClr val="666666"/>
                </a:solidFill>
                <a:effectLst/>
              </a:rPr>
              <a:t>We are not content with the status quo. We push the boundaries of what’s possible to deliver </a:t>
            </a:r>
            <a:r>
              <a:rPr lang="en-US" sz="1400" b="1" i="0" dirty="0">
                <a:solidFill>
                  <a:srgbClr val="666666"/>
                </a:solidFill>
                <a:effectLst/>
              </a:rPr>
              <a:t>the best possible results </a:t>
            </a:r>
            <a:r>
              <a:rPr lang="en-US" sz="1400" b="0" i="0" dirty="0">
                <a:solidFill>
                  <a:srgbClr val="666666"/>
                </a:solidFill>
                <a:effectLst/>
              </a:rPr>
              <a:t>for our clients and our company.</a:t>
            </a:r>
          </a:p>
          <a:p>
            <a:endParaRPr lang="tr-TR" sz="1600" dirty="0"/>
          </a:p>
        </p:txBody>
      </p:sp>
    </p:spTree>
    <p:extLst>
      <p:ext uri="{BB962C8B-B14F-4D97-AF65-F5344CB8AC3E}">
        <p14:creationId xmlns:p14="http://schemas.microsoft.com/office/powerpoint/2010/main" val="20231767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70F0100-EAB8-DCDC-1192-2A6FB91D0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C625359-23BA-652B-08F4-8877D8A9AA6D}"/>
              </a:ext>
            </a:extLst>
          </p:cNvPr>
          <p:cNvSpPr>
            <a:spLocks noGrp="1"/>
          </p:cNvSpPr>
          <p:nvPr>
            <p:ph type="title"/>
          </p:nvPr>
        </p:nvSpPr>
        <p:spPr>
          <a:xfrm>
            <a:off x="628650" y="365127"/>
            <a:ext cx="7886700" cy="831626"/>
          </a:xfrm>
        </p:spPr>
        <p:txBody>
          <a:bodyPr/>
          <a:lstStyle/>
          <a:p>
            <a:r>
              <a:rPr lang="tr-TR" sz="3600" b="1" i="0" dirty="0">
                <a:solidFill>
                  <a:srgbClr val="3E3A5F"/>
                </a:solidFill>
                <a:effectLst/>
                <a:ea typeface="Calibri" panose="020F0502020204030204" pitchFamily="34" charset="0"/>
                <a:cs typeface="Calibri" panose="020F0502020204030204" pitchFamily="34" charset="0"/>
              </a:rPr>
              <a:t>Industries</a:t>
            </a:r>
            <a:endParaRPr lang="tr-TR" b="1" dirty="0">
              <a:solidFill>
                <a:srgbClr val="3E3A5F"/>
              </a:solidFill>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xmlns="" id="{68EEFFB7-4C1C-BDDF-3BE9-DA3D3E4C6F14}"/>
              </a:ext>
            </a:extLst>
          </p:cNvPr>
          <p:cNvSpPr>
            <a:spLocks noGrp="1"/>
          </p:cNvSpPr>
          <p:nvPr>
            <p:ph idx="1"/>
          </p:nvPr>
        </p:nvSpPr>
        <p:spPr>
          <a:xfrm>
            <a:off x="683568" y="1082476"/>
            <a:ext cx="7776864" cy="1260011"/>
          </a:xfrm>
        </p:spPr>
        <p:txBody>
          <a:bodyPr>
            <a:normAutofit fontScale="92500" lnSpcReduction="20000"/>
          </a:bodyPr>
          <a:lstStyle/>
          <a:p>
            <a:pPr marL="0" indent="0">
              <a:buNone/>
            </a:pPr>
            <a:r>
              <a:rPr lang="en-US" sz="1600" dirty="0"/>
              <a:t>Since</a:t>
            </a:r>
            <a:r>
              <a:rPr lang="en-US" sz="1600" dirty="0">
                <a:solidFill>
                  <a:srgbClr val="666666"/>
                </a:solidFill>
              </a:rPr>
              <a:t> </a:t>
            </a:r>
            <a:r>
              <a:rPr lang="en-US" sz="1600" b="1" dirty="0" err="1">
                <a:solidFill>
                  <a:srgbClr val="F15922"/>
                </a:solidFill>
              </a:rPr>
              <a:t>iKnow</a:t>
            </a:r>
            <a:r>
              <a:rPr lang="en-US" sz="1600" dirty="0">
                <a:solidFill>
                  <a:srgbClr val="666666"/>
                </a:solidFill>
              </a:rPr>
              <a:t> </a:t>
            </a:r>
            <a:r>
              <a:rPr lang="en-US" sz="1600" dirty="0"/>
              <a:t>was founded in </a:t>
            </a:r>
            <a:r>
              <a:rPr lang="en-US" sz="1600" b="1" dirty="0"/>
              <a:t>2017</a:t>
            </a:r>
            <a:r>
              <a:rPr lang="en-US" sz="1600" dirty="0"/>
              <a:t>, we have helped clients across a wide range of industries to gain a competitive advantage through digital transformation.</a:t>
            </a:r>
          </a:p>
          <a:p>
            <a:pPr marL="0" indent="0">
              <a:buNone/>
            </a:pPr>
            <a:r>
              <a:rPr lang="en-US" sz="1600" dirty="0"/>
              <a:t>We help our clients to navigate the ever-evolving digital landscape and partner with them to streamline their processes, improve their customer experience and mitigate cyber security concerns by building new </a:t>
            </a:r>
            <a:r>
              <a:rPr lang="en-US" sz="1600" b="1" dirty="0"/>
              <a:t>innovative solutions </a:t>
            </a:r>
            <a:r>
              <a:rPr lang="en-US" sz="1600" dirty="0"/>
              <a:t>as well as updating legacy infrastructure with new technologies.</a:t>
            </a:r>
          </a:p>
        </p:txBody>
      </p:sp>
      <p:sp>
        <p:nvSpPr>
          <p:cNvPr id="12" name="Slide Number Placeholder 11">
            <a:extLst>
              <a:ext uri="{FF2B5EF4-FFF2-40B4-BE49-F238E27FC236}">
                <a16:creationId xmlns:a16="http://schemas.microsoft.com/office/drawing/2014/main" xmlns="" id="{37226FA1-78B7-D6F4-64FB-038723857EE3}"/>
              </a:ext>
            </a:extLst>
          </p:cNvPr>
          <p:cNvSpPr>
            <a:spLocks noGrp="1"/>
          </p:cNvSpPr>
          <p:nvPr>
            <p:ph type="sldNum" sz="quarter" idx="12"/>
          </p:nvPr>
        </p:nvSpPr>
        <p:spPr/>
        <p:txBody>
          <a:bodyPr/>
          <a:lstStyle/>
          <a:p>
            <a:fld id="{45536E09-86AD-465C-A544-548EAC427A74}" type="slidenum">
              <a:rPr lang="tr-TR" smtClean="0"/>
              <a:t>5</a:t>
            </a:fld>
            <a:endParaRPr lang="tr-TR"/>
          </a:p>
        </p:txBody>
      </p:sp>
      <p:pic>
        <p:nvPicPr>
          <p:cNvPr id="4" name="Picture 3">
            <a:extLst>
              <a:ext uri="{FF2B5EF4-FFF2-40B4-BE49-F238E27FC236}">
                <a16:creationId xmlns:a16="http://schemas.microsoft.com/office/drawing/2014/main" xmlns="" id="{8981F8F1-E0ED-E7E4-9584-90D1366AFC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
        <p:nvSpPr>
          <p:cNvPr id="5" name="TextBox 4">
            <a:extLst>
              <a:ext uri="{FF2B5EF4-FFF2-40B4-BE49-F238E27FC236}">
                <a16:creationId xmlns:a16="http://schemas.microsoft.com/office/drawing/2014/main" xmlns="" id="{E5708416-1D1E-18F9-520A-49251F8AC533}"/>
              </a:ext>
            </a:extLst>
          </p:cNvPr>
          <p:cNvSpPr txBox="1"/>
          <p:nvPr/>
        </p:nvSpPr>
        <p:spPr>
          <a:xfrm>
            <a:off x="628650" y="5113707"/>
            <a:ext cx="2448272" cy="1569660"/>
          </a:xfrm>
          <a:prstGeom prst="rect">
            <a:avLst/>
          </a:prstGeom>
          <a:noFill/>
        </p:spPr>
        <p:txBody>
          <a:bodyPr wrap="square" rtlCol="0">
            <a:spAutoFit/>
          </a:bodyPr>
          <a:lstStyle/>
          <a:p>
            <a:pPr marL="0" indent="0">
              <a:buNone/>
            </a:pPr>
            <a:r>
              <a:rPr lang="en-US" sz="1200" b="1" dirty="0">
                <a:solidFill>
                  <a:srgbClr val="3E3A5F"/>
                </a:solidFill>
              </a:rPr>
              <a:t>Large Enterprises</a:t>
            </a:r>
          </a:p>
          <a:p>
            <a:pPr marL="0" indent="0">
              <a:buNone/>
            </a:pPr>
            <a:r>
              <a:rPr lang="en-US" sz="1200" dirty="0">
                <a:solidFill>
                  <a:srgbClr val="666666"/>
                </a:solidFill>
              </a:rPr>
              <a:t>As experts in digital transformation, we provide consultation services for large multinational businesses and build bespoke software solutions that help improve your business’ resilience in an always </a:t>
            </a:r>
            <a:r>
              <a:rPr lang="en-US" sz="1200" b="1" dirty="0">
                <a:solidFill>
                  <a:srgbClr val="666666"/>
                </a:solidFill>
              </a:rPr>
              <a:t>competitive</a:t>
            </a:r>
            <a:r>
              <a:rPr lang="en-US" sz="1200" dirty="0">
                <a:solidFill>
                  <a:srgbClr val="666666"/>
                </a:solidFill>
              </a:rPr>
              <a:t> </a:t>
            </a:r>
            <a:r>
              <a:rPr lang="en-US" sz="1200" b="1" dirty="0">
                <a:solidFill>
                  <a:srgbClr val="666666"/>
                </a:solidFill>
              </a:rPr>
              <a:t>marketplace</a:t>
            </a:r>
            <a:r>
              <a:rPr lang="en-US" sz="1200" dirty="0">
                <a:solidFill>
                  <a:srgbClr val="666666"/>
                </a:solidFill>
              </a:rPr>
              <a:t>.</a:t>
            </a:r>
          </a:p>
        </p:txBody>
      </p:sp>
      <p:sp>
        <p:nvSpPr>
          <p:cNvPr id="7" name="TextBox 6">
            <a:extLst>
              <a:ext uri="{FF2B5EF4-FFF2-40B4-BE49-F238E27FC236}">
                <a16:creationId xmlns:a16="http://schemas.microsoft.com/office/drawing/2014/main" xmlns="" id="{0F5B0C07-035B-1625-52DC-094187E319FB}"/>
              </a:ext>
            </a:extLst>
          </p:cNvPr>
          <p:cNvSpPr txBox="1"/>
          <p:nvPr/>
        </p:nvSpPr>
        <p:spPr>
          <a:xfrm>
            <a:off x="5957242" y="5131058"/>
            <a:ext cx="2863230" cy="1569660"/>
          </a:xfrm>
          <a:prstGeom prst="rect">
            <a:avLst/>
          </a:prstGeom>
          <a:noFill/>
        </p:spPr>
        <p:txBody>
          <a:bodyPr wrap="square" rtlCol="0">
            <a:spAutoFit/>
          </a:bodyPr>
          <a:lstStyle/>
          <a:p>
            <a:pPr marL="0" indent="0">
              <a:buNone/>
            </a:pPr>
            <a:r>
              <a:rPr lang="en-US" sz="1200" b="1" dirty="0">
                <a:solidFill>
                  <a:srgbClr val="3E3A5F"/>
                </a:solidFill>
              </a:rPr>
              <a:t>Government and Public Sector</a:t>
            </a:r>
          </a:p>
          <a:p>
            <a:pPr marL="0" indent="0">
              <a:buNone/>
            </a:pPr>
            <a:r>
              <a:rPr lang="en-US" sz="1200" dirty="0">
                <a:solidFill>
                  <a:srgbClr val="666666"/>
                </a:solidFill>
              </a:rPr>
              <a:t>We have extensive experience working with Government and Public Sector </a:t>
            </a:r>
            <a:r>
              <a:rPr lang="en-US" sz="1200" dirty="0" err="1">
                <a:solidFill>
                  <a:srgbClr val="666666"/>
                </a:solidFill>
              </a:rPr>
              <a:t>organisations</a:t>
            </a:r>
            <a:r>
              <a:rPr lang="en-US" sz="1200" dirty="0">
                <a:solidFill>
                  <a:srgbClr val="666666"/>
                </a:solidFill>
              </a:rPr>
              <a:t> to improve the way the general public accesses its services. This includes creating </a:t>
            </a:r>
            <a:r>
              <a:rPr lang="en-US" sz="1200" b="1" dirty="0">
                <a:solidFill>
                  <a:srgbClr val="666666"/>
                </a:solidFill>
              </a:rPr>
              <a:t>seamless user experiences </a:t>
            </a:r>
            <a:r>
              <a:rPr lang="en-US" sz="1200" dirty="0">
                <a:solidFill>
                  <a:srgbClr val="666666"/>
                </a:solidFill>
              </a:rPr>
              <a:t>and </a:t>
            </a:r>
            <a:r>
              <a:rPr lang="en-US" sz="1200" b="1" dirty="0">
                <a:solidFill>
                  <a:srgbClr val="666666"/>
                </a:solidFill>
              </a:rPr>
              <a:t>updating outdated legacy systems to the latest technologies</a:t>
            </a:r>
            <a:r>
              <a:rPr lang="en-US" sz="1200" dirty="0">
                <a:solidFill>
                  <a:srgbClr val="666666"/>
                </a:solidFill>
              </a:rPr>
              <a:t>.</a:t>
            </a:r>
          </a:p>
        </p:txBody>
      </p:sp>
      <p:sp>
        <p:nvSpPr>
          <p:cNvPr id="8" name="TextBox 7">
            <a:extLst>
              <a:ext uri="{FF2B5EF4-FFF2-40B4-BE49-F238E27FC236}">
                <a16:creationId xmlns:a16="http://schemas.microsoft.com/office/drawing/2014/main" xmlns="" id="{5A64A6F2-9FF8-9553-C6B3-CAE6A9C7049E}"/>
              </a:ext>
            </a:extLst>
          </p:cNvPr>
          <p:cNvSpPr txBox="1"/>
          <p:nvPr/>
        </p:nvSpPr>
        <p:spPr>
          <a:xfrm>
            <a:off x="683568" y="2980109"/>
            <a:ext cx="2592288" cy="1569660"/>
          </a:xfrm>
          <a:prstGeom prst="rect">
            <a:avLst/>
          </a:prstGeom>
          <a:noFill/>
        </p:spPr>
        <p:txBody>
          <a:bodyPr wrap="square" rtlCol="0">
            <a:spAutoFit/>
          </a:bodyPr>
          <a:lstStyle/>
          <a:p>
            <a:pPr marL="0" indent="0">
              <a:buNone/>
            </a:pPr>
            <a:r>
              <a:rPr lang="en-US" sz="1200" b="1" dirty="0">
                <a:solidFill>
                  <a:srgbClr val="3E3A5F"/>
                </a:solidFill>
              </a:rPr>
              <a:t>Financial Services</a:t>
            </a:r>
          </a:p>
          <a:p>
            <a:pPr marL="0" indent="0">
              <a:buNone/>
            </a:pPr>
            <a:r>
              <a:rPr lang="en-US" sz="1200" dirty="0">
                <a:solidFill>
                  <a:srgbClr val="666666"/>
                </a:solidFill>
              </a:rPr>
              <a:t>As a trusted partner of finance companies including banks, insurers and investors, we provide </a:t>
            </a:r>
            <a:r>
              <a:rPr lang="en-US" sz="1200" b="1" dirty="0">
                <a:solidFill>
                  <a:srgbClr val="666666"/>
                </a:solidFill>
              </a:rPr>
              <a:t>bespoke</a:t>
            </a:r>
            <a:r>
              <a:rPr lang="en-US" sz="1200" dirty="0">
                <a:solidFill>
                  <a:srgbClr val="666666"/>
                </a:solidFill>
              </a:rPr>
              <a:t> software development, maintenance, and consulting solutions to enable business growth across the financial services sector.</a:t>
            </a:r>
          </a:p>
        </p:txBody>
      </p:sp>
      <p:sp>
        <p:nvSpPr>
          <p:cNvPr id="9" name="TextBox 8">
            <a:extLst>
              <a:ext uri="{FF2B5EF4-FFF2-40B4-BE49-F238E27FC236}">
                <a16:creationId xmlns:a16="http://schemas.microsoft.com/office/drawing/2014/main" xmlns="" id="{EC9A1F5D-FE7E-53FF-2624-0487F8584359}"/>
              </a:ext>
            </a:extLst>
          </p:cNvPr>
          <p:cNvSpPr txBox="1"/>
          <p:nvPr/>
        </p:nvSpPr>
        <p:spPr>
          <a:xfrm>
            <a:off x="3392268" y="3034276"/>
            <a:ext cx="2259706" cy="1384995"/>
          </a:xfrm>
          <a:prstGeom prst="rect">
            <a:avLst/>
          </a:prstGeom>
          <a:noFill/>
        </p:spPr>
        <p:txBody>
          <a:bodyPr wrap="square" rtlCol="0">
            <a:spAutoFit/>
          </a:bodyPr>
          <a:lstStyle/>
          <a:p>
            <a:pPr marL="0" indent="0">
              <a:buNone/>
            </a:pPr>
            <a:r>
              <a:rPr lang="en-US" sz="1200" b="1" dirty="0">
                <a:solidFill>
                  <a:srgbClr val="3E3A5F"/>
                </a:solidFill>
              </a:rPr>
              <a:t>Retail and E-Commerce</a:t>
            </a:r>
          </a:p>
          <a:p>
            <a:pPr marL="0" indent="0">
              <a:buNone/>
            </a:pPr>
            <a:r>
              <a:rPr lang="en-US" sz="1200" dirty="0">
                <a:solidFill>
                  <a:srgbClr val="666666"/>
                </a:solidFill>
              </a:rPr>
              <a:t>From inventory control systems to customer portals and e-commerce apps, we have helped many </a:t>
            </a:r>
            <a:r>
              <a:rPr lang="en-US" sz="1200" dirty="0" err="1">
                <a:solidFill>
                  <a:srgbClr val="666666"/>
                </a:solidFill>
              </a:rPr>
              <a:t>organisations</a:t>
            </a:r>
            <a:r>
              <a:rPr lang="en-US" sz="1200" dirty="0">
                <a:solidFill>
                  <a:srgbClr val="666666"/>
                </a:solidFill>
              </a:rPr>
              <a:t> to create business efficiencies whilst also </a:t>
            </a:r>
            <a:r>
              <a:rPr lang="en-US" sz="1200" b="1" dirty="0">
                <a:solidFill>
                  <a:srgbClr val="666666"/>
                </a:solidFill>
              </a:rPr>
              <a:t>improving customer experience.</a:t>
            </a:r>
          </a:p>
        </p:txBody>
      </p:sp>
      <p:sp>
        <p:nvSpPr>
          <p:cNvPr id="10" name="TextBox 9">
            <a:extLst>
              <a:ext uri="{FF2B5EF4-FFF2-40B4-BE49-F238E27FC236}">
                <a16:creationId xmlns:a16="http://schemas.microsoft.com/office/drawing/2014/main" xmlns="" id="{CBC88240-47BA-C697-6ADD-2F0C8BD52227}"/>
              </a:ext>
            </a:extLst>
          </p:cNvPr>
          <p:cNvSpPr txBox="1"/>
          <p:nvPr/>
        </p:nvSpPr>
        <p:spPr>
          <a:xfrm>
            <a:off x="5940152" y="2980109"/>
            <a:ext cx="2376264" cy="1200329"/>
          </a:xfrm>
          <a:prstGeom prst="rect">
            <a:avLst/>
          </a:prstGeom>
          <a:noFill/>
        </p:spPr>
        <p:txBody>
          <a:bodyPr wrap="square" rtlCol="0">
            <a:spAutoFit/>
          </a:bodyPr>
          <a:lstStyle/>
          <a:p>
            <a:pPr marL="0" indent="0">
              <a:buNone/>
            </a:pPr>
            <a:r>
              <a:rPr lang="en-US" sz="1200" b="1" dirty="0">
                <a:solidFill>
                  <a:srgbClr val="3E3A5F"/>
                </a:solidFill>
              </a:rPr>
              <a:t>Healthcare</a:t>
            </a:r>
            <a:endParaRPr lang="en-US" sz="1050" b="1" dirty="0">
              <a:solidFill>
                <a:srgbClr val="3E3A5F"/>
              </a:solidFill>
            </a:endParaRPr>
          </a:p>
          <a:p>
            <a:pPr marL="0" indent="0">
              <a:buNone/>
            </a:pPr>
            <a:r>
              <a:rPr lang="en-US" sz="1200" dirty="0">
                <a:solidFill>
                  <a:srgbClr val="666666"/>
                </a:solidFill>
              </a:rPr>
              <a:t>We empower medical professionals, in both the public and private sectors, to </a:t>
            </a:r>
            <a:r>
              <a:rPr lang="en-US" sz="1200" b="1" dirty="0">
                <a:solidFill>
                  <a:srgbClr val="666666"/>
                </a:solidFill>
              </a:rPr>
              <a:t>transform the delivery of healthcare </a:t>
            </a:r>
            <a:r>
              <a:rPr lang="en-US" sz="1200" dirty="0">
                <a:solidFill>
                  <a:srgbClr val="666666"/>
                </a:solidFill>
              </a:rPr>
              <a:t>and ensure the best patient outcomes.</a:t>
            </a:r>
          </a:p>
        </p:txBody>
      </p:sp>
      <p:pic>
        <p:nvPicPr>
          <p:cNvPr id="15" name="Picture 14">
            <a:extLst>
              <a:ext uri="{FF2B5EF4-FFF2-40B4-BE49-F238E27FC236}">
                <a16:creationId xmlns:a16="http://schemas.microsoft.com/office/drawing/2014/main" xmlns="" id="{713A01D3-C978-2508-6794-06F415CC97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32240" y="4460032"/>
            <a:ext cx="674819" cy="674819"/>
          </a:xfrm>
          <a:prstGeom prst="rect">
            <a:avLst/>
          </a:prstGeom>
        </p:spPr>
      </p:pic>
      <p:pic>
        <p:nvPicPr>
          <p:cNvPr id="17" name="Picture 16">
            <a:extLst>
              <a:ext uri="{FF2B5EF4-FFF2-40B4-BE49-F238E27FC236}">
                <a16:creationId xmlns:a16="http://schemas.microsoft.com/office/drawing/2014/main" xmlns="" id="{B6540FD7-E7BE-DBA9-6CD3-4BE1E0038B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6593" y="4321403"/>
            <a:ext cx="972981" cy="972981"/>
          </a:xfrm>
          <a:prstGeom prst="rect">
            <a:avLst/>
          </a:prstGeom>
        </p:spPr>
      </p:pic>
      <p:pic>
        <p:nvPicPr>
          <p:cNvPr id="19" name="Picture 18">
            <a:extLst>
              <a:ext uri="{FF2B5EF4-FFF2-40B4-BE49-F238E27FC236}">
                <a16:creationId xmlns:a16="http://schemas.microsoft.com/office/drawing/2014/main" xmlns="" id="{A211AB17-D826-D5E8-B259-B53F2D508E9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75657" y="2348880"/>
            <a:ext cx="670532" cy="670532"/>
          </a:xfrm>
          <a:prstGeom prst="rect">
            <a:avLst/>
          </a:prstGeom>
        </p:spPr>
      </p:pic>
      <p:pic>
        <p:nvPicPr>
          <p:cNvPr id="21" name="Picture 20">
            <a:extLst>
              <a:ext uri="{FF2B5EF4-FFF2-40B4-BE49-F238E27FC236}">
                <a16:creationId xmlns:a16="http://schemas.microsoft.com/office/drawing/2014/main" xmlns="" id="{FFA70BC7-A1BA-DEF8-AB86-2F4D6C1854A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064117" y="2363745"/>
            <a:ext cx="670532" cy="670532"/>
          </a:xfrm>
          <a:prstGeom prst="rect">
            <a:avLst/>
          </a:prstGeom>
        </p:spPr>
      </p:pic>
      <p:pic>
        <p:nvPicPr>
          <p:cNvPr id="23" name="Picture 22">
            <a:extLst>
              <a:ext uri="{FF2B5EF4-FFF2-40B4-BE49-F238E27FC236}">
                <a16:creationId xmlns:a16="http://schemas.microsoft.com/office/drawing/2014/main" xmlns="" id="{5DDBD42C-60CC-2A48-A144-5096E7443EB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70517" y="4521864"/>
            <a:ext cx="674819" cy="674819"/>
          </a:xfrm>
          <a:prstGeom prst="rect">
            <a:avLst/>
          </a:prstGeom>
        </p:spPr>
      </p:pic>
      <p:pic>
        <p:nvPicPr>
          <p:cNvPr id="25" name="Picture 24">
            <a:extLst>
              <a:ext uri="{FF2B5EF4-FFF2-40B4-BE49-F238E27FC236}">
                <a16:creationId xmlns:a16="http://schemas.microsoft.com/office/drawing/2014/main" xmlns="" id="{B813CFDC-5EE8-F60A-ABC3-363E2CEEFE7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69322" y="2423801"/>
            <a:ext cx="670532" cy="670532"/>
          </a:xfrm>
          <a:prstGeom prst="rect">
            <a:avLst/>
          </a:prstGeom>
        </p:spPr>
      </p:pic>
      <p:sp>
        <p:nvSpPr>
          <p:cNvPr id="26" name="TextBox 25">
            <a:extLst>
              <a:ext uri="{FF2B5EF4-FFF2-40B4-BE49-F238E27FC236}">
                <a16:creationId xmlns:a16="http://schemas.microsoft.com/office/drawing/2014/main" xmlns="" id="{369BA45E-BCDB-A2C7-60A4-2D9C31857EB4}"/>
              </a:ext>
            </a:extLst>
          </p:cNvPr>
          <p:cNvSpPr txBox="1"/>
          <p:nvPr/>
        </p:nvSpPr>
        <p:spPr>
          <a:xfrm>
            <a:off x="3337891" y="5113707"/>
            <a:ext cx="2358067" cy="1569660"/>
          </a:xfrm>
          <a:prstGeom prst="rect">
            <a:avLst/>
          </a:prstGeom>
          <a:noFill/>
        </p:spPr>
        <p:txBody>
          <a:bodyPr wrap="square" rtlCol="0">
            <a:spAutoFit/>
          </a:bodyPr>
          <a:lstStyle/>
          <a:p>
            <a:pPr marL="0" indent="0">
              <a:buNone/>
            </a:pPr>
            <a:r>
              <a:rPr lang="en-US" sz="1200" b="1" dirty="0">
                <a:solidFill>
                  <a:srgbClr val="3E3A5F"/>
                </a:solidFill>
              </a:rPr>
              <a:t>SME’s</a:t>
            </a:r>
            <a:endParaRPr lang="en-US" sz="1050" b="1" dirty="0">
              <a:solidFill>
                <a:srgbClr val="3E3A5F"/>
              </a:solidFill>
            </a:endParaRPr>
          </a:p>
          <a:p>
            <a:pPr marL="0" indent="0">
              <a:buNone/>
            </a:pPr>
            <a:r>
              <a:rPr lang="en-US" sz="1200" dirty="0">
                <a:solidFill>
                  <a:srgbClr val="666666"/>
                </a:solidFill>
              </a:rPr>
              <a:t>At </a:t>
            </a:r>
            <a:r>
              <a:rPr lang="en-US" sz="1200" b="1" dirty="0" err="1">
                <a:solidFill>
                  <a:srgbClr val="F15922"/>
                </a:solidFill>
              </a:rPr>
              <a:t>iKnow</a:t>
            </a:r>
            <a:r>
              <a:rPr lang="en-US" sz="1200" dirty="0">
                <a:solidFill>
                  <a:srgbClr val="666666"/>
                </a:solidFill>
              </a:rPr>
              <a:t>, we’ve worked with start-ups and SMEs from the </a:t>
            </a:r>
            <a:r>
              <a:rPr lang="en-US" sz="1200" b="1" dirty="0">
                <a:solidFill>
                  <a:srgbClr val="666666"/>
                </a:solidFill>
              </a:rPr>
              <a:t>early</a:t>
            </a:r>
            <a:r>
              <a:rPr lang="en-US" sz="1200" dirty="0">
                <a:solidFill>
                  <a:srgbClr val="666666"/>
                </a:solidFill>
              </a:rPr>
              <a:t> </a:t>
            </a:r>
            <a:r>
              <a:rPr lang="en-US" sz="1200" b="1" dirty="0">
                <a:solidFill>
                  <a:srgbClr val="666666"/>
                </a:solidFill>
              </a:rPr>
              <a:t>stages of concept validation </a:t>
            </a:r>
            <a:r>
              <a:rPr lang="en-US" sz="1200" dirty="0">
                <a:solidFill>
                  <a:srgbClr val="666666"/>
                </a:solidFill>
              </a:rPr>
              <a:t>and MVP creation, through to the development of a scalable architecture for further project improvement.</a:t>
            </a:r>
          </a:p>
        </p:txBody>
      </p:sp>
    </p:spTree>
    <p:extLst>
      <p:ext uri="{BB962C8B-B14F-4D97-AF65-F5344CB8AC3E}">
        <p14:creationId xmlns:p14="http://schemas.microsoft.com/office/powerpoint/2010/main" val="14382180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FDC9377-82BB-4E7A-96D2-744FFB49F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8E232A7-219C-2D4A-0C05-88CE2C311E06}"/>
              </a:ext>
            </a:extLst>
          </p:cNvPr>
          <p:cNvSpPr>
            <a:spLocks noGrp="1"/>
          </p:cNvSpPr>
          <p:nvPr>
            <p:ph type="title"/>
          </p:nvPr>
        </p:nvSpPr>
        <p:spPr>
          <a:xfrm>
            <a:off x="628650" y="365127"/>
            <a:ext cx="7886700" cy="831626"/>
          </a:xfrm>
        </p:spPr>
        <p:txBody>
          <a:bodyPr/>
          <a:lstStyle/>
          <a:p>
            <a:r>
              <a:rPr lang="tr-TR" sz="3600" b="1" i="0" dirty="0">
                <a:solidFill>
                  <a:srgbClr val="3E3A5F"/>
                </a:solidFill>
                <a:effectLst/>
                <a:ea typeface="Calibri" panose="020F0502020204030204" pitchFamily="34" charset="0"/>
                <a:cs typeface="Calibri" panose="020F0502020204030204" pitchFamily="34" charset="0"/>
              </a:rPr>
              <a:t>Historical Milestones</a:t>
            </a:r>
            <a:endParaRPr lang="tr-TR" b="1" dirty="0">
              <a:solidFill>
                <a:srgbClr val="3E3A5F"/>
              </a:solidFill>
              <a:ea typeface="Calibri" panose="020F0502020204030204" pitchFamily="34" charset="0"/>
              <a:cs typeface="Calibri" panose="020F0502020204030204" pitchFamily="34" charset="0"/>
            </a:endParaRPr>
          </a:p>
        </p:txBody>
      </p:sp>
      <p:sp>
        <p:nvSpPr>
          <p:cNvPr id="11" name="Footer Placeholder 10">
            <a:extLst>
              <a:ext uri="{FF2B5EF4-FFF2-40B4-BE49-F238E27FC236}">
                <a16:creationId xmlns:a16="http://schemas.microsoft.com/office/drawing/2014/main" xmlns="" id="{577BB73A-2E9C-D51C-9659-4658C71E0783}"/>
              </a:ext>
            </a:extLst>
          </p:cNvPr>
          <p:cNvSpPr>
            <a:spLocks noGrp="1"/>
          </p:cNvSpPr>
          <p:nvPr>
            <p:ph type="ftr" sz="quarter" idx="11"/>
          </p:nvPr>
        </p:nvSpPr>
        <p:spPr/>
        <p:txBody>
          <a:bodyPr/>
          <a:lstStyle/>
          <a:p>
            <a:r>
              <a:rPr lang="tr-TR" dirty="0"/>
              <a:t>iKnow Technology</a:t>
            </a:r>
          </a:p>
        </p:txBody>
      </p:sp>
      <p:sp>
        <p:nvSpPr>
          <p:cNvPr id="12" name="Slide Number Placeholder 11">
            <a:extLst>
              <a:ext uri="{FF2B5EF4-FFF2-40B4-BE49-F238E27FC236}">
                <a16:creationId xmlns:a16="http://schemas.microsoft.com/office/drawing/2014/main" xmlns="" id="{F6A22088-EB3B-BDB8-8206-52554905F13D}"/>
              </a:ext>
            </a:extLst>
          </p:cNvPr>
          <p:cNvSpPr>
            <a:spLocks noGrp="1"/>
          </p:cNvSpPr>
          <p:nvPr>
            <p:ph type="sldNum" sz="quarter" idx="12"/>
          </p:nvPr>
        </p:nvSpPr>
        <p:spPr/>
        <p:txBody>
          <a:bodyPr/>
          <a:lstStyle/>
          <a:p>
            <a:fld id="{45536E09-86AD-465C-A544-548EAC427A74}" type="slidenum">
              <a:rPr lang="tr-TR" smtClean="0"/>
              <a:t>6</a:t>
            </a:fld>
            <a:endParaRPr lang="tr-TR"/>
          </a:p>
        </p:txBody>
      </p:sp>
      <p:pic>
        <p:nvPicPr>
          <p:cNvPr id="4" name="Picture 3">
            <a:extLst>
              <a:ext uri="{FF2B5EF4-FFF2-40B4-BE49-F238E27FC236}">
                <a16:creationId xmlns:a16="http://schemas.microsoft.com/office/drawing/2014/main" xmlns="" id="{E3D4B582-B388-E96E-CB40-2BC41886C5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pic>
        <p:nvPicPr>
          <p:cNvPr id="21" name="Picture 20">
            <a:extLst>
              <a:ext uri="{FF2B5EF4-FFF2-40B4-BE49-F238E27FC236}">
                <a16:creationId xmlns:a16="http://schemas.microsoft.com/office/drawing/2014/main" xmlns="" id="{24B63961-EF96-5A86-096A-4F5AC8FD9812}"/>
              </a:ext>
            </a:extLst>
          </p:cNvPr>
          <p:cNvPicPr>
            <a:picLocks noChangeAspect="1"/>
          </p:cNvPicPr>
          <p:nvPr/>
        </p:nvPicPr>
        <p:blipFill>
          <a:blip r:embed="rId3"/>
          <a:stretch>
            <a:fillRect/>
          </a:stretch>
        </p:blipFill>
        <p:spPr>
          <a:xfrm>
            <a:off x="323528" y="1260922"/>
            <a:ext cx="8352244" cy="4336156"/>
          </a:xfrm>
          <a:prstGeom prst="rect">
            <a:avLst/>
          </a:prstGeom>
        </p:spPr>
      </p:pic>
      <p:pic>
        <p:nvPicPr>
          <p:cNvPr id="19" name="Picture 18">
            <a:extLst>
              <a:ext uri="{FF2B5EF4-FFF2-40B4-BE49-F238E27FC236}">
                <a16:creationId xmlns:a16="http://schemas.microsoft.com/office/drawing/2014/main" xmlns="" id="{B3D5F021-0E8A-8555-FAEC-4328AFBE8C9B}"/>
              </a:ext>
            </a:extLst>
          </p:cNvPr>
          <p:cNvPicPr>
            <a:picLocks noChangeAspect="1"/>
          </p:cNvPicPr>
          <p:nvPr/>
        </p:nvPicPr>
        <p:blipFill>
          <a:blip r:embed="rId4"/>
          <a:stretch>
            <a:fillRect/>
          </a:stretch>
        </p:blipFill>
        <p:spPr>
          <a:xfrm>
            <a:off x="6636319" y="501649"/>
            <a:ext cx="2507681" cy="1866619"/>
          </a:xfrm>
          <a:prstGeom prst="rect">
            <a:avLst/>
          </a:prstGeom>
        </p:spPr>
      </p:pic>
    </p:spTree>
    <p:extLst>
      <p:ext uri="{BB962C8B-B14F-4D97-AF65-F5344CB8AC3E}">
        <p14:creationId xmlns:p14="http://schemas.microsoft.com/office/powerpoint/2010/main" val="32674784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F074075-8B9B-FFD5-A8A3-61EEC31874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03B4DA8-7E39-EAE7-57E3-A30CA182069A}"/>
              </a:ext>
            </a:extLst>
          </p:cNvPr>
          <p:cNvSpPr>
            <a:spLocks noGrp="1"/>
          </p:cNvSpPr>
          <p:nvPr>
            <p:ph type="title"/>
          </p:nvPr>
        </p:nvSpPr>
        <p:spPr>
          <a:xfrm>
            <a:off x="628650" y="365127"/>
            <a:ext cx="7886700" cy="831626"/>
          </a:xfrm>
        </p:spPr>
        <p:txBody>
          <a:bodyPr/>
          <a:lstStyle/>
          <a:p>
            <a:pPr algn="l">
              <a:spcAft>
                <a:spcPts val="750"/>
              </a:spcAft>
            </a:pPr>
            <a:r>
              <a:rPr lang="en-US" sz="3600" b="1" dirty="0">
                <a:solidFill>
                  <a:srgbClr val="3E3A5F"/>
                </a:solidFill>
              </a:rPr>
              <a:t>Our </a:t>
            </a:r>
            <a:r>
              <a:rPr lang="tr-TR" sz="3600" b="1" dirty="0">
                <a:solidFill>
                  <a:srgbClr val="3E3A5F"/>
                </a:solidFill>
              </a:rPr>
              <a:t>S</a:t>
            </a:r>
            <a:r>
              <a:rPr lang="en-US" sz="3600" b="1" dirty="0" err="1">
                <a:solidFill>
                  <a:srgbClr val="3E3A5F"/>
                </a:solidFill>
              </a:rPr>
              <a:t>ervices</a:t>
            </a:r>
            <a:endParaRPr lang="en-US" sz="3600" b="1" dirty="0">
              <a:solidFill>
                <a:srgbClr val="3E3A5F"/>
              </a:solidFill>
            </a:endParaRPr>
          </a:p>
        </p:txBody>
      </p:sp>
      <p:sp>
        <p:nvSpPr>
          <p:cNvPr id="11" name="Footer Placeholder 10">
            <a:extLst>
              <a:ext uri="{FF2B5EF4-FFF2-40B4-BE49-F238E27FC236}">
                <a16:creationId xmlns:a16="http://schemas.microsoft.com/office/drawing/2014/main" xmlns="" id="{D5891A4B-9B82-471E-7AEF-B36D50143C66}"/>
              </a:ext>
            </a:extLst>
          </p:cNvPr>
          <p:cNvSpPr>
            <a:spLocks noGrp="1"/>
          </p:cNvSpPr>
          <p:nvPr>
            <p:ph type="ftr" sz="quarter" idx="11"/>
          </p:nvPr>
        </p:nvSpPr>
        <p:spPr/>
        <p:txBody>
          <a:bodyPr/>
          <a:lstStyle/>
          <a:p>
            <a:r>
              <a:rPr lang="tr-TR" dirty="0"/>
              <a:t>iKnow Technology</a:t>
            </a:r>
          </a:p>
        </p:txBody>
      </p:sp>
      <p:sp>
        <p:nvSpPr>
          <p:cNvPr id="12" name="Slide Number Placeholder 11">
            <a:extLst>
              <a:ext uri="{FF2B5EF4-FFF2-40B4-BE49-F238E27FC236}">
                <a16:creationId xmlns:a16="http://schemas.microsoft.com/office/drawing/2014/main" xmlns="" id="{064177D9-CF91-B43D-73D1-7C3F3CBD4BA5}"/>
              </a:ext>
            </a:extLst>
          </p:cNvPr>
          <p:cNvSpPr>
            <a:spLocks noGrp="1"/>
          </p:cNvSpPr>
          <p:nvPr>
            <p:ph type="sldNum" sz="quarter" idx="12"/>
          </p:nvPr>
        </p:nvSpPr>
        <p:spPr/>
        <p:txBody>
          <a:bodyPr/>
          <a:lstStyle/>
          <a:p>
            <a:fld id="{45536E09-86AD-465C-A544-548EAC427A74}" type="slidenum">
              <a:rPr lang="tr-TR" smtClean="0"/>
              <a:t>7</a:t>
            </a:fld>
            <a:endParaRPr lang="tr-TR"/>
          </a:p>
        </p:txBody>
      </p:sp>
      <p:pic>
        <p:nvPicPr>
          <p:cNvPr id="4" name="Picture 3">
            <a:extLst>
              <a:ext uri="{FF2B5EF4-FFF2-40B4-BE49-F238E27FC236}">
                <a16:creationId xmlns:a16="http://schemas.microsoft.com/office/drawing/2014/main" xmlns="" id="{16E7AF60-4C84-B19B-B3AD-828E544B57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
        <p:nvSpPr>
          <p:cNvPr id="5" name="TextBox 4">
            <a:extLst>
              <a:ext uri="{FF2B5EF4-FFF2-40B4-BE49-F238E27FC236}">
                <a16:creationId xmlns:a16="http://schemas.microsoft.com/office/drawing/2014/main" xmlns="" id="{3F1B0227-A1AE-C000-BFC1-FE15F579D3F3}"/>
              </a:ext>
            </a:extLst>
          </p:cNvPr>
          <p:cNvSpPr txBox="1"/>
          <p:nvPr/>
        </p:nvSpPr>
        <p:spPr>
          <a:xfrm>
            <a:off x="628650" y="1988840"/>
            <a:ext cx="4572000" cy="1836400"/>
          </a:xfrm>
          <a:prstGeom prst="rect">
            <a:avLst/>
          </a:prstGeom>
          <a:noFill/>
        </p:spPr>
        <p:txBody>
          <a:bodyPr wrap="square">
            <a:spAutoFit/>
          </a:bodyPr>
          <a:lstStyle/>
          <a:p>
            <a:pPr algn="l">
              <a:lnSpc>
                <a:spcPts val="1500"/>
              </a:lnSpc>
              <a:buFont typeface="Arial" panose="020B0604020202020204" pitchFamily="34" charset="0"/>
              <a:buChar char="•"/>
            </a:pPr>
            <a:r>
              <a:rPr lang="tr-TR" dirty="0">
                <a:solidFill>
                  <a:srgbClr val="666666"/>
                </a:solidFill>
              </a:rPr>
              <a:t> </a:t>
            </a:r>
            <a:r>
              <a:rPr lang="en-US" dirty="0">
                <a:solidFill>
                  <a:srgbClr val="666666"/>
                </a:solidFill>
              </a:rPr>
              <a:t>Project Management</a:t>
            </a:r>
            <a:endParaRPr lang="tr-TR" dirty="0">
              <a:solidFill>
                <a:srgbClr val="666666"/>
              </a:solidFill>
            </a:endParaRPr>
          </a:p>
          <a:p>
            <a:pPr algn="l">
              <a:lnSpc>
                <a:spcPts val="1500"/>
              </a:lnSpc>
            </a:pPr>
            <a:endParaRPr lang="en-US" dirty="0">
              <a:solidFill>
                <a:srgbClr val="666666"/>
              </a:solidFill>
            </a:endParaRPr>
          </a:p>
          <a:p>
            <a:pPr algn="l">
              <a:lnSpc>
                <a:spcPts val="1500"/>
              </a:lnSpc>
              <a:buFont typeface="Arial" panose="020B0604020202020204" pitchFamily="34" charset="0"/>
              <a:buChar char="•"/>
            </a:pPr>
            <a:r>
              <a:rPr lang="tr-TR" dirty="0">
                <a:solidFill>
                  <a:srgbClr val="666666"/>
                </a:solidFill>
              </a:rPr>
              <a:t> </a:t>
            </a:r>
            <a:r>
              <a:rPr lang="en-US" dirty="0">
                <a:solidFill>
                  <a:srgbClr val="666666"/>
                </a:solidFill>
              </a:rPr>
              <a:t>Software Development</a:t>
            </a:r>
            <a:endParaRPr lang="tr-TR" dirty="0">
              <a:solidFill>
                <a:srgbClr val="666666"/>
              </a:solidFill>
            </a:endParaRPr>
          </a:p>
          <a:p>
            <a:pPr algn="l">
              <a:lnSpc>
                <a:spcPts val="1500"/>
              </a:lnSpc>
            </a:pPr>
            <a:endParaRPr lang="en-US" dirty="0">
              <a:solidFill>
                <a:srgbClr val="666666"/>
              </a:solidFill>
            </a:endParaRPr>
          </a:p>
          <a:p>
            <a:pPr algn="l">
              <a:lnSpc>
                <a:spcPts val="1500"/>
              </a:lnSpc>
              <a:buFont typeface="Arial" panose="020B0604020202020204" pitchFamily="34" charset="0"/>
              <a:buChar char="•"/>
            </a:pPr>
            <a:r>
              <a:rPr lang="tr-TR" dirty="0">
                <a:solidFill>
                  <a:srgbClr val="666666"/>
                </a:solidFill>
              </a:rPr>
              <a:t> </a:t>
            </a:r>
            <a:r>
              <a:rPr lang="en-US" dirty="0">
                <a:solidFill>
                  <a:srgbClr val="666666"/>
                </a:solidFill>
              </a:rPr>
              <a:t>Business Analysis &amp; Solution Architecture</a:t>
            </a:r>
            <a:endParaRPr lang="tr-TR" dirty="0">
              <a:solidFill>
                <a:srgbClr val="666666"/>
              </a:solidFill>
            </a:endParaRPr>
          </a:p>
          <a:p>
            <a:pPr algn="l">
              <a:lnSpc>
                <a:spcPts val="1500"/>
              </a:lnSpc>
            </a:pPr>
            <a:endParaRPr lang="en-US" dirty="0">
              <a:solidFill>
                <a:srgbClr val="666666"/>
              </a:solidFill>
            </a:endParaRPr>
          </a:p>
          <a:p>
            <a:pPr algn="l">
              <a:lnSpc>
                <a:spcPts val="1500"/>
              </a:lnSpc>
              <a:buFont typeface="Arial" panose="020B0604020202020204" pitchFamily="34" charset="0"/>
              <a:buChar char="•"/>
            </a:pPr>
            <a:r>
              <a:rPr lang="tr-TR" dirty="0">
                <a:solidFill>
                  <a:srgbClr val="666666"/>
                </a:solidFill>
              </a:rPr>
              <a:t> </a:t>
            </a:r>
            <a:r>
              <a:rPr lang="en-US" dirty="0">
                <a:solidFill>
                  <a:srgbClr val="666666"/>
                </a:solidFill>
              </a:rPr>
              <a:t>Testing and Quality Assurance</a:t>
            </a:r>
            <a:endParaRPr lang="tr-TR" dirty="0">
              <a:solidFill>
                <a:srgbClr val="666666"/>
              </a:solidFill>
            </a:endParaRPr>
          </a:p>
          <a:p>
            <a:pPr algn="l">
              <a:lnSpc>
                <a:spcPts val="1500"/>
              </a:lnSpc>
            </a:pPr>
            <a:endParaRPr lang="en-US" dirty="0">
              <a:solidFill>
                <a:srgbClr val="666666"/>
              </a:solidFill>
            </a:endParaRPr>
          </a:p>
          <a:p>
            <a:pPr algn="l">
              <a:lnSpc>
                <a:spcPts val="1500"/>
              </a:lnSpc>
              <a:buFont typeface="Arial" panose="020B0604020202020204" pitchFamily="34" charset="0"/>
              <a:buChar char="•"/>
            </a:pPr>
            <a:r>
              <a:rPr lang="tr-TR" dirty="0">
                <a:solidFill>
                  <a:srgbClr val="666666"/>
                </a:solidFill>
              </a:rPr>
              <a:t> </a:t>
            </a:r>
            <a:r>
              <a:rPr lang="en-US" dirty="0">
                <a:solidFill>
                  <a:srgbClr val="666666"/>
                </a:solidFill>
              </a:rPr>
              <a:t>Operational Support</a:t>
            </a:r>
          </a:p>
        </p:txBody>
      </p:sp>
    </p:spTree>
    <p:extLst>
      <p:ext uri="{BB962C8B-B14F-4D97-AF65-F5344CB8AC3E}">
        <p14:creationId xmlns:p14="http://schemas.microsoft.com/office/powerpoint/2010/main" val="41287314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B6C9A7F-580B-2704-F1A0-AB694B8761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91FE8D7-7DAF-42D9-BA23-CEFF84F24894}"/>
              </a:ext>
            </a:extLst>
          </p:cNvPr>
          <p:cNvSpPr>
            <a:spLocks noGrp="1"/>
          </p:cNvSpPr>
          <p:nvPr>
            <p:ph type="title"/>
          </p:nvPr>
        </p:nvSpPr>
        <p:spPr>
          <a:xfrm>
            <a:off x="628650" y="365127"/>
            <a:ext cx="7886700" cy="831626"/>
          </a:xfrm>
        </p:spPr>
        <p:txBody>
          <a:bodyPr/>
          <a:lstStyle/>
          <a:p>
            <a:pPr>
              <a:lnSpc>
                <a:spcPts val="1500"/>
              </a:lnSpc>
            </a:pPr>
            <a:r>
              <a:rPr lang="en-US" sz="3600" b="1" dirty="0">
                <a:solidFill>
                  <a:srgbClr val="3E3A5F"/>
                </a:solidFill>
              </a:rPr>
              <a:t>Our </a:t>
            </a:r>
            <a:r>
              <a:rPr lang="tr-TR" sz="3600" b="1" dirty="0">
                <a:solidFill>
                  <a:srgbClr val="3E3A5F"/>
                </a:solidFill>
              </a:rPr>
              <a:t>S</a:t>
            </a:r>
            <a:r>
              <a:rPr lang="en-US" sz="3600" b="1" dirty="0" err="1">
                <a:solidFill>
                  <a:srgbClr val="3E3A5F"/>
                </a:solidFill>
              </a:rPr>
              <a:t>ervices</a:t>
            </a:r>
            <a:r>
              <a:rPr lang="tr-TR" sz="3600" b="1" dirty="0">
                <a:solidFill>
                  <a:srgbClr val="3E3A5F"/>
                </a:solidFill>
              </a:rPr>
              <a:t> - </a:t>
            </a:r>
            <a:r>
              <a:rPr lang="en-US" sz="3600" b="1" dirty="0">
                <a:solidFill>
                  <a:srgbClr val="3E3A5F"/>
                </a:solidFill>
              </a:rPr>
              <a:t>Project Management</a:t>
            </a:r>
            <a:endParaRPr lang="tr-TR" sz="3600" b="1" dirty="0">
              <a:solidFill>
                <a:srgbClr val="3E3A5F"/>
              </a:solidFill>
            </a:endParaRPr>
          </a:p>
        </p:txBody>
      </p:sp>
      <p:sp>
        <p:nvSpPr>
          <p:cNvPr id="11" name="Footer Placeholder 10">
            <a:extLst>
              <a:ext uri="{FF2B5EF4-FFF2-40B4-BE49-F238E27FC236}">
                <a16:creationId xmlns:a16="http://schemas.microsoft.com/office/drawing/2014/main" xmlns="" id="{020E960B-6270-847A-B695-4C00C37F553E}"/>
              </a:ext>
            </a:extLst>
          </p:cNvPr>
          <p:cNvSpPr>
            <a:spLocks noGrp="1"/>
          </p:cNvSpPr>
          <p:nvPr>
            <p:ph type="ftr" sz="quarter" idx="11"/>
          </p:nvPr>
        </p:nvSpPr>
        <p:spPr/>
        <p:txBody>
          <a:bodyPr/>
          <a:lstStyle/>
          <a:p>
            <a:r>
              <a:rPr lang="tr-TR" dirty="0"/>
              <a:t>iKnow Technology</a:t>
            </a:r>
          </a:p>
        </p:txBody>
      </p:sp>
      <p:sp>
        <p:nvSpPr>
          <p:cNvPr id="12" name="Slide Number Placeholder 11">
            <a:extLst>
              <a:ext uri="{FF2B5EF4-FFF2-40B4-BE49-F238E27FC236}">
                <a16:creationId xmlns:a16="http://schemas.microsoft.com/office/drawing/2014/main" xmlns="" id="{DFD11E61-CCCF-EF5B-932E-A6EAC44662B4}"/>
              </a:ext>
            </a:extLst>
          </p:cNvPr>
          <p:cNvSpPr>
            <a:spLocks noGrp="1"/>
          </p:cNvSpPr>
          <p:nvPr>
            <p:ph type="sldNum" sz="quarter" idx="12"/>
          </p:nvPr>
        </p:nvSpPr>
        <p:spPr/>
        <p:txBody>
          <a:bodyPr/>
          <a:lstStyle/>
          <a:p>
            <a:fld id="{45536E09-86AD-465C-A544-548EAC427A74}" type="slidenum">
              <a:rPr lang="tr-TR" smtClean="0"/>
              <a:t>8</a:t>
            </a:fld>
            <a:endParaRPr lang="tr-TR"/>
          </a:p>
        </p:txBody>
      </p:sp>
      <p:pic>
        <p:nvPicPr>
          <p:cNvPr id="4" name="Picture 3">
            <a:extLst>
              <a:ext uri="{FF2B5EF4-FFF2-40B4-BE49-F238E27FC236}">
                <a16:creationId xmlns:a16="http://schemas.microsoft.com/office/drawing/2014/main" xmlns="" id="{9D2E7B30-0233-D544-D754-F7D16CD3ED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
        <p:nvSpPr>
          <p:cNvPr id="5" name="TextBox 4">
            <a:extLst>
              <a:ext uri="{FF2B5EF4-FFF2-40B4-BE49-F238E27FC236}">
                <a16:creationId xmlns:a16="http://schemas.microsoft.com/office/drawing/2014/main" xmlns="" id="{138883C7-B500-6BD6-0148-FA5BA8531214}"/>
              </a:ext>
            </a:extLst>
          </p:cNvPr>
          <p:cNvSpPr txBox="1"/>
          <p:nvPr/>
        </p:nvSpPr>
        <p:spPr>
          <a:xfrm>
            <a:off x="628650" y="1124744"/>
            <a:ext cx="8047806" cy="5073184"/>
          </a:xfrm>
          <a:prstGeom prst="rect">
            <a:avLst/>
          </a:prstGeom>
          <a:noFill/>
        </p:spPr>
        <p:txBody>
          <a:bodyPr wrap="square">
            <a:spAutoFit/>
          </a:bodyPr>
          <a:lstStyle/>
          <a:p>
            <a:pPr algn="l">
              <a:spcAft>
                <a:spcPts val="1125"/>
              </a:spcAft>
            </a:pPr>
            <a:r>
              <a:rPr lang="tr-TR" b="1" dirty="0">
                <a:solidFill>
                  <a:srgbClr val="F15922"/>
                </a:solidFill>
                <a:latin typeface="Calibri" panose="020F0502020204030204" pitchFamily="34" charset="0"/>
              </a:rPr>
              <a:t>iKnow</a:t>
            </a:r>
            <a:r>
              <a:rPr lang="en-US" dirty="0">
                <a:solidFill>
                  <a:srgbClr val="666666"/>
                </a:solidFill>
                <a:latin typeface="Calibri" panose="020F0502020204030204" pitchFamily="34" charset="0"/>
              </a:rPr>
              <a:t> provides end to end project management services to plan, develop and deploy Software Projects with a successful delivery.</a:t>
            </a:r>
          </a:p>
          <a:p>
            <a:pPr algn="l">
              <a:spcBef>
                <a:spcPts val="1125"/>
              </a:spcBef>
              <a:spcAft>
                <a:spcPts val="1125"/>
              </a:spcAft>
            </a:pPr>
            <a:r>
              <a:rPr lang="tr-TR" b="1" dirty="0">
                <a:solidFill>
                  <a:srgbClr val="F15922"/>
                </a:solidFill>
                <a:latin typeface="Calibri" panose="020F0502020204030204" pitchFamily="34" charset="0"/>
              </a:rPr>
              <a:t>iKnow</a:t>
            </a:r>
            <a:r>
              <a:rPr lang="en-US" dirty="0">
                <a:solidFill>
                  <a:srgbClr val="666666"/>
                </a:solidFill>
                <a:latin typeface="Calibri" panose="020F0502020204030204" pitchFamily="34" charset="0"/>
              </a:rPr>
              <a:t> gives support to choose and apply proper project management methodologies for the customer projects. </a:t>
            </a:r>
            <a:r>
              <a:rPr lang="tr-TR" b="1" dirty="0">
                <a:solidFill>
                  <a:srgbClr val="F15922"/>
                </a:solidFill>
                <a:latin typeface="Calibri" panose="020F0502020204030204" pitchFamily="34" charset="0"/>
              </a:rPr>
              <a:t>iKnow</a:t>
            </a:r>
            <a:r>
              <a:rPr lang="en-US" dirty="0">
                <a:solidFill>
                  <a:srgbClr val="666666"/>
                </a:solidFill>
                <a:latin typeface="Calibri" panose="020F0502020204030204" pitchFamily="34" charset="0"/>
              </a:rPr>
              <a:t>, with its experienced team which has deep knowledge of project management,  provides support for initial project steps, project stages and customer working models.</a:t>
            </a:r>
          </a:p>
          <a:p>
            <a:pPr algn="l">
              <a:spcBef>
                <a:spcPts val="1125"/>
              </a:spcBef>
              <a:spcAft>
                <a:spcPts val="1125"/>
              </a:spcAft>
            </a:pPr>
            <a:r>
              <a:rPr lang="en-US" b="1" dirty="0">
                <a:solidFill>
                  <a:srgbClr val="666666"/>
                </a:solidFill>
                <a:latin typeface="Calibri" panose="020F0502020204030204" pitchFamily="34" charset="0"/>
              </a:rPr>
              <a:t>Support</a:t>
            </a:r>
            <a:r>
              <a:rPr lang="tr-TR" b="1" dirty="0">
                <a:solidFill>
                  <a:srgbClr val="666666"/>
                </a:solidFill>
                <a:latin typeface="Calibri" panose="020F0502020204030204" pitchFamily="34" charset="0"/>
              </a:rPr>
              <a:t>ing to</a:t>
            </a:r>
            <a:r>
              <a:rPr lang="en-US" b="1" dirty="0">
                <a:solidFill>
                  <a:srgbClr val="666666"/>
                </a:solidFill>
                <a:latin typeface="Calibri" panose="020F0502020204030204" pitchFamily="34" charset="0"/>
              </a:rPr>
              <a:t> </a:t>
            </a:r>
            <a:r>
              <a:rPr lang="tr-TR" b="1" dirty="0">
                <a:solidFill>
                  <a:srgbClr val="666666"/>
                </a:solidFill>
                <a:latin typeface="Calibri" panose="020F0502020204030204" pitchFamily="34" charset="0"/>
              </a:rPr>
              <a:t>E2E</a:t>
            </a:r>
            <a:r>
              <a:rPr lang="en-US" b="1" dirty="0">
                <a:solidFill>
                  <a:srgbClr val="666666"/>
                </a:solidFill>
                <a:latin typeface="Calibri" panose="020F0502020204030204" pitchFamily="34" charset="0"/>
              </a:rPr>
              <a:t> Processes:</a:t>
            </a:r>
            <a:endParaRPr lang="tr-TR" b="1" dirty="0">
              <a:solidFill>
                <a:srgbClr val="666666"/>
              </a:solidFill>
              <a:latin typeface="Calibri" panose="020F0502020204030204" pitchFamily="34" charset="0"/>
            </a:endParaRPr>
          </a:p>
          <a:p>
            <a:pPr marL="285750" indent="-285750" algn="l">
              <a:spcBef>
                <a:spcPts val="400"/>
              </a:spcBef>
              <a:buFont typeface="Arial" panose="020B0604020202020204" pitchFamily="34" charset="0"/>
              <a:buChar char="•"/>
            </a:pPr>
            <a:r>
              <a:rPr lang="en-US" dirty="0">
                <a:solidFill>
                  <a:srgbClr val="666666"/>
                </a:solidFill>
                <a:latin typeface="Calibri" panose="020F0502020204030204" pitchFamily="34" charset="0"/>
              </a:rPr>
              <a:t>Project coordination</a:t>
            </a:r>
            <a:endParaRPr lang="tr-TR" dirty="0">
              <a:solidFill>
                <a:srgbClr val="666666"/>
              </a:solidFill>
              <a:latin typeface="Calibri" panose="020F0502020204030204" pitchFamily="34" charset="0"/>
            </a:endParaRPr>
          </a:p>
          <a:p>
            <a:pPr marL="285750" indent="-285750" algn="l">
              <a:spcBef>
                <a:spcPts val="400"/>
              </a:spcBef>
              <a:buFont typeface="Arial" panose="020B0604020202020204" pitchFamily="34" charset="0"/>
              <a:buChar char="•"/>
            </a:pPr>
            <a:r>
              <a:rPr lang="en-US" dirty="0">
                <a:solidFill>
                  <a:srgbClr val="666666"/>
                </a:solidFill>
                <a:latin typeface="Calibri" panose="020F0502020204030204" pitchFamily="34" charset="0"/>
              </a:rPr>
              <a:t>Project information workflow</a:t>
            </a:r>
          </a:p>
          <a:p>
            <a:pPr marL="285750" indent="-285750" algn="l">
              <a:spcBef>
                <a:spcPts val="400"/>
              </a:spcBef>
              <a:buFont typeface="Arial" panose="020B0604020202020204" pitchFamily="34" charset="0"/>
              <a:buChar char="•"/>
            </a:pPr>
            <a:r>
              <a:rPr lang="en-US" dirty="0">
                <a:solidFill>
                  <a:srgbClr val="666666"/>
                </a:solidFill>
                <a:latin typeface="Calibri" panose="020F0502020204030204" pitchFamily="34" charset="0"/>
              </a:rPr>
              <a:t>Preparing and implementing the project plan</a:t>
            </a:r>
          </a:p>
          <a:p>
            <a:pPr marL="285750" indent="-285750" algn="l">
              <a:spcBef>
                <a:spcPts val="400"/>
              </a:spcBef>
              <a:buFont typeface="Arial" panose="020B0604020202020204" pitchFamily="34" charset="0"/>
              <a:buChar char="•"/>
            </a:pPr>
            <a:r>
              <a:rPr lang="en-US" dirty="0">
                <a:solidFill>
                  <a:srgbClr val="666666"/>
                </a:solidFill>
                <a:latin typeface="Calibri" panose="020F0502020204030204" pitchFamily="34" charset="0"/>
              </a:rPr>
              <a:t>Project execution and control</a:t>
            </a:r>
          </a:p>
          <a:p>
            <a:pPr marL="285750" indent="-285750" algn="l">
              <a:spcBef>
                <a:spcPts val="400"/>
              </a:spcBef>
              <a:buFont typeface="Arial" panose="020B0604020202020204" pitchFamily="34" charset="0"/>
              <a:buChar char="•"/>
            </a:pPr>
            <a:r>
              <a:rPr lang="en-US" dirty="0">
                <a:solidFill>
                  <a:srgbClr val="666666"/>
                </a:solidFill>
                <a:latin typeface="Calibri" panose="020F0502020204030204" pitchFamily="34" charset="0"/>
              </a:rPr>
              <a:t>Project closure</a:t>
            </a:r>
            <a:endParaRPr lang="tr-TR" dirty="0">
              <a:solidFill>
                <a:srgbClr val="666666"/>
              </a:solidFill>
              <a:latin typeface="Calibri" panose="020F0502020204030204" pitchFamily="34" charset="0"/>
            </a:endParaRPr>
          </a:p>
          <a:p>
            <a:pPr algn="l">
              <a:spcBef>
                <a:spcPts val="1125"/>
              </a:spcBef>
              <a:spcAft>
                <a:spcPts val="1125"/>
              </a:spcAft>
            </a:pPr>
            <a:r>
              <a:rPr lang="tr-TR" b="1" dirty="0">
                <a:solidFill>
                  <a:srgbClr val="F15922"/>
                </a:solidFill>
                <a:latin typeface="Calibri" panose="020F0502020204030204" pitchFamily="34" charset="0"/>
              </a:rPr>
              <a:t>iKnow</a:t>
            </a:r>
            <a:r>
              <a:rPr lang="en-US" dirty="0">
                <a:solidFill>
                  <a:srgbClr val="666666"/>
                </a:solidFill>
                <a:latin typeface="Calibri" panose="020F0502020204030204" pitchFamily="34" charset="0"/>
              </a:rPr>
              <a:t> always aims to complete the projects in a perfect and efficient way by considering quality, timing, performance and cost elements.</a:t>
            </a:r>
          </a:p>
        </p:txBody>
      </p:sp>
    </p:spTree>
    <p:extLst>
      <p:ext uri="{BB962C8B-B14F-4D97-AF65-F5344CB8AC3E}">
        <p14:creationId xmlns:p14="http://schemas.microsoft.com/office/powerpoint/2010/main" val="30655609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CBEF282-D353-9A99-B057-B6A20A3DC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82BD74A-4B5E-363C-DA93-0DDFE07BCE6C}"/>
              </a:ext>
            </a:extLst>
          </p:cNvPr>
          <p:cNvSpPr>
            <a:spLocks noGrp="1"/>
          </p:cNvSpPr>
          <p:nvPr>
            <p:ph type="title"/>
          </p:nvPr>
        </p:nvSpPr>
        <p:spPr>
          <a:xfrm>
            <a:off x="628650" y="365126"/>
            <a:ext cx="7886700" cy="1191665"/>
          </a:xfrm>
        </p:spPr>
        <p:txBody>
          <a:bodyPr/>
          <a:lstStyle/>
          <a:p>
            <a:pPr algn="l">
              <a:lnSpc>
                <a:spcPts val="1500"/>
              </a:lnSpc>
            </a:pPr>
            <a:r>
              <a:rPr lang="tr-TR" sz="3600" b="1" dirty="0">
                <a:solidFill>
                  <a:srgbClr val="3E3A5F"/>
                </a:solidFill>
              </a:rPr>
              <a:t>Our Services - Software Development</a:t>
            </a:r>
          </a:p>
        </p:txBody>
      </p:sp>
      <p:sp>
        <p:nvSpPr>
          <p:cNvPr id="11" name="Footer Placeholder 10">
            <a:extLst>
              <a:ext uri="{FF2B5EF4-FFF2-40B4-BE49-F238E27FC236}">
                <a16:creationId xmlns:a16="http://schemas.microsoft.com/office/drawing/2014/main" xmlns="" id="{87066E58-4D80-A67D-9629-C73F4558C343}"/>
              </a:ext>
            </a:extLst>
          </p:cNvPr>
          <p:cNvSpPr>
            <a:spLocks noGrp="1"/>
          </p:cNvSpPr>
          <p:nvPr>
            <p:ph type="ftr" sz="quarter" idx="11"/>
          </p:nvPr>
        </p:nvSpPr>
        <p:spPr/>
        <p:txBody>
          <a:bodyPr/>
          <a:lstStyle/>
          <a:p>
            <a:r>
              <a:rPr lang="tr-TR" dirty="0"/>
              <a:t>iKnow Technology</a:t>
            </a:r>
          </a:p>
        </p:txBody>
      </p:sp>
      <p:sp>
        <p:nvSpPr>
          <p:cNvPr id="12" name="Slide Number Placeholder 11">
            <a:extLst>
              <a:ext uri="{FF2B5EF4-FFF2-40B4-BE49-F238E27FC236}">
                <a16:creationId xmlns:a16="http://schemas.microsoft.com/office/drawing/2014/main" xmlns="" id="{9F7C0537-AF77-0C84-EFC5-2EFD75A302DD}"/>
              </a:ext>
            </a:extLst>
          </p:cNvPr>
          <p:cNvSpPr>
            <a:spLocks noGrp="1"/>
          </p:cNvSpPr>
          <p:nvPr>
            <p:ph type="sldNum" sz="quarter" idx="12"/>
          </p:nvPr>
        </p:nvSpPr>
        <p:spPr/>
        <p:txBody>
          <a:bodyPr/>
          <a:lstStyle/>
          <a:p>
            <a:fld id="{45536E09-86AD-465C-A544-548EAC427A74}" type="slidenum">
              <a:rPr lang="tr-TR" smtClean="0"/>
              <a:t>9</a:t>
            </a:fld>
            <a:endParaRPr lang="tr-TR" dirty="0"/>
          </a:p>
        </p:txBody>
      </p:sp>
      <p:pic>
        <p:nvPicPr>
          <p:cNvPr id="4" name="Picture 3">
            <a:extLst>
              <a:ext uri="{FF2B5EF4-FFF2-40B4-BE49-F238E27FC236}">
                <a16:creationId xmlns:a16="http://schemas.microsoft.com/office/drawing/2014/main" xmlns="" id="{40E7FA17-5582-3B38-8F81-939FD0EB30A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
        <p:nvSpPr>
          <p:cNvPr id="5" name="TextBox 4">
            <a:extLst>
              <a:ext uri="{FF2B5EF4-FFF2-40B4-BE49-F238E27FC236}">
                <a16:creationId xmlns:a16="http://schemas.microsoft.com/office/drawing/2014/main" xmlns="" id="{02852625-1FBD-095B-12E7-7C4BAEB1F5D8}"/>
              </a:ext>
            </a:extLst>
          </p:cNvPr>
          <p:cNvSpPr txBox="1"/>
          <p:nvPr/>
        </p:nvSpPr>
        <p:spPr>
          <a:xfrm>
            <a:off x="628650" y="1295738"/>
            <a:ext cx="3690814" cy="4973156"/>
          </a:xfrm>
          <a:prstGeom prst="rect">
            <a:avLst/>
          </a:prstGeom>
          <a:noFill/>
        </p:spPr>
        <p:txBody>
          <a:bodyPr wrap="square">
            <a:spAutoFit/>
          </a:bodyPr>
          <a:lstStyle/>
          <a:p>
            <a:pPr algn="l">
              <a:spcAft>
                <a:spcPts val="1125"/>
              </a:spcAft>
            </a:pPr>
            <a:r>
              <a:rPr lang="tr-TR" sz="1400" b="1" i="0" dirty="0">
                <a:solidFill>
                  <a:srgbClr val="F15922"/>
                </a:solidFill>
                <a:effectLst/>
                <a:latin typeface="Calibri" panose="020F0502020204030204" pitchFamily="34" charset="0"/>
              </a:rPr>
              <a:t>iKnow</a:t>
            </a:r>
            <a:r>
              <a:rPr lang="en-US" sz="1400" b="0" i="0" dirty="0">
                <a:solidFill>
                  <a:srgbClr val="666666"/>
                </a:solidFill>
                <a:effectLst/>
                <a:latin typeface="Calibri" panose="020F0502020204030204" pitchFamily="34" charset="0"/>
              </a:rPr>
              <a:t> Software Development team, specialized in up</a:t>
            </a:r>
            <a:r>
              <a:rPr lang="tr-TR" sz="1400" b="0" i="0" dirty="0">
                <a:solidFill>
                  <a:srgbClr val="666666"/>
                </a:solidFill>
                <a:effectLst/>
                <a:latin typeface="Calibri" panose="020F0502020204030204" pitchFamily="34" charset="0"/>
              </a:rPr>
              <a:t>-</a:t>
            </a:r>
            <a:r>
              <a:rPr lang="en-US" sz="1400" b="0" i="0" dirty="0">
                <a:solidFill>
                  <a:srgbClr val="666666"/>
                </a:solidFill>
                <a:effectLst/>
                <a:latin typeface="Calibri" panose="020F0502020204030204" pitchFamily="34" charset="0"/>
              </a:rPr>
              <a:t>to</a:t>
            </a:r>
            <a:r>
              <a:rPr lang="tr-TR" sz="1400" b="0" i="0" dirty="0">
                <a:solidFill>
                  <a:srgbClr val="666666"/>
                </a:solidFill>
                <a:effectLst/>
                <a:latin typeface="Calibri" panose="020F0502020204030204" pitchFamily="34" charset="0"/>
              </a:rPr>
              <a:t>-</a:t>
            </a:r>
            <a:r>
              <a:rPr lang="en-US" sz="1400" b="0" i="0" dirty="0">
                <a:solidFill>
                  <a:srgbClr val="666666"/>
                </a:solidFill>
                <a:effectLst/>
                <a:latin typeface="Calibri" panose="020F0502020204030204" pitchFamily="34" charset="0"/>
              </a:rPr>
              <a:t>date programming languages, provides efficient customization of the software applications with quality, rapid and agile approach.</a:t>
            </a:r>
            <a:br>
              <a:rPr lang="en-US" sz="1400" b="0" i="0" dirty="0">
                <a:solidFill>
                  <a:srgbClr val="666666"/>
                </a:solidFill>
                <a:effectLst/>
                <a:latin typeface="Calibri" panose="020F0502020204030204" pitchFamily="34" charset="0"/>
              </a:rPr>
            </a:br>
            <a:r>
              <a:rPr lang="en-US" sz="1400" b="0" i="0" dirty="0">
                <a:solidFill>
                  <a:srgbClr val="666666"/>
                </a:solidFill>
                <a:effectLst/>
                <a:latin typeface="Calibri" panose="020F0502020204030204" pitchFamily="34" charset="0"/>
              </a:rPr>
              <a:t/>
            </a:r>
            <a:br>
              <a:rPr lang="en-US" sz="1400" b="0" i="0" dirty="0">
                <a:solidFill>
                  <a:srgbClr val="666666"/>
                </a:solidFill>
                <a:effectLst/>
                <a:latin typeface="Calibri" panose="020F0502020204030204" pitchFamily="34" charset="0"/>
              </a:rPr>
            </a:br>
            <a:r>
              <a:rPr lang="tr-TR" sz="1400" b="1" i="0" dirty="0">
                <a:solidFill>
                  <a:srgbClr val="F15922"/>
                </a:solidFill>
                <a:effectLst/>
                <a:latin typeface="Calibri" panose="020F0502020204030204" pitchFamily="34" charset="0"/>
              </a:rPr>
              <a:t>iKnow</a:t>
            </a:r>
            <a:r>
              <a:rPr lang="en-US" sz="1400" b="0" i="0" dirty="0">
                <a:solidFill>
                  <a:srgbClr val="666666"/>
                </a:solidFill>
                <a:effectLst/>
                <a:latin typeface="Calibri" panose="020F0502020204030204" pitchFamily="34" charset="0"/>
              </a:rPr>
              <a:t> serves the most appropriate solution in terms of time and cost by providing right resources and efficient planning of software development processes.</a:t>
            </a:r>
            <a:br>
              <a:rPr lang="en-US" sz="1400" b="0" i="0" dirty="0">
                <a:solidFill>
                  <a:srgbClr val="666666"/>
                </a:solidFill>
                <a:effectLst/>
                <a:latin typeface="Calibri" panose="020F0502020204030204" pitchFamily="34" charset="0"/>
              </a:rPr>
            </a:br>
            <a:r>
              <a:rPr lang="en-US" sz="1400" b="0" i="0" dirty="0">
                <a:solidFill>
                  <a:srgbClr val="666666"/>
                </a:solidFill>
                <a:effectLst/>
                <a:latin typeface="Calibri" panose="020F0502020204030204" pitchFamily="34" charset="0"/>
              </a:rPr>
              <a:t/>
            </a:r>
            <a:br>
              <a:rPr lang="en-US" sz="1400" b="0" i="0" dirty="0">
                <a:solidFill>
                  <a:srgbClr val="666666"/>
                </a:solidFill>
                <a:effectLst/>
                <a:latin typeface="Calibri" panose="020F0502020204030204" pitchFamily="34" charset="0"/>
              </a:rPr>
            </a:br>
            <a:r>
              <a:rPr lang="en-US" sz="1400" b="0" i="0" dirty="0">
                <a:solidFill>
                  <a:srgbClr val="666666"/>
                </a:solidFill>
                <a:effectLst/>
                <a:latin typeface="Calibri" panose="020F0502020204030204" pitchFamily="34" charset="0"/>
              </a:rPr>
              <a:t>Our software development approach is not to produce workaround solutions, but to produce appropriate and permanent solutions by anticipating possible performance and security problems that may arise afterwards.</a:t>
            </a:r>
            <a:br>
              <a:rPr lang="en-US" sz="1400" b="0" i="0" dirty="0">
                <a:solidFill>
                  <a:srgbClr val="666666"/>
                </a:solidFill>
                <a:effectLst/>
                <a:latin typeface="Calibri" panose="020F0502020204030204" pitchFamily="34" charset="0"/>
              </a:rPr>
            </a:br>
            <a:r>
              <a:rPr lang="en-US" sz="1400" b="0" i="0" dirty="0">
                <a:solidFill>
                  <a:srgbClr val="666666"/>
                </a:solidFill>
                <a:effectLst/>
                <a:latin typeface="Calibri" panose="020F0502020204030204" pitchFamily="34" charset="0"/>
              </a:rPr>
              <a:t/>
            </a:r>
            <a:br>
              <a:rPr lang="en-US" sz="1400" b="0" i="0" dirty="0">
                <a:solidFill>
                  <a:srgbClr val="666666"/>
                </a:solidFill>
                <a:effectLst/>
                <a:latin typeface="Calibri" panose="020F0502020204030204" pitchFamily="34" charset="0"/>
              </a:rPr>
            </a:br>
            <a:r>
              <a:rPr lang="en-US" sz="1400" b="0" i="0" dirty="0">
                <a:solidFill>
                  <a:srgbClr val="666666"/>
                </a:solidFill>
                <a:effectLst/>
                <a:latin typeface="Calibri" panose="020F0502020204030204" pitchFamily="34" charset="0"/>
              </a:rPr>
              <a:t>We provide end to end solutions for multi-domain applications by following </a:t>
            </a:r>
            <a:r>
              <a:rPr lang="en-US" sz="1400" b="1" i="0" dirty="0">
                <a:solidFill>
                  <a:srgbClr val="666666"/>
                </a:solidFill>
                <a:effectLst/>
                <a:latin typeface="Calibri" panose="020F0502020204030204" pitchFamily="34" charset="0"/>
              </a:rPr>
              <a:t>Agile</a:t>
            </a:r>
            <a:r>
              <a:rPr lang="en-US" sz="1400" b="0" i="0" dirty="0">
                <a:solidFill>
                  <a:srgbClr val="666666"/>
                </a:solidFill>
                <a:effectLst/>
                <a:latin typeface="Calibri" panose="020F0502020204030204" pitchFamily="34" charset="0"/>
              </a:rPr>
              <a:t> and </a:t>
            </a:r>
            <a:r>
              <a:rPr lang="en-US" sz="1400" b="1" i="0" dirty="0">
                <a:solidFill>
                  <a:srgbClr val="666666"/>
                </a:solidFill>
                <a:effectLst/>
                <a:latin typeface="Calibri" panose="020F0502020204030204" pitchFamily="34" charset="0"/>
              </a:rPr>
              <a:t>Waterfall</a:t>
            </a:r>
            <a:r>
              <a:rPr lang="en-US" sz="1400" b="0" i="0" dirty="0">
                <a:solidFill>
                  <a:srgbClr val="666666"/>
                </a:solidFill>
                <a:effectLst/>
                <a:latin typeface="Calibri" panose="020F0502020204030204" pitchFamily="34" charset="0"/>
              </a:rPr>
              <a:t> development methodologies. </a:t>
            </a:r>
            <a:endParaRPr lang="tr-TR" sz="1400" b="0" i="0" dirty="0">
              <a:solidFill>
                <a:srgbClr val="666666"/>
              </a:solidFill>
              <a:effectLst/>
              <a:latin typeface="Calibri" panose="020F0502020204030204" pitchFamily="34" charset="0"/>
            </a:endParaRPr>
          </a:p>
          <a:p>
            <a:pPr algn="l">
              <a:spcAft>
                <a:spcPts val="1125"/>
              </a:spcAft>
            </a:pPr>
            <a:r>
              <a:rPr lang="tr-TR" sz="1400" b="1" i="0" dirty="0">
                <a:solidFill>
                  <a:srgbClr val="F15922"/>
                </a:solidFill>
                <a:effectLst/>
                <a:latin typeface="Calibri" panose="020F0502020204030204" pitchFamily="34" charset="0"/>
              </a:rPr>
              <a:t>iKnow</a:t>
            </a:r>
            <a:r>
              <a:rPr lang="en-US" sz="1400" b="0" i="0" dirty="0">
                <a:solidFill>
                  <a:srgbClr val="666666"/>
                </a:solidFill>
                <a:effectLst/>
                <a:latin typeface="Calibri" panose="020F0502020204030204" pitchFamily="34" charset="0"/>
              </a:rPr>
              <a:t> Development team has strong expertise on Java and .</a:t>
            </a:r>
            <a:r>
              <a:rPr lang="tr-TR" sz="1400" b="0" i="0" dirty="0">
                <a:solidFill>
                  <a:srgbClr val="666666"/>
                </a:solidFill>
                <a:effectLst/>
                <a:latin typeface="Calibri" panose="020F0502020204030204" pitchFamily="34" charset="0"/>
              </a:rPr>
              <a:t>N</a:t>
            </a:r>
            <a:r>
              <a:rPr lang="en-US" sz="1400" b="0" i="0" dirty="0">
                <a:solidFill>
                  <a:srgbClr val="666666"/>
                </a:solidFill>
                <a:effectLst/>
                <a:latin typeface="Calibri" panose="020F0502020204030204" pitchFamily="34" charset="0"/>
              </a:rPr>
              <a:t>et programming languages.</a:t>
            </a:r>
            <a:endParaRPr lang="en-US" sz="1400" b="0" i="0" dirty="0">
              <a:solidFill>
                <a:srgbClr val="666666"/>
              </a:solidFill>
              <a:effectLst/>
              <a:latin typeface="Helvetica Neue" panose="02000503040000020004" pitchFamily="50" charset="-52"/>
            </a:endParaRPr>
          </a:p>
        </p:txBody>
      </p:sp>
      <p:pic>
        <p:nvPicPr>
          <p:cNvPr id="6" name="Picture 5">
            <a:extLst>
              <a:ext uri="{FF2B5EF4-FFF2-40B4-BE49-F238E27FC236}">
                <a16:creationId xmlns:a16="http://schemas.microsoft.com/office/drawing/2014/main" xmlns="" id="{057D28ED-57B4-A382-4F0E-58FF8614366E}"/>
              </a:ext>
            </a:extLst>
          </p:cNvPr>
          <p:cNvPicPr>
            <a:picLocks noChangeAspect="1"/>
          </p:cNvPicPr>
          <p:nvPr/>
        </p:nvPicPr>
        <p:blipFill>
          <a:blip r:embed="rId3">
            <a:extLst>
              <a:ext uri="{BEBA8EAE-BF5A-486C-A8C5-ECC9F3942E4B}">
                <a14:imgProps xmlns:a14="http://schemas.microsoft.com/office/drawing/2010/main">
                  <a14:imgLayer r:embed="rId4">
                    <a14:imgEffect>
                      <a14:artisticTexturizer/>
                    </a14:imgEffect>
                  </a14:imgLayer>
                </a14:imgProps>
              </a:ext>
              <a:ext uri="{28A0092B-C50C-407E-A947-70E740481C1C}">
                <a14:useLocalDpi xmlns:a14="http://schemas.microsoft.com/office/drawing/2010/main" val="0"/>
              </a:ext>
            </a:extLst>
          </a:blip>
          <a:stretch>
            <a:fillRect/>
          </a:stretch>
        </p:blipFill>
        <p:spPr>
          <a:xfrm>
            <a:off x="4555684" y="1412776"/>
            <a:ext cx="4175760" cy="4526280"/>
          </a:xfrm>
          <a:prstGeom prst="rect">
            <a:avLst/>
          </a:prstGeom>
          <a:effectLst>
            <a:outerShdw blurRad="50800" dist="38100" dir="5400000" algn="t" rotWithShape="0">
              <a:prstClr val="black">
                <a:alpha val="52000"/>
              </a:prstClr>
            </a:outerShdw>
            <a:softEdge rad="63500"/>
          </a:effectLst>
        </p:spPr>
      </p:pic>
    </p:spTree>
    <p:extLst>
      <p:ext uri="{BB962C8B-B14F-4D97-AF65-F5344CB8AC3E}">
        <p14:creationId xmlns:p14="http://schemas.microsoft.com/office/powerpoint/2010/main" val="42624896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C31E259-2B33-D2D9-47EC-07E3CF673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7CC545E-5B94-274C-AA9D-A18F467E6045}"/>
              </a:ext>
            </a:extLst>
          </p:cNvPr>
          <p:cNvSpPr>
            <a:spLocks noGrp="1"/>
          </p:cNvSpPr>
          <p:nvPr>
            <p:ph type="title"/>
          </p:nvPr>
        </p:nvSpPr>
        <p:spPr>
          <a:xfrm>
            <a:off x="628650" y="365126"/>
            <a:ext cx="7886700" cy="1191665"/>
          </a:xfrm>
        </p:spPr>
        <p:txBody>
          <a:bodyPr/>
          <a:lstStyle/>
          <a:p>
            <a:pPr>
              <a:lnSpc>
                <a:spcPts val="1500"/>
              </a:lnSpc>
            </a:pPr>
            <a:r>
              <a:rPr lang="tr-TR" sz="3600" b="1" dirty="0">
                <a:solidFill>
                  <a:srgbClr val="3E3A5F"/>
                </a:solidFill>
              </a:rPr>
              <a:t>Our Services -</a:t>
            </a:r>
            <a:br>
              <a:rPr lang="tr-TR" sz="3600" b="1" dirty="0">
                <a:solidFill>
                  <a:srgbClr val="3E3A5F"/>
                </a:solidFill>
              </a:rPr>
            </a:br>
            <a:r>
              <a:rPr lang="tr-TR" sz="3600" b="1" dirty="0">
                <a:solidFill>
                  <a:srgbClr val="3E3A5F"/>
                </a:solidFill>
              </a:rPr>
              <a:t> </a:t>
            </a:r>
            <a:br>
              <a:rPr lang="tr-TR" sz="3600" b="1" dirty="0">
                <a:solidFill>
                  <a:srgbClr val="3E3A5F"/>
                </a:solidFill>
              </a:rPr>
            </a:br>
            <a:r>
              <a:rPr lang="en-US" sz="3600" b="1" dirty="0">
                <a:solidFill>
                  <a:srgbClr val="3E3A5F"/>
                </a:solidFill>
              </a:rPr>
              <a:t>Business Analysis &amp; Solution Architecture</a:t>
            </a:r>
            <a:endParaRPr lang="tr-TR" sz="3600" b="1" dirty="0">
              <a:solidFill>
                <a:srgbClr val="3E3A5F"/>
              </a:solidFill>
            </a:endParaRPr>
          </a:p>
        </p:txBody>
      </p:sp>
      <p:sp>
        <p:nvSpPr>
          <p:cNvPr id="11" name="Footer Placeholder 10">
            <a:extLst>
              <a:ext uri="{FF2B5EF4-FFF2-40B4-BE49-F238E27FC236}">
                <a16:creationId xmlns:a16="http://schemas.microsoft.com/office/drawing/2014/main" xmlns="" id="{7D85180D-AC9A-A105-ED00-330045C204B3}"/>
              </a:ext>
            </a:extLst>
          </p:cNvPr>
          <p:cNvSpPr>
            <a:spLocks noGrp="1"/>
          </p:cNvSpPr>
          <p:nvPr>
            <p:ph type="ftr" sz="quarter" idx="11"/>
          </p:nvPr>
        </p:nvSpPr>
        <p:spPr/>
        <p:txBody>
          <a:bodyPr/>
          <a:lstStyle/>
          <a:p>
            <a:r>
              <a:rPr lang="tr-TR" dirty="0"/>
              <a:t>iKnow Technology</a:t>
            </a:r>
          </a:p>
        </p:txBody>
      </p:sp>
      <p:sp>
        <p:nvSpPr>
          <p:cNvPr id="12" name="Slide Number Placeholder 11">
            <a:extLst>
              <a:ext uri="{FF2B5EF4-FFF2-40B4-BE49-F238E27FC236}">
                <a16:creationId xmlns:a16="http://schemas.microsoft.com/office/drawing/2014/main" xmlns="" id="{68BF5CD7-D8C3-9358-B3DA-0B851076B84A}"/>
              </a:ext>
            </a:extLst>
          </p:cNvPr>
          <p:cNvSpPr>
            <a:spLocks noGrp="1"/>
          </p:cNvSpPr>
          <p:nvPr>
            <p:ph type="sldNum" sz="quarter" idx="12"/>
          </p:nvPr>
        </p:nvSpPr>
        <p:spPr/>
        <p:txBody>
          <a:bodyPr/>
          <a:lstStyle/>
          <a:p>
            <a:fld id="{45536E09-86AD-465C-A544-548EAC427A74}" type="slidenum">
              <a:rPr lang="tr-TR" smtClean="0"/>
              <a:t>10</a:t>
            </a:fld>
            <a:endParaRPr lang="tr-TR"/>
          </a:p>
        </p:txBody>
      </p:sp>
      <p:pic>
        <p:nvPicPr>
          <p:cNvPr id="4" name="Picture 3">
            <a:extLst>
              <a:ext uri="{FF2B5EF4-FFF2-40B4-BE49-F238E27FC236}">
                <a16:creationId xmlns:a16="http://schemas.microsoft.com/office/drawing/2014/main" xmlns="" id="{143A9B8B-FED5-3908-A082-DB109F2626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
        <p:nvSpPr>
          <p:cNvPr id="5" name="TextBox 4">
            <a:extLst>
              <a:ext uri="{FF2B5EF4-FFF2-40B4-BE49-F238E27FC236}">
                <a16:creationId xmlns:a16="http://schemas.microsoft.com/office/drawing/2014/main" xmlns="" id="{44C5D0C3-ACE9-FE96-270A-DF5A4E0DC439}"/>
              </a:ext>
            </a:extLst>
          </p:cNvPr>
          <p:cNvSpPr txBox="1"/>
          <p:nvPr/>
        </p:nvSpPr>
        <p:spPr>
          <a:xfrm>
            <a:off x="628650" y="1533951"/>
            <a:ext cx="7183710" cy="4529445"/>
          </a:xfrm>
          <a:prstGeom prst="rect">
            <a:avLst/>
          </a:prstGeom>
          <a:noFill/>
        </p:spPr>
        <p:txBody>
          <a:bodyPr wrap="square">
            <a:spAutoFit/>
          </a:bodyPr>
          <a:lstStyle/>
          <a:p>
            <a:pPr algn="l">
              <a:spcBef>
                <a:spcPts val="1125"/>
              </a:spcBef>
              <a:spcAft>
                <a:spcPts val="1125"/>
              </a:spcAft>
            </a:pPr>
            <a:r>
              <a:rPr lang="tr-TR" sz="1800" b="1" i="0" dirty="0">
                <a:solidFill>
                  <a:srgbClr val="F15922"/>
                </a:solidFill>
                <a:effectLst/>
                <a:latin typeface="Calibri" panose="020F0502020204030204" pitchFamily="34" charset="0"/>
              </a:rPr>
              <a:t>iKnow</a:t>
            </a:r>
            <a:r>
              <a:rPr lang="en-US" sz="1800" b="0" i="0" dirty="0">
                <a:solidFill>
                  <a:srgbClr val="666666"/>
                </a:solidFill>
                <a:effectLst/>
                <a:latin typeface="Calibri" panose="020F0502020204030204" pitchFamily="34" charset="0"/>
              </a:rPr>
              <a:t> provides the right communication between customers, stakeholders and business units by gathering customer requirements according to their needs and requests, and also by following the detailed analysis process with our experienced team which has deep knowledge of Business analysis and Solution Architecture.</a:t>
            </a:r>
            <a:endParaRPr lang="en-US" b="0" i="0" dirty="0">
              <a:solidFill>
                <a:srgbClr val="666666"/>
              </a:solidFill>
              <a:effectLst/>
              <a:latin typeface="Helvetica Neue" panose="02000503040000020004" pitchFamily="50" charset="-52"/>
            </a:endParaRPr>
          </a:p>
          <a:p>
            <a:pPr algn="l">
              <a:spcBef>
                <a:spcPts val="1125"/>
              </a:spcBef>
              <a:spcAft>
                <a:spcPts val="1125"/>
              </a:spcAft>
            </a:pPr>
            <a:r>
              <a:rPr lang="en-US" sz="1800" b="0" i="0" dirty="0">
                <a:solidFill>
                  <a:srgbClr val="666666"/>
                </a:solidFill>
                <a:effectLst/>
                <a:latin typeface="Calibri" panose="020F0502020204030204" pitchFamily="34" charset="0"/>
              </a:rPr>
              <a:t>Our target is to deliver rapid and high</a:t>
            </a:r>
            <a:r>
              <a:rPr lang="tr-TR" sz="1800" b="0" i="0" dirty="0">
                <a:solidFill>
                  <a:srgbClr val="666666"/>
                </a:solidFill>
                <a:effectLst/>
                <a:latin typeface="Calibri" panose="020F0502020204030204" pitchFamily="34" charset="0"/>
              </a:rPr>
              <a:t>-</a:t>
            </a:r>
            <a:r>
              <a:rPr lang="en-US" sz="1800" b="0" i="0" dirty="0">
                <a:solidFill>
                  <a:srgbClr val="666666"/>
                </a:solidFill>
                <a:effectLst/>
                <a:latin typeface="Calibri" panose="020F0502020204030204" pitchFamily="34" charset="0"/>
              </a:rPr>
              <a:t>quality projects with our experienced </a:t>
            </a:r>
            <a:r>
              <a:rPr lang="en-US" sz="1800" b="1" i="0" dirty="0">
                <a:solidFill>
                  <a:srgbClr val="666666"/>
                </a:solidFill>
                <a:effectLst/>
                <a:latin typeface="Calibri" panose="020F0502020204030204" pitchFamily="34" charset="0"/>
              </a:rPr>
              <a:t>Business Analysis and Solution Architecture Team</a:t>
            </a:r>
            <a:r>
              <a:rPr lang="en-US" sz="1800" b="0" i="0" dirty="0">
                <a:solidFill>
                  <a:srgbClr val="666666"/>
                </a:solidFill>
                <a:effectLst/>
                <a:latin typeface="Calibri" panose="020F0502020204030204" pitchFamily="34" charset="0"/>
              </a:rPr>
              <a:t>.</a:t>
            </a:r>
            <a:br>
              <a:rPr lang="en-US" sz="1800" b="0" i="0" dirty="0">
                <a:solidFill>
                  <a:srgbClr val="666666"/>
                </a:solidFill>
                <a:effectLst/>
                <a:latin typeface="Calibri" panose="020F0502020204030204" pitchFamily="34" charset="0"/>
              </a:rPr>
            </a:br>
            <a:r>
              <a:rPr lang="en-US" sz="1800" b="0" i="0" dirty="0">
                <a:solidFill>
                  <a:srgbClr val="666666"/>
                </a:solidFill>
                <a:effectLst/>
                <a:latin typeface="Calibri" panose="020F0502020204030204" pitchFamily="34" charset="0"/>
              </a:rPr>
              <a:t/>
            </a:r>
            <a:br>
              <a:rPr lang="en-US" sz="1800" b="0" i="0" dirty="0">
                <a:solidFill>
                  <a:srgbClr val="666666"/>
                </a:solidFill>
                <a:effectLst/>
                <a:latin typeface="Calibri" panose="020F0502020204030204" pitchFamily="34" charset="0"/>
              </a:rPr>
            </a:br>
            <a:r>
              <a:rPr lang="tr-TR" sz="1800" b="1" i="0" dirty="0">
                <a:solidFill>
                  <a:srgbClr val="F15922"/>
                </a:solidFill>
                <a:effectLst/>
                <a:latin typeface="Calibri" panose="020F0502020204030204" pitchFamily="34" charset="0"/>
              </a:rPr>
              <a:t>iKnow</a:t>
            </a:r>
            <a:r>
              <a:rPr lang="en-US" sz="1800" b="0" i="0" dirty="0">
                <a:solidFill>
                  <a:srgbClr val="666666"/>
                </a:solidFill>
                <a:effectLst/>
                <a:latin typeface="Calibri" panose="020F0502020204030204" pitchFamily="34" charset="0"/>
              </a:rPr>
              <a:t> manages the following processes very carefully: defining requirements, determining customer needs, pre-analysis, preparing analysis documents and providing best architectural solution which is inline with company roadmap. </a:t>
            </a:r>
            <a:br>
              <a:rPr lang="en-US" sz="1800" b="0" i="0" dirty="0">
                <a:solidFill>
                  <a:srgbClr val="666666"/>
                </a:solidFill>
                <a:effectLst/>
                <a:latin typeface="Calibri" panose="020F0502020204030204" pitchFamily="34" charset="0"/>
              </a:rPr>
            </a:br>
            <a:r>
              <a:rPr lang="en-US" sz="1800" b="0" i="0" dirty="0">
                <a:solidFill>
                  <a:srgbClr val="666666"/>
                </a:solidFill>
                <a:effectLst/>
                <a:latin typeface="Calibri" panose="020F0502020204030204" pitchFamily="34" charset="0"/>
              </a:rPr>
              <a:t/>
            </a:r>
            <a:br>
              <a:rPr lang="en-US" sz="1800" b="0" i="0" dirty="0">
                <a:solidFill>
                  <a:srgbClr val="666666"/>
                </a:solidFill>
                <a:effectLst/>
                <a:latin typeface="Calibri" panose="020F0502020204030204" pitchFamily="34" charset="0"/>
              </a:rPr>
            </a:br>
            <a:r>
              <a:rPr lang="tr-TR" sz="1800" b="1" i="0" dirty="0">
                <a:solidFill>
                  <a:srgbClr val="F15922"/>
                </a:solidFill>
                <a:effectLst/>
                <a:latin typeface="Calibri" panose="020F0502020204030204" pitchFamily="34" charset="0"/>
              </a:rPr>
              <a:t>iKnow</a:t>
            </a:r>
            <a:r>
              <a:rPr lang="en-US" sz="1800" b="0" i="0" dirty="0">
                <a:solidFill>
                  <a:srgbClr val="666666"/>
                </a:solidFill>
                <a:effectLst/>
                <a:latin typeface="Calibri" panose="020F0502020204030204" pitchFamily="34" charset="0"/>
              </a:rPr>
              <a:t> also aims to complete the Analysis</a:t>
            </a:r>
            <a:r>
              <a:rPr lang="tr-TR" sz="1800" b="0" i="0" dirty="0">
                <a:solidFill>
                  <a:srgbClr val="666666"/>
                </a:solidFill>
                <a:effectLst/>
                <a:latin typeface="Calibri" panose="020F0502020204030204" pitchFamily="34" charset="0"/>
              </a:rPr>
              <a:t> </a:t>
            </a:r>
            <a:r>
              <a:rPr lang="en-US" sz="1800" b="0" i="0" dirty="0">
                <a:solidFill>
                  <a:srgbClr val="666666"/>
                </a:solidFill>
                <a:effectLst/>
                <a:latin typeface="Calibri" panose="020F0502020204030204" pitchFamily="34" charset="0"/>
              </a:rPr>
              <a:t>&amp;</a:t>
            </a:r>
            <a:r>
              <a:rPr lang="tr-TR" sz="1800" b="0" i="0" dirty="0">
                <a:solidFill>
                  <a:srgbClr val="666666"/>
                </a:solidFill>
                <a:effectLst/>
                <a:latin typeface="Calibri" panose="020F0502020204030204" pitchFamily="34" charset="0"/>
              </a:rPr>
              <a:t> </a:t>
            </a:r>
            <a:r>
              <a:rPr lang="en-US" sz="1800" b="0" i="0" dirty="0">
                <a:solidFill>
                  <a:srgbClr val="666666"/>
                </a:solidFill>
                <a:effectLst/>
                <a:latin typeface="Calibri" panose="020F0502020204030204" pitchFamily="34" charset="0"/>
              </a:rPr>
              <a:t>Architecture phase in the best way possible by adapting the correct and complete analysis principle.</a:t>
            </a:r>
            <a:endParaRPr lang="en-US" b="0" i="0" dirty="0">
              <a:solidFill>
                <a:srgbClr val="666666"/>
              </a:solidFill>
              <a:effectLst/>
              <a:latin typeface="Helvetica Neue" panose="02000503040000020004" pitchFamily="50" charset="-52"/>
            </a:endParaRPr>
          </a:p>
        </p:txBody>
      </p:sp>
    </p:spTree>
    <p:extLst>
      <p:ext uri="{BB962C8B-B14F-4D97-AF65-F5344CB8AC3E}">
        <p14:creationId xmlns:p14="http://schemas.microsoft.com/office/powerpoint/2010/main" val="12717622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4C7FFB-16AE-1EBA-2D2C-7D325A3E7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6A30A1C-9EE0-0E1C-EBFF-179204079DD0}"/>
              </a:ext>
            </a:extLst>
          </p:cNvPr>
          <p:cNvSpPr>
            <a:spLocks noGrp="1"/>
          </p:cNvSpPr>
          <p:nvPr>
            <p:ph type="title"/>
          </p:nvPr>
        </p:nvSpPr>
        <p:spPr>
          <a:xfrm>
            <a:off x="628650" y="365126"/>
            <a:ext cx="7886700" cy="1191665"/>
          </a:xfrm>
        </p:spPr>
        <p:txBody>
          <a:bodyPr/>
          <a:lstStyle/>
          <a:p>
            <a:pPr>
              <a:lnSpc>
                <a:spcPts val="1500"/>
              </a:lnSpc>
            </a:pPr>
            <a:r>
              <a:rPr lang="tr-TR" sz="3600" b="1" dirty="0">
                <a:solidFill>
                  <a:srgbClr val="3E3A5F"/>
                </a:solidFill>
              </a:rPr>
              <a:t>Our Service - Testing &amp; Quality Assurance</a:t>
            </a:r>
          </a:p>
        </p:txBody>
      </p:sp>
      <p:sp>
        <p:nvSpPr>
          <p:cNvPr id="11" name="Footer Placeholder 10">
            <a:extLst>
              <a:ext uri="{FF2B5EF4-FFF2-40B4-BE49-F238E27FC236}">
                <a16:creationId xmlns:a16="http://schemas.microsoft.com/office/drawing/2014/main" xmlns="" id="{3FCEC889-845C-00CE-B373-18BB623EE9A2}"/>
              </a:ext>
            </a:extLst>
          </p:cNvPr>
          <p:cNvSpPr>
            <a:spLocks noGrp="1"/>
          </p:cNvSpPr>
          <p:nvPr>
            <p:ph type="ftr" sz="quarter" idx="11"/>
          </p:nvPr>
        </p:nvSpPr>
        <p:spPr/>
        <p:txBody>
          <a:bodyPr/>
          <a:lstStyle/>
          <a:p>
            <a:r>
              <a:rPr lang="tr-TR" dirty="0"/>
              <a:t>iKnow Technology</a:t>
            </a:r>
          </a:p>
        </p:txBody>
      </p:sp>
      <p:sp>
        <p:nvSpPr>
          <p:cNvPr id="12" name="Slide Number Placeholder 11">
            <a:extLst>
              <a:ext uri="{FF2B5EF4-FFF2-40B4-BE49-F238E27FC236}">
                <a16:creationId xmlns:a16="http://schemas.microsoft.com/office/drawing/2014/main" xmlns="" id="{9BF632C4-FAB2-447F-B0FD-834CFB4D13C4}"/>
              </a:ext>
            </a:extLst>
          </p:cNvPr>
          <p:cNvSpPr>
            <a:spLocks noGrp="1"/>
          </p:cNvSpPr>
          <p:nvPr>
            <p:ph type="sldNum" sz="quarter" idx="12"/>
          </p:nvPr>
        </p:nvSpPr>
        <p:spPr/>
        <p:txBody>
          <a:bodyPr/>
          <a:lstStyle/>
          <a:p>
            <a:fld id="{45536E09-86AD-465C-A544-548EAC427A74}" type="slidenum">
              <a:rPr lang="tr-TR" smtClean="0"/>
              <a:t>11</a:t>
            </a:fld>
            <a:endParaRPr lang="tr-TR"/>
          </a:p>
        </p:txBody>
      </p:sp>
      <p:pic>
        <p:nvPicPr>
          <p:cNvPr id="4" name="Picture 3">
            <a:extLst>
              <a:ext uri="{FF2B5EF4-FFF2-40B4-BE49-F238E27FC236}">
                <a16:creationId xmlns:a16="http://schemas.microsoft.com/office/drawing/2014/main" xmlns="" id="{77022F5B-9DF7-8095-C7F1-D44E58A947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
        <p:nvSpPr>
          <p:cNvPr id="5" name="TextBox 4">
            <a:extLst>
              <a:ext uri="{FF2B5EF4-FFF2-40B4-BE49-F238E27FC236}">
                <a16:creationId xmlns:a16="http://schemas.microsoft.com/office/drawing/2014/main" xmlns="" id="{7F970148-5EE1-DAEA-5C67-9174D7FF388C}"/>
              </a:ext>
            </a:extLst>
          </p:cNvPr>
          <p:cNvSpPr txBox="1"/>
          <p:nvPr/>
        </p:nvSpPr>
        <p:spPr>
          <a:xfrm>
            <a:off x="628650" y="1533951"/>
            <a:ext cx="7615758" cy="4957767"/>
          </a:xfrm>
          <a:prstGeom prst="rect">
            <a:avLst/>
          </a:prstGeom>
          <a:noFill/>
        </p:spPr>
        <p:txBody>
          <a:bodyPr wrap="square">
            <a:spAutoFit/>
          </a:bodyPr>
          <a:lstStyle/>
          <a:p>
            <a:pPr algn="l">
              <a:spcBef>
                <a:spcPts val="1125"/>
              </a:spcBef>
              <a:spcAft>
                <a:spcPts val="1125"/>
              </a:spcAft>
            </a:pPr>
            <a:r>
              <a:rPr lang="tr-TR" sz="1800" b="1" i="0" dirty="0">
                <a:solidFill>
                  <a:srgbClr val="F15922"/>
                </a:solidFill>
                <a:effectLst/>
                <a:latin typeface="Calibri" panose="020F0502020204030204" pitchFamily="34" charset="0"/>
              </a:rPr>
              <a:t>iKnow</a:t>
            </a:r>
            <a:r>
              <a:rPr lang="en-US" b="0" i="0" dirty="0">
                <a:solidFill>
                  <a:srgbClr val="666666"/>
                </a:solidFill>
                <a:effectLst/>
                <a:latin typeface="Calibri" panose="020F0502020204030204" pitchFamily="34" charset="0"/>
              </a:rPr>
              <a:t> provides testing services by its experienced team with using up-to-date technology and methods. </a:t>
            </a:r>
            <a:endParaRPr lang="tr-TR" b="0" i="0" dirty="0">
              <a:solidFill>
                <a:srgbClr val="666666"/>
              </a:solidFill>
              <a:effectLst/>
              <a:latin typeface="Calibri" panose="020F0502020204030204" pitchFamily="34" charset="0"/>
            </a:endParaRPr>
          </a:p>
          <a:p>
            <a:pPr algn="l">
              <a:spcBef>
                <a:spcPts val="1125"/>
              </a:spcBef>
              <a:spcAft>
                <a:spcPts val="1125"/>
              </a:spcAft>
            </a:pPr>
            <a:r>
              <a:rPr lang="tr-TR" sz="1800" b="1" i="0" dirty="0">
                <a:solidFill>
                  <a:srgbClr val="F15922"/>
                </a:solidFill>
                <a:effectLst/>
                <a:latin typeface="Calibri" panose="020F0502020204030204" pitchFamily="34" charset="0"/>
              </a:rPr>
              <a:t>iKnow</a:t>
            </a:r>
            <a:r>
              <a:rPr lang="en-US" b="0" i="0" dirty="0">
                <a:solidFill>
                  <a:srgbClr val="666666"/>
                </a:solidFill>
                <a:effectLst/>
                <a:latin typeface="Calibri" panose="020F0502020204030204" pitchFamily="34" charset="0"/>
              </a:rPr>
              <a:t> aims to complete the projects with the highest performance and lowest error margin. As Testing and Quality Assurance is one of the most important part of the software development process, </a:t>
            </a:r>
            <a:r>
              <a:rPr lang="tr-TR" sz="1800" b="1" i="0" dirty="0">
                <a:solidFill>
                  <a:srgbClr val="F15922"/>
                </a:solidFill>
                <a:effectLst/>
                <a:latin typeface="Calibri" panose="020F0502020204030204" pitchFamily="34" charset="0"/>
              </a:rPr>
              <a:t>iKnow</a:t>
            </a:r>
            <a:r>
              <a:rPr lang="en-US" b="0" i="0" dirty="0">
                <a:solidFill>
                  <a:srgbClr val="666666"/>
                </a:solidFill>
                <a:effectLst/>
                <a:latin typeface="Calibri" panose="020F0502020204030204" pitchFamily="34" charset="0"/>
              </a:rPr>
              <a:t> assists quality assurance Processes end to end, through its careful and responsible team. </a:t>
            </a:r>
            <a:endParaRPr lang="tr-TR" b="0" i="0" dirty="0">
              <a:solidFill>
                <a:srgbClr val="666666"/>
              </a:solidFill>
              <a:effectLst/>
              <a:latin typeface="Calibri" panose="020F0502020204030204" pitchFamily="34" charset="0"/>
            </a:endParaRPr>
          </a:p>
          <a:p>
            <a:pPr algn="l">
              <a:spcBef>
                <a:spcPts val="1125"/>
              </a:spcBef>
              <a:spcAft>
                <a:spcPts val="1125"/>
              </a:spcAft>
            </a:pPr>
            <a:r>
              <a:rPr lang="tr-TR" sz="1800" b="1" i="0" dirty="0">
                <a:solidFill>
                  <a:srgbClr val="F15922"/>
                </a:solidFill>
                <a:effectLst/>
                <a:latin typeface="Calibri" panose="020F0502020204030204" pitchFamily="34" charset="0"/>
              </a:rPr>
              <a:t>iKnow</a:t>
            </a:r>
            <a:r>
              <a:rPr lang="en-US" b="0" i="0" dirty="0">
                <a:solidFill>
                  <a:srgbClr val="666666"/>
                </a:solidFill>
                <a:effectLst/>
                <a:latin typeface="Calibri" panose="020F0502020204030204" pitchFamily="34" charset="0"/>
              </a:rPr>
              <a:t> provides system, integration, performance and automation testing services to its clients.</a:t>
            </a:r>
            <a:r>
              <a:rPr lang="en-US" sz="1800" b="0" i="0" dirty="0">
                <a:solidFill>
                  <a:srgbClr val="666666"/>
                </a:solidFill>
                <a:effectLst/>
                <a:latin typeface="Calibri" panose="020F0502020204030204" pitchFamily="34" charset="0"/>
              </a:rPr>
              <a:t/>
            </a:r>
            <a:br>
              <a:rPr lang="en-US" sz="1800" b="0" i="0" dirty="0">
                <a:solidFill>
                  <a:srgbClr val="666666"/>
                </a:solidFill>
                <a:effectLst/>
                <a:latin typeface="Calibri" panose="020F0502020204030204" pitchFamily="34" charset="0"/>
              </a:rPr>
            </a:br>
            <a:r>
              <a:rPr lang="en-US" sz="1800" b="0" i="0" dirty="0">
                <a:solidFill>
                  <a:srgbClr val="666666"/>
                </a:solidFill>
                <a:effectLst/>
                <a:latin typeface="Calibri" panose="020F0502020204030204" pitchFamily="34" charset="0"/>
              </a:rPr>
              <a:t/>
            </a:r>
            <a:br>
              <a:rPr lang="en-US" sz="1800" b="0" i="0" dirty="0">
                <a:solidFill>
                  <a:srgbClr val="666666"/>
                </a:solidFill>
                <a:effectLst/>
                <a:latin typeface="Calibri" panose="020F0502020204030204" pitchFamily="34" charset="0"/>
              </a:rPr>
            </a:br>
            <a:r>
              <a:rPr lang="en-US" sz="1800" b="1" i="0" dirty="0">
                <a:solidFill>
                  <a:srgbClr val="666666"/>
                </a:solidFill>
                <a:effectLst/>
                <a:latin typeface="Calibri" panose="020F0502020204030204" pitchFamily="34" charset="0"/>
              </a:rPr>
              <a:t>Our major test responsibilities are as below:</a:t>
            </a:r>
            <a:endParaRPr lang="tr-TR" b="1" dirty="0">
              <a:solidFill>
                <a:srgbClr val="666666"/>
              </a:solidFill>
              <a:latin typeface="Calibri" panose="020F0502020204030204" pitchFamily="34" charset="0"/>
            </a:endParaRPr>
          </a:p>
          <a:p>
            <a:pPr marL="285750" indent="-285750" algn="l">
              <a:spcBef>
                <a:spcPts val="400"/>
              </a:spcBef>
              <a:spcAft>
                <a:spcPts val="200"/>
              </a:spcAft>
              <a:buFont typeface="Arial" panose="020B0604020202020204" pitchFamily="34" charset="0"/>
              <a:buChar char="•"/>
            </a:pPr>
            <a:r>
              <a:rPr lang="en-US" sz="1800" b="0" i="0" dirty="0">
                <a:solidFill>
                  <a:srgbClr val="666666"/>
                </a:solidFill>
                <a:effectLst/>
                <a:latin typeface="Calibri" panose="020F0502020204030204" pitchFamily="34" charset="0"/>
              </a:rPr>
              <a:t>Specifying activity-based test roles and responsibilities</a:t>
            </a:r>
            <a:endParaRPr lang="tr-TR" sz="1800" b="0" i="0" dirty="0">
              <a:solidFill>
                <a:srgbClr val="666666"/>
              </a:solidFill>
              <a:effectLst/>
              <a:latin typeface="Calibri" panose="020F0502020204030204" pitchFamily="34" charset="0"/>
            </a:endParaRPr>
          </a:p>
          <a:p>
            <a:pPr marL="285750" indent="-285750" algn="l">
              <a:spcBef>
                <a:spcPts val="400"/>
              </a:spcBef>
              <a:spcAft>
                <a:spcPts val="200"/>
              </a:spcAft>
              <a:buFont typeface="Arial" panose="020B0604020202020204" pitchFamily="34" charset="0"/>
              <a:buChar char="•"/>
            </a:pPr>
            <a:r>
              <a:rPr lang="en-US" sz="1800" b="0" i="0" dirty="0">
                <a:solidFill>
                  <a:srgbClr val="666666"/>
                </a:solidFill>
                <a:effectLst/>
                <a:latin typeface="Calibri" panose="020F0502020204030204" pitchFamily="34" charset="0"/>
              </a:rPr>
              <a:t>Preparation of the test plan according to the relevant test methodologies</a:t>
            </a:r>
            <a:endParaRPr lang="tr-TR" sz="1800" b="0" i="0" dirty="0">
              <a:solidFill>
                <a:srgbClr val="666666"/>
              </a:solidFill>
              <a:effectLst/>
              <a:latin typeface="Calibri" panose="020F0502020204030204" pitchFamily="34" charset="0"/>
            </a:endParaRPr>
          </a:p>
          <a:p>
            <a:pPr marL="285750" indent="-285750" algn="l">
              <a:spcBef>
                <a:spcPts val="400"/>
              </a:spcBef>
              <a:spcAft>
                <a:spcPts val="200"/>
              </a:spcAft>
              <a:buFont typeface="Arial" panose="020B0604020202020204" pitchFamily="34" charset="0"/>
              <a:buChar char="•"/>
            </a:pPr>
            <a:r>
              <a:rPr lang="en-US" sz="1800" b="0" i="0" dirty="0">
                <a:solidFill>
                  <a:srgbClr val="666666"/>
                </a:solidFill>
                <a:effectLst/>
                <a:latin typeface="Calibri" panose="020F0502020204030204" pitchFamily="34" charset="0"/>
              </a:rPr>
              <a:t>Designing Test Cases and Scenarios</a:t>
            </a:r>
            <a:endParaRPr lang="tr-TR" sz="1800" b="0" i="0" dirty="0">
              <a:solidFill>
                <a:srgbClr val="666666"/>
              </a:solidFill>
              <a:effectLst/>
              <a:latin typeface="Calibri" panose="020F0502020204030204" pitchFamily="34" charset="0"/>
            </a:endParaRPr>
          </a:p>
          <a:p>
            <a:pPr marL="285750" indent="-285750" algn="l">
              <a:spcBef>
                <a:spcPts val="400"/>
              </a:spcBef>
              <a:spcAft>
                <a:spcPts val="200"/>
              </a:spcAft>
              <a:buFont typeface="Arial" panose="020B0604020202020204" pitchFamily="34" charset="0"/>
              <a:buChar char="•"/>
            </a:pPr>
            <a:r>
              <a:rPr lang="en-US" sz="1800" b="0" i="0" dirty="0">
                <a:solidFill>
                  <a:srgbClr val="666666"/>
                </a:solidFill>
                <a:effectLst/>
                <a:latin typeface="Calibri" panose="020F0502020204030204" pitchFamily="34" charset="0"/>
              </a:rPr>
              <a:t>Defect Tracking </a:t>
            </a:r>
            <a:endParaRPr lang="en-US" b="0" i="0" dirty="0">
              <a:solidFill>
                <a:srgbClr val="666666"/>
              </a:solidFill>
              <a:effectLst/>
              <a:latin typeface="Helvetica Neue" panose="02000503040000020004" pitchFamily="50" charset="-52"/>
            </a:endParaRPr>
          </a:p>
        </p:txBody>
      </p:sp>
    </p:spTree>
    <p:extLst>
      <p:ext uri="{BB962C8B-B14F-4D97-AF65-F5344CB8AC3E}">
        <p14:creationId xmlns:p14="http://schemas.microsoft.com/office/powerpoint/2010/main" val="29203330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417E62B-F50F-BC0A-295F-2856F78B97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C49E686-F018-FD3D-8AA7-7B1F336EF551}"/>
              </a:ext>
            </a:extLst>
          </p:cNvPr>
          <p:cNvSpPr>
            <a:spLocks noGrp="1"/>
          </p:cNvSpPr>
          <p:nvPr>
            <p:ph type="title"/>
          </p:nvPr>
        </p:nvSpPr>
        <p:spPr>
          <a:xfrm>
            <a:off x="628650" y="365126"/>
            <a:ext cx="7886700" cy="1191665"/>
          </a:xfrm>
        </p:spPr>
        <p:txBody>
          <a:bodyPr/>
          <a:lstStyle/>
          <a:p>
            <a:pPr>
              <a:lnSpc>
                <a:spcPts val="1500"/>
              </a:lnSpc>
            </a:pPr>
            <a:r>
              <a:rPr lang="tr-TR" sz="3600" b="1" dirty="0">
                <a:solidFill>
                  <a:srgbClr val="3E3A5F"/>
                </a:solidFill>
              </a:rPr>
              <a:t>Our Service - Operation Support</a:t>
            </a:r>
          </a:p>
        </p:txBody>
      </p:sp>
      <p:sp>
        <p:nvSpPr>
          <p:cNvPr id="11" name="Footer Placeholder 10">
            <a:extLst>
              <a:ext uri="{FF2B5EF4-FFF2-40B4-BE49-F238E27FC236}">
                <a16:creationId xmlns:a16="http://schemas.microsoft.com/office/drawing/2014/main" xmlns="" id="{68421B30-E4CB-5A8D-F3CD-A4912843C0A4}"/>
              </a:ext>
            </a:extLst>
          </p:cNvPr>
          <p:cNvSpPr>
            <a:spLocks noGrp="1"/>
          </p:cNvSpPr>
          <p:nvPr>
            <p:ph type="ftr" sz="quarter" idx="11"/>
          </p:nvPr>
        </p:nvSpPr>
        <p:spPr/>
        <p:txBody>
          <a:bodyPr/>
          <a:lstStyle/>
          <a:p>
            <a:r>
              <a:rPr lang="tr-TR" dirty="0"/>
              <a:t>iKnow Technology</a:t>
            </a:r>
          </a:p>
        </p:txBody>
      </p:sp>
      <p:sp>
        <p:nvSpPr>
          <p:cNvPr id="12" name="Slide Number Placeholder 11">
            <a:extLst>
              <a:ext uri="{FF2B5EF4-FFF2-40B4-BE49-F238E27FC236}">
                <a16:creationId xmlns:a16="http://schemas.microsoft.com/office/drawing/2014/main" xmlns="" id="{35E407AF-DE01-9AF0-6E0C-1B6E16916304}"/>
              </a:ext>
            </a:extLst>
          </p:cNvPr>
          <p:cNvSpPr>
            <a:spLocks noGrp="1"/>
          </p:cNvSpPr>
          <p:nvPr>
            <p:ph type="sldNum" sz="quarter" idx="12"/>
          </p:nvPr>
        </p:nvSpPr>
        <p:spPr/>
        <p:txBody>
          <a:bodyPr/>
          <a:lstStyle/>
          <a:p>
            <a:fld id="{45536E09-86AD-465C-A544-548EAC427A74}" type="slidenum">
              <a:rPr lang="tr-TR" smtClean="0"/>
              <a:t>12</a:t>
            </a:fld>
            <a:endParaRPr lang="tr-TR"/>
          </a:p>
        </p:txBody>
      </p:sp>
      <p:pic>
        <p:nvPicPr>
          <p:cNvPr id="4" name="Picture 3">
            <a:extLst>
              <a:ext uri="{FF2B5EF4-FFF2-40B4-BE49-F238E27FC236}">
                <a16:creationId xmlns:a16="http://schemas.microsoft.com/office/drawing/2014/main" xmlns="" id="{FBFD2C28-28EA-0F4C-0A7E-8AB92F1BFB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
        <p:nvSpPr>
          <p:cNvPr id="5" name="TextBox 4">
            <a:extLst>
              <a:ext uri="{FF2B5EF4-FFF2-40B4-BE49-F238E27FC236}">
                <a16:creationId xmlns:a16="http://schemas.microsoft.com/office/drawing/2014/main" xmlns="" id="{7A446FF4-273C-7998-5537-0A6C33392235}"/>
              </a:ext>
            </a:extLst>
          </p:cNvPr>
          <p:cNvSpPr txBox="1"/>
          <p:nvPr/>
        </p:nvSpPr>
        <p:spPr>
          <a:xfrm>
            <a:off x="628650" y="1533951"/>
            <a:ext cx="7255718" cy="3970318"/>
          </a:xfrm>
          <a:prstGeom prst="rect">
            <a:avLst/>
          </a:prstGeom>
          <a:noFill/>
        </p:spPr>
        <p:txBody>
          <a:bodyPr wrap="square">
            <a:spAutoFit/>
          </a:bodyPr>
          <a:lstStyle/>
          <a:p>
            <a:pPr algn="l">
              <a:spcBef>
                <a:spcPts val="1125"/>
              </a:spcBef>
              <a:spcAft>
                <a:spcPts val="1125"/>
              </a:spcAft>
            </a:pPr>
            <a:r>
              <a:rPr lang="tr-TR" b="1" i="0" dirty="0">
                <a:solidFill>
                  <a:srgbClr val="F15922"/>
                </a:solidFill>
                <a:effectLst/>
                <a:latin typeface="Calibri" panose="020F0502020204030204" pitchFamily="34" charset="0"/>
              </a:rPr>
              <a:t>iKnow</a:t>
            </a:r>
            <a:r>
              <a:rPr lang="en-US" b="0" i="0" dirty="0">
                <a:solidFill>
                  <a:srgbClr val="333333"/>
                </a:solidFill>
                <a:effectLst/>
                <a:latin typeface="Calibri" panose="020F0502020204030204" pitchFamily="34" charset="0"/>
              </a:rPr>
              <a:t> </a:t>
            </a:r>
            <a:r>
              <a:rPr lang="en-US" b="0" i="0" dirty="0">
                <a:solidFill>
                  <a:srgbClr val="666666"/>
                </a:solidFill>
                <a:effectLst/>
                <a:latin typeface="Calibri" panose="020F0502020204030204" pitchFamily="34" charset="0"/>
              </a:rPr>
              <a:t>provides support to the companies for improving their existing technologies and operational activities with the most up-to-date information technology infrastructure.</a:t>
            </a:r>
            <a:r>
              <a:rPr lang="en-US" dirty="0"/>
              <a:t/>
            </a:r>
            <a:br>
              <a:rPr lang="en-US" dirty="0"/>
            </a:br>
            <a:r>
              <a:rPr lang="en-US" dirty="0">
                <a:solidFill>
                  <a:srgbClr val="666666"/>
                </a:solidFill>
              </a:rPr>
              <a:t/>
            </a:r>
            <a:br>
              <a:rPr lang="en-US" dirty="0">
                <a:solidFill>
                  <a:srgbClr val="666666"/>
                </a:solidFill>
              </a:rPr>
            </a:br>
            <a:r>
              <a:rPr lang="en-US" b="0" i="0" dirty="0">
                <a:solidFill>
                  <a:srgbClr val="666666"/>
                </a:solidFill>
                <a:effectLst/>
                <a:latin typeface="Calibri" panose="020F0502020204030204" pitchFamily="34" charset="0"/>
              </a:rPr>
              <a:t>We support companies to increase their operational quality by maximizing service, system and accessibility criteria.</a:t>
            </a:r>
            <a:r>
              <a:rPr lang="en-US" dirty="0"/>
              <a:t/>
            </a:r>
            <a:br>
              <a:rPr lang="en-US" dirty="0"/>
            </a:br>
            <a:r>
              <a:rPr lang="en-US" dirty="0"/>
              <a:t/>
            </a:r>
            <a:br>
              <a:rPr lang="en-US" dirty="0"/>
            </a:br>
            <a:r>
              <a:rPr lang="tr-TR" b="1" i="0" dirty="0">
                <a:solidFill>
                  <a:srgbClr val="F15922"/>
                </a:solidFill>
                <a:effectLst/>
                <a:latin typeface="Calibri" panose="020F0502020204030204" pitchFamily="34" charset="0"/>
              </a:rPr>
              <a:t>iKnow</a:t>
            </a:r>
            <a:r>
              <a:rPr lang="en-US" b="0" i="0" dirty="0">
                <a:solidFill>
                  <a:srgbClr val="333333"/>
                </a:solidFill>
                <a:effectLst/>
                <a:latin typeface="Calibri" panose="020F0502020204030204" pitchFamily="34" charset="0"/>
              </a:rPr>
              <a:t> </a:t>
            </a:r>
            <a:r>
              <a:rPr lang="en-US" b="0" i="0" dirty="0">
                <a:solidFill>
                  <a:srgbClr val="666666"/>
                </a:solidFill>
                <a:effectLst/>
                <a:latin typeface="Calibri" panose="020F0502020204030204" pitchFamily="34" charset="0"/>
              </a:rPr>
              <a:t>provide support for </a:t>
            </a:r>
            <a:r>
              <a:rPr lang="en-US" b="1" i="0" dirty="0">
                <a:solidFill>
                  <a:srgbClr val="666666"/>
                </a:solidFill>
                <a:effectLst/>
                <a:latin typeface="Calibri" panose="020F0502020204030204" pitchFamily="34" charset="0"/>
              </a:rPr>
              <a:t>Service Desk, Level1 and Level2 </a:t>
            </a:r>
            <a:r>
              <a:rPr lang="en-US" b="0" i="0" dirty="0">
                <a:solidFill>
                  <a:srgbClr val="666666"/>
                </a:solidFill>
                <a:effectLst/>
                <a:latin typeface="Calibri" panose="020F0502020204030204" pitchFamily="34" charset="0"/>
              </a:rPr>
              <a:t>operational activities in many I</a:t>
            </a:r>
            <a:r>
              <a:rPr lang="tr-TR" b="0" i="0" dirty="0">
                <a:solidFill>
                  <a:srgbClr val="666666"/>
                </a:solidFill>
                <a:effectLst/>
                <a:latin typeface="Calibri" panose="020F0502020204030204" pitchFamily="34" charset="0"/>
              </a:rPr>
              <a:t>T</a:t>
            </a:r>
            <a:r>
              <a:rPr lang="en-US" b="0" i="0" dirty="0">
                <a:solidFill>
                  <a:srgbClr val="666666"/>
                </a:solidFill>
                <a:effectLst/>
                <a:latin typeface="Calibri" panose="020F0502020204030204" pitchFamily="34" charset="0"/>
              </a:rPr>
              <a:t> domains. </a:t>
            </a:r>
            <a:r>
              <a:rPr lang="en-US" dirty="0">
                <a:solidFill>
                  <a:srgbClr val="666666"/>
                </a:solidFill>
              </a:rPr>
              <a:t/>
            </a:r>
            <a:br>
              <a:rPr lang="en-US" dirty="0">
                <a:solidFill>
                  <a:srgbClr val="666666"/>
                </a:solidFill>
              </a:rPr>
            </a:br>
            <a:r>
              <a:rPr lang="en-US" dirty="0">
                <a:solidFill>
                  <a:srgbClr val="666666"/>
                </a:solidFill>
              </a:rPr>
              <a:t/>
            </a:r>
            <a:br>
              <a:rPr lang="en-US" dirty="0">
                <a:solidFill>
                  <a:srgbClr val="666666"/>
                </a:solidFill>
              </a:rPr>
            </a:br>
            <a:r>
              <a:rPr lang="en-US" b="0" i="0" dirty="0">
                <a:solidFill>
                  <a:srgbClr val="666666"/>
                </a:solidFill>
                <a:effectLst/>
                <a:latin typeface="Calibri" panose="020F0502020204030204" pitchFamily="34" charset="0"/>
              </a:rPr>
              <a:t>In addition to operational support activities, </a:t>
            </a:r>
            <a:r>
              <a:rPr lang="tr-TR" b="1" i="0" dirty="0">
                <a:solidFill>
                  <a:srgbClr val="F15922"/>
                </a:solidFill>
                <a:effectLst/>
                <a:latin typeface="Calibri" panose="020F0502020204030204" pitchFamily="34" charset="0"/>
              </a:rPr>
              <a:t>iKnow</a:t>
            </a:r>
            <a:r>
              <a:rPr lang="en-US" b="0" i="0" dirty="0">
                <a:solidFill>
                  <a:srgbClr val="333333"/>
                </a:solidFill>
                <a:effectLst/>
                <a:latin typeface="Calibri" panose="020F0502020204030204" pitchFamily="34" charset="0"/>
              </a:rPr>
              <a:t> </a:t>
            </a:r>
            <a:r>
              <a:rPr lang="en-US" b="0" i="0" dirty="0">
                <a:solidFill>
                  <a:srgbClr val="666666"/>
                </a:solidFill>
                <a:effectLst/>
                <a:latin typeface="Calibri" panose="020F0502020204030204" pitchFamily="34" charset="0"/>
              </a:rPr>
              <a:t>provides end to end functional and technical trainings for their clients. Our experienced Training team transfers the solution efficiently to the client team through extensive training materials and training classes.</a:t>
            </a:r>
            <a:endParaRPr lang="en-US" b="0" i="0" dirty="0">
              <a:solidFill>
                <a:srgbClr val="666666"/>
              </a:solidFill>
              <a:effectLst/>
              <a:latin typeface="Helvetica Neue" panose="02000503040000020004" pitchFamily="50" charset="-52"/>
            </a:endParaRPr>
          </a:p>
        </p:txBody>
      </p:sp>
    </p:spTree>
    <p:extLst>
      <p:ext uri="{BB962C8B-B14F-4D97-AF65-F5344CB8AC3E}">
        <p14:creationId xmlns:p14="http://schemas.microsoft.com/office/powerpoint/2010/main" val="9601006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E2841D2-F485-13D6-BFE2-1B7B69197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3EDC4F5-C070-F709-5D7F-1D9B499FE8CA}"/>
              </a:ext>
            </a:extLst>
          </p:cNvPr>
          <p:cNvSpPr>
            <a:spLocks noGrp="1"/>
          </p:cNvSpPr>
          <p:nvPr>
            <p:ph type="title"/>
          </p:nvPr>
        </p:nvSpPr>
        <p:spPr>
          <a:xfrm>
            <a:off x="628650" y="365127"/>
            <a:ext cx="7886700" cy="831626"/>
          </a:xfrm>
        </p:spPr>
        <p:txBody>
          <a:bodyPr/>
          <a:lstStyle/>
          <a:p>
            <a:pPr algn="l">
              <a:spcAft>
                <a:spcPts val="750"/>
              </a:spcAft>
            </a:pPr>
            <a:r>
              <a:rPr lang="en-US" sz="3600" b="1" dirty="0">
                <a:solidFill>
                  <a:srgbClr val="3E3A5F"/>
                </a:solidFill>
              </a:rPr>
              <a:t>Working Models</a:t>
            </a:r>
          </a:p>
        </p:txBody>
      </p:sp>
      <p:sp>
        <p:nvSpPr>
          <p:cNvPr id="11" name="Footer Placeholder 10">
            <a:extLst>
              <a:ext uri="{FF2B5EF4-FFF2-40B4-BE49-F238E27FC236}">
                <a16:creationId xmlns:a16="http://schemas.microsoft.com/office/drawing/2014/main" xmlns="" id="{16AE632E-1C76-0D13-5C45-3EDE27956697}"/>
              </a:ext>
            </a:extLst>
          </p:cNvPr>
          <p:cNvSpPr>
            <a:spLocks noGrp="1"/>
          </p:cNvSpPr>
          <p:nvPr>
            <p:ph type="ftr" sz="quarter" idx="11"/>
          </p:nvPr>
        </p:nvSpPr>
        <p:spPr/>
        <p:txBody>
          <a:bodyPr/>
          <a:lstStyle/>
          <a:p>
            <a:r>
              <a:rPr lang="tr-TR" dirty="0"/>
              <a:t>iKnow Technology</a:t>
            </a:r>
          </a:p>
        </p:txBody>
      </p:sp>
      <p:sp>
        <p:nvSpPr>
          <p:cNvPr id="12" name="Slide Number Placeholder 11">
            <a:extLst>
              <a:ext uri="{FF2B5EF4-FFF2-40B4-BE49-F238E27FC236}">
                <a16:creationId xmlns:a16="http://schemas.microsoft.com/office/drawing/2014/main" xmlns="" id="{0E5A2A7E-41D0-082A-2C69-00B068DDF9F4}"/>
              </a:ext>
            </a:extLst>
          </p:cNvPr>
          <p:cNvSpPr>
            <a:spLocks noGrp="1"/>
          </p:cNvSpPr>
          <p:nvPr>
            <p:ph type="sldNum" sz="quarter" idx="12"/>
          </p:nvPr>
        </p:nvSpPr>
        <p:spPr/>
        <p:txBody>
          <a:bodyPr/>
          <a:lstStyle/>
          <a:p>
            <a:fld id="{45536E09-86AD-465C-A544-548EAC427A74}" type="slidenum">
              <a:rPr lang="tr-TR" smtClean="0"/>
              <a:t>13</a:t>
            </a:fld>
            <a:endParaRPr lang="tr-TR"/>
          </a:p>
        </p:txBody>
      </p:sp>
      <p:pic>
        <p:nvPicPr>
          <p:cNvPr id="4" name="Picture 3">
            <a:extLst>
              <a:ext uri="{FF2B5EF4-FFF2-40B4-BE49-F238E27FC236}">
                <a16:creationId xmlns:a16="http://schemas.microsoft.com/office/drawing/2014/main" xmlns="" id="{B00E01E8-FAE1-3572-D921-2DE57B0484D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
        <p:nvSpPr>
          <p:cNvPr id="5" name="TextBox 4">
            <a:extLst>
              <a:ext uri="{FF2B5EF4-FFF2-40B4-BE49-F238E27FC236}">
                <a16:creationId xmlns:a16="http://schemas.microsoft.com/office/drawing/2014/main" xmlns="" id="{09B2F16F-1805-6544-E254-BD210BAE2191}"/>
              </a:ext>
            </a:extLst>
          </p:cNvPr>
          <p:cNvSpPr txBox="1"/>
          <p:nvPr/>
        </p:nvSpPr>
        <p:spPr>
          <a:xfrm>
            <a:off x="742950" y="2276872"/>
            <a:ext cx="4572000" cy="1451679"/>
          </a:xfrm>
          <a:prstGeom prst="rect">
            <a:avLst/>
          </a:prstGeom>
          <a:noFill/>
        </p:spPr>
        <p:txBody>
          <a:bodyPr wrap="square">
            <a:spAutoFit/>
          </a:bodyPr>
          <a:lstStyle/>
          <a:p>
            <a:pPr algn="l">
              <a:lnSpc>
                <a:spcPts val="1500"/>
              </a:lnSpc>
              <a:buFont typeface="Arial" panose="020B0604020202020204" pitchFamily="34" charset="0"/>
              <a:buChar char="•"/>
            </a:pPr>
            <a:r>
              <a:rPr lang="tr-TR" b="0" i="0" u="none" strike="noStrike" dirty="0">
                <a:solidFill>
                  <a:srgbClr val="666666"/>
                </a:solidFill>
                <a:effectLst/>
              </a:rPr>
              <a:t> </a:t>
            </a:r>
            <a:r>
              <a:rPr lang="en-US" b="0" i="0" u="none" strike="noStrike" dirty="0">
                <a:solidFill>
                  <a:srgbClr val="666666"/>
                </a:solidFill>
                <a:effectLst/>
              </a:rPr>
              <a:t>Turn-Key Solutions</a:t>
            </a:r>
            <a:endParaRPr lang="tr-TR" b="0" i="0" u="none" strike="noStrike" dirty="0">
              <a:solidFill>
                <a:srgbClr val="666666"/>
              </a:solidFill>
              <a:effectLst/>
            </a:endParaRPr>
          </a:p>
          <a:p>
            <a:pPr algn="l">
              <a:lnSpc>
                <a:spcPts val="1500"/>
              </a:lnSpc>
            </a:pPr>
            <a:endParaRPr lang="en-US" b="0" i="0" dirty="0">
              <a:solidFill>
                <a:srgbClr val="666666"/>
              </a:solidFill>
              <a:effectLst/>
            </a:endParaRPr>
          </a:p>
          <a:p>
            <a:pPr algn="l">
              <a:lnSpc>
                <a:spcPts val="1500"/>
              </a:lnSpc>
              <a:buFont typeface="Arial" panose="020B0604020202020204" pitchFamily="34" charset="0"/>
              <a:buChar char="•"/>
            </a:pPr>
            <a:r>
              <a:rPr lang="tr-TR" b="0" i="0" u="none" strike="noStrike" dirty="0">
                <a:solidFill>
                  <a:srgbClr val="666666"/>
                </a:solidFill>
                <a:effectLst/>
              </a:rPr>
              <a:t> </a:t>
            </a:r>
            <a:r>
              <a:rPr lang="en-US" b="0" i="0" u="none" strike="noStrike" dirty="0">
                <a:solidFill>
                  <a:srgbClr val="666666"/>
                </a:solidFill>
                <a:effectLst/>
              </a:rPr>
              <a:t>Managed Services</a:t>
            </a:r>
            <a:endParaRPr lang="tr-TR" b="0" i="0" u="none" strike="noStrike" dirty="0">
              <a:solidFill>
                <a:srgbClr val="666666"/>
              </a:solidFill>
              <a:effectLst/>
            </a:endParaRPr>
          </a:p>
          <a:p>
            <a:pPr algn="l">
              <a:lnSpc>
                <a:spcPts val="1500"/>
              </a:lnSpc>
              <a:buFont typeface="Arial" panose="020B0604020202020204" pitchFamily="34" charset="0"/>
              <a:buChar char="•"/>
            </a:pPr>
            <a:endParaRPr lang="en-US" b="0" i="0" dirty="0">
              <a:solidFill>
                <a:srgbClr val="666666"/>
              </a:solidFill>
              <a:effectLst/>
            </a:endParaRPr>
          </a:p>
          <a:p>
            <a:pPr algn="l">
              <a:lnSpc>
                <a:spcPts val="1500"/>
              </a:lnSpc>
              <a:buFont typeface="Arial" panose="020B0604020202020204" pitchFamily="34" charset="0"/>
              <a:buChar char="•"/>
            </a:pPr>
            <a:r>
              <a:rPr lang="tr-TR" b="0" i="0" u="none" strike="noStrike" dirty="0">
                <a:solidFill>
                  <a:srgbClr val="666666"/>
                </a:solidFill>
                <a:effectLst/>
              </a:rPr>
              <a:t> </a:t>
            </a:r>
            <a:r>
              <a:rPr lang="en-US" b="0" i="0" u="none" strike="noStrike" dirty="0">
                <a:solidFill>
                  <a:srgbClr val="666666"/>
                </a:solidFill>
                <a:effectLst/>
              </a:rPr>
              <a:t>Consultancy</a:t>
            </a:r>
            <a:endParaRPr lang="tr-TR" b="0" i="0" u="none" strike="noStrike" dirty="0">
              <a:solidFill>
                <a:srgbClr val="666666"/>
              </a:solidFill>
              <a:effectLst/>
            </a:endParaRPr>
          </a:p>
          <a:p>
            <a:pPr algn="l">
              <a:lnSpc>
                <a:spcPts val="1500"/>
              </a:lnSpc>
            </a:pPr>
            <a:endParaRPr lang="en-US" b="0" i="0" dirty="0">
              <a:solidFill>
                <a:srgbClr val="666666"/>
              </a:solidFill>
              <a:effectLst/>
            </a:endParaRPr>
          </a:p>
          <a:p>
            <a:pPr algn="l">
              <a:lnSpc>
                <a:spcPts val="1500"/>
              </a:lnSpc>
              <a:buFont typeface="Arial" panose="020B0604020202020204" pitchFamily="34" charset="0"/>
              <a:buChar char="•"/>
            </a:pPr>
            <a:r>
              <a:rPr lang="tr-TR" b="0" i="0" u="none" strike="noStrike" dirty="0">
                <a:solidFill>
                  <a:srgbClr val="666666"/>
                </a:solidFill>
                <a:effectLst/>
              </a:rPr>
              <a:t> </a:t>
            </a:r>
            <a:r>
              <a:rPr lang="en-US" b="0" i="0" u="none" strike="noStrike" dirty="0">
                <a:solidFill>
                  <a:srgbClr val="666666"/>
                </a:solidFill>
                <a:effectLst/>
              </a:rPr>
              <a:t>Outsourcing Services</a:t>
            </a:r>
            <a:endParaRPr lang="en-US" b="0" i="0" dirty="0">
              <a:solidFill>
                <a:srgbClr val="666666"/>
              </a:solidFill>
              <a:effectLst/>
            </a:endParaRPr>
          </a:p>
        </p:txBody>
      </p:sp>
    </p:spTree>
    <p:extLst>
      <p:ext uri="{BB962C8B-B14F-4D97-AF65-F5344CB8AC3E}">
        <p14:creationId xmlns:p14="http://schemas.microsoft.com/office/powerpoint/2010/main" val="42217344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CD3CA9F-7EDA-DF63-E6CF-42AFB5401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DD9AB5C-852F-3CC1-C895-9D7B0C2146BF}"/>
              </a:ext>
            </a:extLst>
          </p:cNvPr>
          <p:cNvSpPr>
            <a:spLocks noGrp="1"/>
          </p:cNvSpPr>
          <p:nvPr>
            <p:ph type="title"/>
          </p:nvPr>
        </p:nvSpPr>
        <p:spPr>
          <a:xfrm>
            <a:off x="628650" y="365127"/>
            <a:ext cx="7886700" cy="831626"/>
          </a:xfrm>
        </p:spPr>
        <p:txBody>
          <a:bodyPr>
            <a:normAutofit/>
          </a:bodyPr>
          <a:lstStyle/>
          <a:p>
            <a:pPr>
              <a:spcAft>
                <a:spcPts val="750"/>
              </a:spcAft>
            </a:pPr>
            <a:r>
              <a:rPr lang="en-US" sz="3600" b="1" dirty="0">
                <a:solidFill>
                  <a:srgbClr val="3E3A5F"/>
                </a:solidFill>
              </a:rPr>
              <a:t>Working Models</a:t>
            </a:r>
            <a:r>
              <a:rPr lang="tr-TR" sz="3600" b="1" dirty="0">
                <a:solidFill>
                  <a:srgbClr val="3E3A5F"/>
                </a:solidFill>
              </a:rPr>
              <a:t> - </a:t>
            </a:r>
            <a:r>
              <a:rPr lang="en-US" sz="3600" b="1" dirty="0">
                <a:solidFill>
                  <a:srgbClr val="3E3A5F"/>
                </a:solidFill>
              </a:rPr>
              <a:t>Turn</a:t>
            </a:r>
            <a:r>
              <a:rPr lang="tr-TR" sz="3600" b="1" dirty="0">
                <a:solidFill>
                  <a:srgbClr val="3E3A5F"/>
                </a:solidFill>
              </a:rPr>
              <a:t> </a:t>
            </a:r>
            <a:r>
              <a:rPr lang="en-US" sz="3600" b="1" dirty="0">
                <a:solidFill>
                  <a:srgbClr val="3E3A5F"/>
                </a:solidFill>
              </a:rPr>
              <a:t>Key Solutions</a:t>
            </a:r>
          </a:p>
        </p:txBody>
      </p:sp>
      <p:sp>
        <p:nvSpPr>
          <p:cNvPr id="11" name="Footer Placeholder 10">
            <a:extLst>
              <a:ext uri="{FF2B5EF4-FFF2-40B4-BE49-F238E27FC236}">
                <a16:creationId xmlns:a16="http://schemas.microsoft.com/office/drawing/2014/main" xmlns="" id="{33B8B218-8888-8FC6-A4EC-8F05B27FA2A6}"/>
              </a:ext>
            </a:extLst>
          </p:cNvPr>
          <p:cNvSpPr>
            <a:spLocks noGrp="1"/>
          </p:cNvSpPr>
          <p:nvPr>
            <p:ph type="ftr" sz="quarter" idx="11"/>
          </p:nvPr>
        </p:nvSpPr>
        <p:spPr/>
        <p:txBody>
          <a:bodyPr/>
          <a:lstStyle/>
          <a:p>
            <a:r>
              <a:rPr lang="tr-TR" dirty="0"/>
              <a:t>iKnow Technology</a:t>
            </a:r>
          </a:p>
        </p:txBody>
      </p:sp>
      <p:sp>
        <p:nvSpPr>
          <p:cNvPr id="12" name="Slide Number Placeholder 11">
            <a:extLst>
              <a:ext uri="{FF2B5EF4-FFF2-40B4-BE49-F238E27FC236}">
                <a16:creationId xmlns:a16="http://schemas.microsoft.com/office/drawing/2014/main" xmlns="" id="{41E03F2A-D8EC-BBC2-ED06-9566EDE5D8D9}"/>
              </a:ext>
            </a:extLst>
          </p:cNvPr>
          <p:cNvSpPr>
            <a:spLocks noGrp="1"/>
          </p:cNvSpPr>
          <p:nvPr>
            <p:ph type="sldNum" sz="quarter" idx="12"/>
          </p:nvPr>
        </p:nvSpPr>
        <p:spPr/>
        <p:txBody>
          <a:bodyPr/>
          <a:lstStyle/>
          <a:p>
            <a:fld id="{45536E09-86AD-465C-A544-548EAC427A74}" type="slidenum">
              <a:rPr lang="tr-TR" smtClean="0"/>
              <a:t>14</a:t>
            </a:fld>
            <a:endParaRPr lang="tr-TR"/>
          </a:p>
        </p:txBody>
      </p:sp>
      <p:pic>
        <p:nvPicPr>
          <p:cNvPr id="4" name="Picture 3">
            <a:extLst>
              <a:ext uri="{FF2B5EF4-FFF2-40B4-BE49-F238E27FC236}">
                <a16:creationId xmlns:a16="http://schemas.microsoft.com/office/drawing/2014/main" xmlns="" id="{636243D9-682B-4BDD-2DC6-F4C81F4291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
        <p:nvSpPr>
          <p:cNvPr id="5" name="TextBox 4">
            <a:extLst>
              <a:ext uri="{FF2B5EF4-FFF2-40B4-BE49-F238E27FC236}">
                <a16:creationId xmlns:a16="http://schemas.microsoft.com/office/drawing/2014/main" xmlns="" id="{8C2F74DE-C9B2-CDFB-7203-4F3B6AC9429C}"/>
              </a:ext>
            </a:extLst>
          </p:cNvPr>
          <p:cNvSpPr txBox="1"/>
          <p:nvPr/>
        </p:nvSpPr>
        <p:spPr>
          <a:xfrm>
            <a:off x="628650" y="1577692"/>
            <a:ext cx="3727326" cy="5145896"/>
          </a:xfrm>
          <a:prstGeom prst="rect">
            <a:avLst/>
          </a:prstGeom>
          <a:noFill/>
        </p:spPr>
        <p:txBody>
          <a:bodyPr wrap="square">
            <a:spAutoFit/>
          </a:bodyPr>
          <a:lstStyle/>
          <a:p>
            <a:pPr algn="l">
              <a:spcBef>
                <a:spcPts val="1125"/>
              </a:spcBef>
              <a:spcAft>
                <a:spcPts val="1125"/>
              </a:spcAft>
            </a:pPr>
            <a:r>
              <a:rPr lang="tr-TR" sz="1600" b="1" i="0" dirty="0">
                <a:solidFill>
                  <a:srgbClr val="F15922"/>
                </a:solidFill>
                <a:effectLst/>
              </a:rPr>
              <a:t>iKnow</a:t>
            </a:r>
            <a:r>
              <a:rPr lang="en-US" sz="1600" b="0" i="0" dirty="0">
                <a:solidFill>
                  <a:srgbClr val="666666"/>
                </a:solidFill>
                <a:effectLst/>
              </a:rPr>
              <a:t>, taking the end</a:t>
            </a:r>
            <a:r>
              <a:rPr lang="tr-TR" sz="1600" dirty="0">
                <a:solidFill>
                  <a:srgbClr val="666666"/>
                </a:solidFill>
              </a:rPr>
              <a:t>-</a:t>
            </a:r>
            <a:r>
              <a:rPr lang="en-US" sz="1600" b="0" i="0" dirty="0">
                <a:solidFill>
                  <a:srgbClr val="666666"/>
                </a:solidFill>
                <a:effectLst/>
              </a:rPr>
              <a:t>to</a:t>
            </a:r>
            <a:r>
              <a:rPr lang="tr-TR" sz="1600" b="0" i="0" dirty="0">
                <a:solidFill>
                  <a:srgbClr val="666666"/>
                </a:solidFill>
                <a:effectLst/>
              </a:rPr>
              <a:t>-</a:t>
            </a:r>
            <a:r>
              <a:rPr lang="en-US" sz="1600" b="0" i="0" dirty="0">
                <a:solidFill>
                  <a:srgbClr val="666666"/>
                </a:solidFill>
                <a:effectLst/>
              </a:rPr>
              <a:t>end </a:t>
            </a:r>
            <a:r>
              <a:rPr lang="en-US" sz="1600" b="0" i="0" dirty="0" err="1">
                <a:solidFill>
                  <a:srgbClr val="666666"/>
                </a:solidFill>
                <a:effectLst/>
              </a:rPr>
              <a:t>respon</a:t>
            </a:r>
            <a:r>
              <a:rPr lang="tr-TR" sz="1600" b="0" i="0" dirty="0">
                <a:solidFill>
                  <a:srgbClr val="666666"/>
                </a:solidFill>
                <a:effectLst/>
              </a:rPr>
              <a:t>si</a:t>
            </a:r>
            <a:r>
              <a:rPr lang="en-US" sz="1600" b="0" i="0" dirty="0" err="1">
                <a:solidFill>
                  <a:srgbClr val="666666"/>
                </a:solidFill>
                <a:effectLst/>
              </a:rPr>
              <a:t>bility</a:t>
            </a:r>
            <a:r>
              <a:rPr lang="en-US" sz="1600" b="0" i="0" dirty="0">
                <a:solidFill>
                  <a:srgbClr val="666666"/>
                </a:solidFill>
                <a:effectLst/>
              </a:rPr>
              <a:t> of the overall delivery, provides the entire solution of a turn-key project based on the customer requirements. </a:t>
            </a:r>
            <a:r>
              <a:rPr lang="tr-TR" sz="1600" b="1" i="0" dirty="0">
                <a:solidFill>
                  <a:srgbClr val="F15922"/>
                </a:solidFill>
                <a:effectLst/>
              </a:rPr>
              <a:t>iKnow</a:t>
            </a:r>
            <a:r>
              <a:rPr lang="en-US" sz="1600" b="0" i="0" dirty="0">
                <a:solidFill>
                  <a:srgbClr val="666666"/>
                </a:solidFill>
                <a:effectLst/>
              </a:rPr>
              <a:t> provides turn-key solutions covering entire </a:t>
            </a:r>
            <a:r>
              <a:rPr lang="en-US" sz="1600" b="1" i="0" dirty="0">
                <a:solidFill>
                  <a:srgbClr val="666666"/>
                </a:solidFill>
                <a:effectLst/>
              </a:rPr>
              <a:t>SDLC</a:t>
            </a:r>
            <a:r>
              <a:rPr lang="en-US" sz="1600" b="0" i="0" dirty="0">
                <a:solidFill>
                  <a:srgbClr val="666666"/>
                </a:solidFill>
                <a:effectLst/>
              </a:rPr>
              <a:t> processes from analysis, design, development and  testing to operation phases. </a:t>
            </a:r>
          </a:p>
          <a:p>
            <a:pPr algn="l">
              <a:spcBef>
                <a:spcPts val="1125"/>
              </a:spcBef>
              <a:spcAft>
                <a:spcPts val="1125"/>
              </a:spcAft>
            </a:pPr>
            <a:r>
              <a:rPr lang="tr-TR" sz="1600" b="1" i="0" dirty="0">
                <a:solidFill>
                  <a:srgbClr val="F15922"/>
                </a:solidFill>
                <a:effectLst/>
              </a:rPr>
              <a:t>iKnow</a:t>
            </a:r>
            <a:r>
              <a:rPr lang="en-US" sz="1600" b="0" i="0" dirty="0">
                <a:solidFill>
                  <a:srgbClr val="666666"/>
                </a:solidFill>
                <a:effectLst/>
              </a:rPr>
              <a:t> closely follows the up-to-date technologies and ensures that delivered solutions are easily integrated with the existing systems and solutions of the customers.</a:t>
            </a:r>
            <a:br>
              <a:rPr lang="en-US" sz="1600" b="0" i="0" dirty="0">
                <a:solidFill>
                  <a:srgbClr val="666666"/>
                </a:solidFill>
                <a:effectLst/>
              </a:rPr>
            </a:br>
            <a:r>
              <a:rPr lang="en-US" sz="1600" b="0" i="0" dirty="0">
                <a:solidFill>
                  <a:srgbClr val="666666"/>
                </a:solidFill>
                <a:effectLst/>
              </a:rPr>
              <a:t/>
            </a:r>
            <a:br>
              <a:rPr lang="en-US" sz="1600" b="0" i="0" dirty="0">
                <a:solidFill>
                  <a:srgbClr val="666666"/>
                </a:solidFill>
                <a:effectLst/>
              </a:rPr>
            </a:br>
            <a:r>
              <a:rPr lang="tr-TR" sz="1600" b="1" i="0" dirty="0">
                <a:solidFill>
                  <a:srgbClr val="F15922"/>
                </a:solidFill>
                <a:effectLst/>
              </a:rPr>
              <a:t>iKnow</a:t>
            </a:r>
            <a:r>
              <a:rPr lang="en-US" sz="1600" b="0" i="0" dirty="0">
                <a:solidFill>
                  <a:srgbClr val="666666"/>
                </a:solidFill>
                <a:effectLst/>
              </a:rPr>
              <a:t> ensures continuous and efficient operation of information technology infrastructures by providing turn-key solutions.</a:t>
            </a:r>
          </a:p>
          <a:p>
            <a:pPr algn="l">
              <a:lnSpc>
                <a:spcPts val="1500"/>
              </a:lnSpc>
              <a:buFont typeface="Arial" panose="020B0604020202020204" pitchFamily="34" charset="0"/>
              <a:buChar char="•"/>
            </a:pPr>
            <a:endParaRPr lang="en-US" sz="1600" b="0" i="0" dirty="0">
              <a:effectLst/>
            </a:endParaRPr>
          </a:p>
        </p:txBody>
      </p:sp>
      <p:pic>
        <p:nvPicPr>
          <p:cNvPr id="6" name="Picture 5">
            <a:extLst>
              <a:ext uri="{FF2B5EF4-FFF2-40B4-BE49-F238E27FC236}">
                <a16:creationId xmlns:a16="http://schemas.microsoft.com/office/drawing/2014/main" xmlns="" id="{AFA21BD1-CC89-FE19-C6CF-77463DB3F207}"/>
              </a:ext>
            </a:extLst>
          </p:cNvPr>
          <p:cNvPicPr>
            <a:picLocks noChangeAspect="1"/>
          </p:cNvPicPr>
          <p:nvPr/>
        </p:nvPicPr>
        <p:blipFill>
          <a:blip r:embed="rId3">
            <a:extLst>
              <a:ext uri="{28A0092B-C50C-407E-A947-70E740481C1C}">
                <a14:useLocalDpi xmlns:a14="http://schemas.microsoft.com/office/drawing/2010/main" val="0"/>
              </a:ext>
            </a:extLst>
          </a:blip>
          <a:srcRect l="24013" t="3341" r="23225" b="3341"/>
          <a:stretch/>
        </p:blipFill>
        <p:spPr>
          <a:xfrm>
            <a:off x="4283968" y="1682756"/>
            <a:ext cx="4824536" cy="4266524"/>
          </a:xfrm>
          <a:prstGeom prst="rect">
            <a:avLst/>
          </a:prstGeom>
          <a:effectLst>
            <a:softEdge rad="38100"/>
          </a:effectLst>
        </p:spPr>
      </p:pic>
    </p:spTree>
    <p:extLst>
      <p:ext uri="{BB962C8B-B14F-4D97-AF65-F5344CB8AC3E}">
        <p14:creationId xmlns:p14="http://schemas.microsoft.com/office/powerpoint/2010/main" val="35925475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54F4AF8-54A1-AC61-5FF0-C25DC7ED36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A188D36-4107-A93B-7D59-BE5A1BF5A97D}"/>
              </a:ext>
            </a:extLst>
          </p:cNvPr>
          <p:cNvSpPr>
            <a:spLocks noGrp="1"/>
          </p:cNvSpPr>
          <p:nvPr>
            <p:ph type="title"/>
          </p:nvPr>
        </p:nvSpPr>
        <p:spPr>
          <a:xfrm>
            <a:off x="628650" y="365127"/>
            <a:ext cx="7886700" cy="831626"/>
          </a:xfrm>
        </p:spPr>
        <p:txBody>
          <a:bodyPr/>
          <a:lstStyle/>
          <a:p>
            <a:pPr algn="l">
              <a:spcAft>
                <a:spcPts val="750"/>
              </a:spcAft>
            </a:pPr>
            <a:r>
              <a:rPr lang="en-US" sz="3600" b="1" dirty="0">
                <a:solidFill>
                  <a:srgbClr val="3E3A5F"/>
                </a:solidFill>
              </a:rPr>
              <a:t>Working Models</a:t>
            </a:r>
            <a:r>
              <a:rPr lang="tr-TR" sz="3600" b="1" dirty="0">
                <a:solidFill>
                  <a:srgbClr val="3E3A5F"/>
                </a:solidFill>
              </a:rPr>
              <a:t> - </a:t>
            </a:r>
            <a:r>
              <a:rPr lang="en-US" sz="3600" b="1" dirty="0">
                <a:solidFill>
                  <a:srgbClr val="3E3A5F"/>
                </a:solidFill>
              </a:rPr>
              <a:t>Managed Services</a:t>
            </a:r>
          </a:p>
        </p:txBody>
      </p:sp>
      <p:sp>
        <p:nvSpPr>
          <p:cNvPr id="11" name="Footer Placeholder 10">
            <a:extLst>
              <a:ext uri="{FF2B5EF4-FFF2-40B4-BE49-F238E27FC236}">
                <a16:creationId xmlns:a16="http://schemas.microsoft.com/office/drawing/2014/main" xmlns="" id="{0E5FCB16-A99B-5E5E-46A0-59DD1827F591}"/>
              </a:ext>
            </a:extLst>
          </p:cNvPr>
          <p:cNvSpPr>
            <a:spLocks noGrp="1"/>
          </p:cNvSpPr>
          <p:nvPr>
            <p:ph type="ftr" sz="quarter" idx="11"/>
          </p:nvPr>
        </p:nvSpPr>
        <p:spPr/>
        <p:txBody>
          <a:bodyPr/>
          <a:lstStyle/>
          <a:p>
            <a:r>
              <a:rPr lang="tr-TR" dirty="0"/>
              <a:t>iKnow Technology</a:t>
            </a:r>
          </a:p>
        </p:txBody>
      </p:sp>
      <p:sp>
        <p:nvSpPr>
          <p:cNvPr id="12" name="Slide Number Placeholder 11">
            <a:extLst>
              <a:ext uri="{FF2B5EF4-FFF2-40B4-BE49-F238E27FC236}">
                <a16:creationId xmlns:a16="http://schemas.microsoft.com/office/drawing/2014/main" xmlns="" id="{437900CA-CAE8-27CD-F72A-D971183C3106}"/>
              </a:ext>
            </a:extLst>
          </p:cNvPr>
          <p:cNvSpPr>
            <a:spLocks noGrp="1"/>
          </p:cNvSpPr>
          <p:nvPr>
            <p:ph type="sldNum" sz="quarter" idx="12"/>
          </p:nvPr>
        </p:nvSpPr>
        <p:spPr/>
        <p:txBody>
          <a:bodyPr/>
          <a:lstStyle/>
          <a:p>
            <a:fld id="{45536E09-86AD-465C-A544-548EAC427A74}" type="slidenum">
              <a:rPr lang="tr-TR" smtClean="0"/>
              <a:t>15</a:t>
            </a:fld>
            <a:endParaRPr lang="tr-TR"/>
          </a:p>
        </p:txBody>
      </p:sp>
      <p:pic>
        <p:nvPicPr>
          <p:cNvPr id="4" name="Picture 3">
            <a:extLst>
              <a:ext uri="{FF2B5EF4-FFF2-40B4-BE49-F238E27FC236}">
                <a16:creationId xmlns:a16="http://schemas.microsoft.com/office/drawing/2014/main" xmlns="" id="{F4712673-453D-27E0-BD0E-286CBED44B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
        <p:nvSpPr>
          <p:cNvPr id="5" name="TextBox 4">
            <a:extLst>
              <a:ext uri="{FF2B5EF4-FFF2-40B4-BE49-F238E27FC236}">
                <a16:creationId xmlns:a16="http://schemas.microsoft.com/office/drawing/2014/main" xmlns="" id="{11B726B4-0707-F053-F5C8-5CA19F3B761B}"/>
              </a:ext>
            </a:extLst>
          </p:cNvPr>
          <p:cNvSpPr txBox="1"/>
          <p:nvPr/>
        </p:nvSpPr>
        <p:spPr>
          <a:xfrm>
            <a:off x="727742" y="1249379"/>
            <a:ext cx="8092730" cy="1851789"/>
          </a:xfrm>
          <a:prstGeom prst="rect">
            <a:avLst/>
          </a:prstGeom>
          <a:noFill/>
        </p:spPr>
        <p:txBody>
          <a:bodyPr wrap="square">
            <a:spAutoFit/>
          </a:bodyPr>
          <a:lstStyle/>
          <a:p>
            <a:pPr algn="l">
              <a:spcBef>
                <a:spcPts val="1125"/>
              </a:spcBef>
              <a:spcAft>
                <a:spcPts val="1125"/>
              </a:spcAft>
            </a:pPr>
            <a:r>
              <a:rPr lang="tr-TR" sz="1600" b="1" dirty="0">
                <a:solidFill>
                  <a:srgbClr val="F15922"/>
                </a:solidFill>
                <a:latin typeface="Calibri" panose="020F0502020204030204" pitchFamily="34" charset="0"/>
              </a:rPr>
              <a:t>iKnow</a:t>
            </a:r>
            <a:r>
              <a:rPr lang="en-US" sz="1600" b="0" i="0" dirty="0">
                <a:solidFill>
                  <a:srgbClr val="666666"/>
                </a:solidFill>
                <a:effectLst/>
                <a:latin typeface="Calibri" panose="020F0502020204030204" pitchFamily="34" charset="0"/>
              </a:rPr>
              <a:t> provides managed services by proactively managing It functions on behalf of our customers.</a:t>
            </a:r>
            <a:br>
              <a:rPr lang="en-US" sz="1600" b="0" i="0" dirty="0">
                <a:solidFill>
                  <a:srgbClr val="666666"/>
                </a:solidFill>
                <a:effectLst/>
                <a:latin typeface="Calibri" panose="020F0502020204030204" pitchFamily="34" charset="0"/>
              </a:rPr>
            </a:br>
            <a:r>
              <a:rPr lang="en-US" sz="1600" b="0" i="0" dirty="0">
                <a:solidFill>
                  <a:srgbClr val="666666"/>
                </a:solidFill>
                <a:effectLst/>
                <a:latin typeface="Calibri" panose="020F0502020204030204" pitchFamily="34" charset="0"/>
              </a:rPr>
              <a:t>As </a:t>
            </a:r>
            <a:r>
              <a:rPr lang="en-US" sz="1600" b="1" i="0" dirty="0">
                <a:solidFill>
                  <a:srgbClr val="666666"/>
                </a:solidFill>
                <a:effectLst/>
                <a:latin typeface="Calibri" panose="020F0502020204030204" pitchFamily="34" charset="0"/>
              </a:rPr>
              <a:t>Managed Service Provider</a:t>
            </a:r>
            <a:r>
              <a:rPr lang="en-US" sz="1600" b="0" i="0" dirty="0">
                <a:solidFill>
                  <a:srgbClr val="666666"/>
                </a:solidFill>
                <a:effectLst/>
                <a:latin typeface="Calibri" panose="020F0502020204030204" pitchFamily="34" charset="0"/>
              </a:rPr>
              <a:t>, </a:t>
            </a:r>
            <a:r>
              <a:rPr lang="tr-TR" sz="1600" b="1" dirty="0">
                <a:solidFill>
                  <a:srgbClr val="F15922"/>
                </a:solidFill>
                <a:latin typeface="Calibri" panose="020F0502020204030204" pitchFamily="34" charset="0"/>
              </a:rPr>
              <a:t>iKnow</a:t>
            </a:r>
            <a:r>
              <a:rPr lang="en-US" sz="1600" b="0" i="0" dirty="0">
                <a:solidFill>
                  <a:srgbClr val="666666"/>
                </a:solidFill>
                <a:effectLst/>
                <a:latin typeface="Calibri" panose="020F0502020204030204" pitchFamily="34" charset="0"/>
              </a:rPr>
              <a:t> ensures that required IT functions and services are delivered efficiently within the customer operations. </a:t>
            </a:r>
            <a:endParaRPr lang="en-US" sz="1600" b="0" i="0" dirty="0">
              <a:solidFill>
                <a:srgbClr val="666666"/>
              </a:solidFill>
              <a:effectLst/>
              <a:latin typeface="Helvetica Neue" panose="02000503040000020004" pitchFamily="50" charset="-52"/>
            </a:endParaRPr>
          </a:p>
          <a:p>
            <a:pPr algn="l">
              <a:spcBef>
                <a:spcPts val="1125"/>
              </a:spcBef>
              <a:spcAft>
                <a:spcPts val="1125"/>
              </a:spcAft>
            </a:pPr>
            <a:r>
              <a:rPr lang="tr-TR" sz="1600" b="1" dirty="0">
                <a:solidFill>
                  <a:srgbClr val="F15922"/>
                </a:solidFill>
                <a:latin typeface="Calibri" panose="020F0502020204030204" pitchFamily="34" charset="0"/>
              </a:rPr>
              <a:t>iKnow</a:t>
            </a:r>
            <a:r>
              <a:rPr lang="en-US" sz="1600" b="0" i="0" dirty="0">
                <a:solidFill>
                  <a:srgbClr val="666666"/>
                </a:solidFill>
                <a:effectLst/>
                <a:latin typeface="Calibri" panose="020F0502020204030204" pitchFamily="34" charset="0"/>
              </a:rPr>
              <a:t> aims to create quality work by providing cost saving managed services and gives </a:t>
            </a:r>
            <a:r>
              <a:rPr lang="en-US" sz="1600" b="1" i="0" dirty="0">
                <a:solidFill>
                  <a:srgbClr val="666666"/>
                </a:solidFill>
                <a:effectLst/>
                <a:latin typeface="Calibri" panose="020F0502020204030204" pitchFamily="34" charset="0"/>
              </a:rPr>
              <a:t>7/24</a:t>
            </a:r>
            <a:r>
              <a:rPr lang="tr-TR" sz="1600" b="1" i="0" dirty="0">
                <a:solidFill>
                  <a:srgbClr val="666666"/>
                </a:solidFill>
                <a:effectLst/>
                <a:latin typeface="Calibri" panose="020F0502020204030204" pitchFamily="34" charset="0"/>
              </a:rPr>
              <a:t>/365</a:t>
            </a:r>
            <a:r>
              <a:rPr lang="en-US" sz="1600" b="1" i="0" dirty="0">
                <a:solidFill>
                  <a:srgbClr val="666666"/>
                </a:solidFill>
                <a:effectLst/>
                <a:latin typeface="Calibri" panose="020F0502020204030204" pitchFamily="34" charset="0"/>
              </a:rPr>
              <a:t> </a:t>
            </a:r>
            <a:r>
              <a:rPr lang="en-US" sz="1600" b="0" i="0" dirty="0">
                <a:solidFill>
                  <a:srgbClr val="666666"/>
                </a:solidFill>
                <a:effectLst/>
                <a:latin typeface="Calibri" panose="020F0502020204030204" pitchFamily="34" charset="0"/>
              </a:rPr>
              <a:t>support to complete all processes successfully with our experienced team.</a:t>
            </a:r>
            <a:endParaRPr lang="en-US" sz="1600" b="0" i="0" dirty="0">
              <a:solidFill>
                <a:srgbClr val="666666"/>
              </a:solidFill>
              <a:effectLst/>
              <a:latin typeface="Helvetica Neue" panose="02000503040000020004" pitchFamily="50" charset="-52"/>
            </a:endParaRPr>
          </a:p>
        </p:txBody>
      </p:sp>
      <p:pic>
        <p:nvPicPr>
          <p:cNvPr id="6" name="Picture 5">
            <a:extLst>
              <a:ext uri="{FF2B5EF4-FFF2-40B4-BE49-F238E27FC236}">
                <a16:creationId xmlns:a16="http://schemas.microsoft.com/office/drawing/2014/main" xmlns="" id="{5548C43E-9D0C-1628-4653-015393840A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3736" y="3097938"/>
            <a:ext cx="6096528" cy="3261643"/>
          </a:xfrm>
          <a:prstGeom prst="rect">
            <a:avLst/>
          </a:prstGeom>
          <a:effectLst>
            <a:softEdge rad="88900"/>
          </a:effectLst>
        </p:spPr>
      </p:pic>
    </p:spTree>
    <p:extLst>
      <p:ext uri="{BB962C8B-B14F-4D97-AF65-F5344CB8AC3E}">
        <p14:creationId xmlns:p14="http://schemas.microsoft.com/office/powerpoint/2010/main" val="5052950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F7CFABE-E920-0AD3-9542-236D31D4A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53CA052-0280-F4C0-5F91-33A852FE0D8A}"/>
              </a:ext>
            </a:extLst>
          </p:cNvPr>
          <p:cNvSpPr>
            <a:spLocks noGrp="1"/>
          </p:cNvSpPr>
          <p:nvPr>
            <p:ph type="title"/>
          </p:nvPr>
        </p:nvSpPr>
        <p:spPr>
          <a:xfrm>
            <a:off x="628650" y="365127"/>
            <a:ext cx="7886700" cy="831626"/>
          </a:xfrm>
        </p:spPr>
        <p:txBody>
          <a:bodyPr/>
          <a:lstStyle/>
          <a:p>
            <a:pPr algn="l">
              <a:spcAft>
                <a:spcPts val="750"/>
              </a:spcAft>
            </a:pPr>
            <a:r>
              <a:rPr lang="en-US" sz="3600" b="1" dirty="0">
                <a:solidFill>
                  <a:srgbClr val="3E3A5F"/>
                </a:solidFill>
              </a:rPr>
              <a:t>Working Models</a:t>
            </a:r>
            <a:r>
              <a:rPr lang="tr-TR" sz="3600" b="1" dirty="0">
                <a:solidFill>
                  <a:srgbClr val="3E3A5F"/>
                </a:solidFill>
              </a:rPr>
              <a:t> - </a:t>
            </a:r>
            <a:r>
              <a:rPr lang="en-US" sz="3600" b="1" dirty="0">
                <a:solidFill>
                  <a:srgbClr val="3E3A5F"/>
                </a:solidFill>
              </a:rPr>
              <a:t>Consultancy</a:t>
            </a:r>
          </a:p>
        </p:txBody>
      </p:sp>
      <p:sp>
        <p:nvSpPr>
          <p:cNvPr id="11" name="Footer Placeholder 10">
            <a:extLst>
              <a:ext uri="{FF2B5EF4-FFF2-40B4-BE49-F238E27FC236}">
                <a16:creationId xmlns:a16="http://schemas.microsoft.com/office/drawing/2014/main" xmlns="" id="{4F82DE5B-BEF9-A750-108C-7F327041B245}"/>
              </a:ext>
            </a:extLst>
          </p:cNvPr>
          <p:cNvSpPr>
            <a:spLocks noGrp="1"/>
          </p:cNvSpPr>
          <p:nvPr>
            <p:ph type="ftr" sz="quarter" idx="11"/>
          </p:nvPr>
        </p:nvSpPr>
        <p:spPr/>
        <p:txBody>
          <a:bodyPr/>
          <a:lstStyle/>
          <a:p>
            <a:r>
              <a:rPr lang="tr-TR" dirty="0"/>
              <a:t>iKnow Technology</a:t>
            </a:r>
          </a:p>
        </p:txBody>
      </p:sp>
      <p:sp>
        <p:nvSpPr>
          <p:cNvPr id="12" name="Slide Number Placeholder 11">
            <a:extLst>
              <a:ext uri="{FF2B5EF4-FFF2-40B4-BE49-F238E27FC236}">
                <a16:creationId xmlns:a16="http://schemas.microsoft.com/office/drawing/2014/main" xmlns="" id="{FAC2E01E-76A5-F2B1-6DF5-6D6193B00AB6}"/>
              </a:ext>
            </a:extLst>
          </p:cNvPr>
          <p:cNvSpPr>
            <a:spLocks noGrp="1"/>
          </p:cNvSpPr>
          <p:nvPr>
            <p:ph type="sldNum" sz="quarter" idx="12"/>
          </p:nvPr>
        </p:nvSpPr>
        <p:spPr/>
        <p:txBody>
          <a:bodyPr/>
          <a:lstStyle/>
          <a:p>
            <a:fld id="{45536E09-86AD-465C-A544-548EAC427A74}" type="slidenum">
              <a:rPr lang="tr-TR" smtClean="0"/>
              <a:t>16</a:t>
            </a:fld>
            <a:endParaRPr lang="tr-TR"/>
          </a:p>
        </p:txBody>
      </p:sp>
      <p:pic>
        <p:nvPicPr>
          <p:cNvPr id="4" name="Picture 3">
            <a:extLst>
              <a:ext uri="{FF2B5EF4-FFF2-40B4-BE49-F238E27FC236}">
                <a16:creationId xmlns:a16="http://schemas.microsoft.com/office/drawing/2014/main" xmlns="" id="{5C9D3F3E-DFB4-0991-2948-29E35198BC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
        <p:nvSpPr>
          <p:cNvPr id="5" name="TextBox 4">
            <a:extLst>
              <a:ext uri="{FF2B5EF4-FFF2-40B4-BE49-F238E27FC236}">
                <a16:creationId xmlns:a16="http://schemas.microsoft.com/office/drawing/2014/main" xmlns="" id="{AFB286D5-C9FA-7780-EBCF-A782FB80893F}"/>
              </a:ext>
            </a:extLst>
          </p:cNvPr>
          <p:cNvSpPr txBox="1"/>
          <p:nvPr/>
        </p:nvSpPr>
        <p:spPr>
          <a:xfrm>
            <a:off x="742950" y="1425908"/>
            <a:ext cx="7772400" cy="2344231"/>
          </a:xfrm>
          <a:prstGeom prst="rect">
            <a:avLst/>
          </a:prstGeom>
          <a:noFill/>
        </p:spPr>
        <p:txBody>
          <a:bodyPr wrap="square">
            <a:spAutoFit/>
          </a:bodyPr>
          <a:lstStyle/>
          <a:p>
            <a:pPr algn="l">
              <a:spcBef>
                <a:spcPts val="1125"/>
              </a:spcBef>
              <a:spcAft>
                <a:spcPts val="1125"/>
              </a:spcAft>
            </a:pPr>
            <a:r>
              <a:rPr lang="tr-TR" sz="1600" b="1" i="0" dirty="0">
                <a:solidFill>
                  <a:srgbClr val="F15922"/>
                </a:solidFill>
                <a:effectLst/>
                <a:latin typeface="Calibri" panose="020F0502020204030204" pitchFamily="34" charset="0"/>
              </a:rPr>
              <a:t>iKnow</a:t>
            </a:r>
            <a:r>
              <a:rPr lang="en-US" sz="1600" b="0" i="0" dirty="0">
                <a:solidFill>
                  <a:srgbClr val="666666"/>
                </a:solidFill>
                <a:effectLst/>
                <a:latin typeface="Calibri" panose="020F0502020204030204" pitchFamily="34" charset="0"/>
              </a:rPr>
              <a:t> provides consultancy services to increase the quality of service by using the latest technologies in favor of our customers. Our vision is to serve advantages of information technologies to the customers as a benefit.</a:t>
            </a:r>
            <a:endParaRPr lang="tr-TR" sz="1600" dirty="0">
              <a:solidFill>
                <a:srgbClr val="666666"/>
              </a:solidFill>
              <a:latin typeface="Helvetica Neue" panose="02000503040000020004" pitchFamily="50" charset="-52"/>
            </a:endParaRPr>
          </a:p>
          <a:p>
            <a:pPr algn="l">
              <a:spcBef>
                <a:spcPts val="1125"/>
              </a:spcBef>
              <a:spcAft>
                <a:spcPts val="1125"/>
              </a:spcAft>
            </a:pPr>
            <a:r>
              <a:rPr lang="en-US" sz="1600" b="0" i="0" dirty="0">
                <a:solidFill>
                  <a:srgbClr val="666666"/>
                </a:solidFill>
                <a:effectLst/>
                <a:latin typeface="Calibri" panose="020F0502020204030204" pitchFamily="34" charset="0"/>
              </a:rPr>
              <a:t>We provide consultancy services in all areas of information technologies such as management, methodology, application, software, testing and operational support services.</a:t>
            </a:r>
            <a:br>
              <a:rPr lang="en-US" sz="1600" b="0" i="0" dirty="0">
                <a:solidFill>
                  <a:srgbClr val="666666"/>
                </a:solidFill>
                <a:effectLst/>
                <a:latin typeface="Calibri" panose="020F0502020204030204" pitchFamily="34" charset="0"/>
              </a:rPr>
            </a:br>
            <a:r>
              <a:rPr lang="en-US" sz="1600" b="0" i="0" dirty="0">
                <a:solidFill>
                  <a:srgbClr val="666666"/>
                </a:solidFill>
                <a:effectLst/>
                <a:latin typeface="Calibri" panose="020F0502020204030204" pitchFamily="34" charset="0"/>
              </a:rPr>
              <a:t/>
            </a:r>
            <a:br>
              <a:rPr lang="en-US" sz="1600" b="0" i="0" dirty="0">
                <a:solidFill>
                  <a:srgbClr val="666666"/>
                </a:solidFill>
                <a:effectLst/>
                <a:latin typeface="Calibri" panose="020F0502020204030204" pitchFamily="34" charset="0"/>
              </a:rPr>
            </a:br>
            <a:r>
              <a:rPr lang="tr-TR" sz="1600" b="1" i="0" dirty="0">
                <a:solidFill>
                  <a:srgbClr val="F15922"/>
                </a:solidFill>
                <a:effectLst/>
                <a:latin typeface="Calibri" panose="020F0502020204030204" pitchFamily="34" charset="0"/>
              </a:rPr>
              <a:t>iKnow</a:t>
            </a:r>
            <a:r>
              <a:rPr lang="en-US" sz="1600" b="0" i="0" dirty="0">
                <a:solidFill>
                  <a:srgbClr val="666666"/>
                </a:solidFill>
                <a:effectLst/>
                <a:latin typeface="Calibri" panose="020F0502020204030204" pitchFamily="34" charset="0"/>
              </a:rPr>
              <a:t> supports its clients with expertise in every aspect of the software, from choice of technology to enterprise architecture for testing services, integration and training.</a:t>
            </a:r>
            <a:endParaRPr lang="en-US" sz="1600" b="0" i="0" dirty="0">
              <a:solidFill>
                <a:srgbClr val="666666"/>
              </a:solidFill>
              <a:effectLst/>
              <a:latin typeface="Helvetica Neue" panose="02000503040000020004" pitchFamily="50" charset="-52"/>
            </a:endParaRPr>
          </a:p>
        </p:txBody>
      </p:sp>
      <p:pic>
        <p:nvPicPr>
          <p:cNvPr id="6" name="Picture 5">
            <a:extLst>
              <a:ext uri="{FF2B5EF4-FFF2-40B4-BE49-F238E27FC236}">
                <a16:creationId xmlns:a16="http://schemas.microsoft.com/office/drawing/2014/main" xmlns="" id="{BBDB2547-3363-C133-1006-E89371831D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0200" y="3758453"/>
            <a:ext cx="5508104" cy="2694883"/>
          </a:xfrm>
          <a:prstGeom prst="rect">
            <a:avLst/>
          </a:prstGeom>
        </p:spPr>
      </p:pic>
    </p:spTree>
    <p:extLst>
      <p:ext uri="{BB962C8B-B14F-4D97-AF65-F5344CB8AC3E}">
        <p14:creationId xmlns:p14="http://schemas.microsoft.com/office/powerpoint/2010/main" val="17735269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8A925FA-CECE-E349-76F2-89F696447A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9081288-B709-B5F8-4FE7-F58C0237DC16}"/>
              </a:ext>
            </a:extLst>
          </p:cNvPr>
          <p:cNvSpPr>
            <a:spLocks noGrp="1"/>
          </p:cNvSpPr>
          <p:nvPr>
            <p:ph type="title"/>
          </p:nvPr>
        </p:nvSpPr>
        <p:spPr>
          <a:xfrm>
            <a:off x="628650" y="365127"/>
            <a:ext cx="7886700" cy="831626"/>
          </a:xfrm>
        </p:spPr>
        <p:txBody>
          <a:bodyPr/>
          <a:lstStyle/>
          <a:p>
            <a:pPr algn="l">
              <a:spcAft>
                <a:spcPts val="750"/>
              </a:spcAft>
            </a:pPr>
            <a:r>
              <a:rPr lang="en-US" sz="3600" b="1" dirty="0">
                <a:solidFill>
                  <a:srgbClr val="3E3A5F"/>
                </a:solidFill>
              </a:rPr>
              <a:t>Working Models</a:t>
            </a:r>
            <a:r>
              <a:rPr lang="tr-TR" sz="3600" b="1" dirty="0">
                <a:solidFill>
                  <a:srgbClr val="3E3A5F"/>
                </a:solidFill>
              </a:rPr>
              <a:t> - </a:t>
            </a:r>
            <a:r>
              <a:rPr lang="en-US" sz="3600" b="1" dirty="0">
                <a:solidFill>
                  <a:srgbClr val="3E3A5F"/>
                </a:solidFill>
              </a:rPr>
              <a:t>Outsourcing Services</a:t>
            </a:r>
          </a:p>
        </p:txBody>
      </p:sp>
      <p:sp>
        <p:nvSpPr>
          <p:cNvPr id="11" name="Footer Placeholder 10">
            <a:extLst>
              <a:ext uri="{FF2B5EF4-FFF2-40B4-BE49-F238E27FC236}">
                <a16:creationId xmlns:a16="http://schemas.microsoft.com/office/drawing/2014/main" xmlns="" id="{4C7EABA0-E3B0-71BF-818A-E7A4B559316D}"/>
              </a:ext>
            </a:extLst>
          </p:cNvPr>
          <p:cNvSpPr>
            <a:spLocks noGrp="1"/>
          </p:cNvSpPr>
          <p:nvPr>
            <p:ph type="ftr" sz="quarter" idx="11"/>
          </p:nvPr>
        </p:nvSpPr>
        <p:spPr/>
        <p:txBody>
          <a:bodyPr/>
          <a:lstStyle/>
          <a:p>
            <a:r>
              <a:rPr lang="tr-TR" dirty="0"/>
              <a:t>iKnow Technology</a:t>
            </a:r>
          </a:p>
        </p:txBody>
      </p:sp>
      <p:sp>
        <p:nvSpPr>
          <p:cNvPr id="12" name="Slide Number Placeholder 11">
            <a:extLst>
              <a:ext uri="{FF2B5EF4-FFF2-40B4-BE49-F238E27FC236}">
                <a16:creationId xmlns:a16="http://schemas.microsoft.com/office/drawing/2014/main" xmlns="" id="{1D04C8AF-D62A-3612-F683-EF5E0A8F27E1}"/>
              </a:ext>
            </a:extLst>
          </p:cNvPr>
          <p:cNvSpPr>
            <a:spLocks noGrp="1"/>
          </p:cNvSpPr>
          <p:nvPr>
            <p:ph type="sldNum" sz="quarter" idx="12"/>
          </p:nvPr>
        </p:nvSpPr>
        <p:spPr/>
        <p:txBody>
          <a:bodyPr/>
          <a:lstStyle/>
          <a:p>
            <a:fld id="{45536E09-86AD-465C-A544-548EAC427A74}" type="slidenum">
              <a:rPr lang="tr-TR" smtClean="0"/>
              <a:t>17</a:t>
            </a:fld>
            <a:endParaRPr lang="tr-TR"/>
          </a:p>
        </p:txBody>
      </p:sp>
      <p:pic>
        <p:nvPicPr>
          <p:cNvPr id="4" name="Picture 3">
            <a:extLst>
              <a:ext uri="{FF2B5EF4-FFF2-40B4-BE49-F238E27FC236}">
                <a16:creationId xmlns:a16="http://schemas.microsoft.com/office/drawing/2014/main" xmlns="" id="{98A28349-BAA1-2C1A-1B31-03FC751D83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
        <p:nvSpPr>
          <p:cNvPr id="5" name="TextBox 4">
            <a:extLst>
              <a:ext uri="{FF2B5EF4-FFF2-40B4-BE49-F238E27FC236}">
                <a16:creationId xmlns:a16="http://schemas.microsoft.com/office/drawing/2014/main" xmlns="" id="{6E23FC33-025B-63C5-4C71-BF1A3BA98B3F}"/>
              </a:ext>
            </a:extLst>
          </p:cNvPr>
          <p:cNvSpPr txBox="1"/>
          <p:nvPr/>
        </p:nvSpPr>
        <p:spPr>
          <a:xfrm>
            <a:off x="683568" y="1166417"/>
            <a:ext cx="7886700" cy="5624617"/>
          </a:xfrm>
          <a:prstGeom prst="rect">
            <a:avLst/>
          </a:prstGeom>
          <a:noFill/>
        </p:spPr>
        <p:txBody>
          <a:bodyPr wrap="square">
            <a:spAutoFit/>
          </a:bodyPr>
          <a:lstStyle/>
          <a:p>
            <a:pPr algn="l" rtl="0"/>
            <a:r>
              <a:rPr lang="tr-TR" sz="1600" b="1" i="0" dirty="0">
                <a:solidFill>
                  <a:srgbClr val="F15922"/>
                </a:solidFill>
                <a:effectLst/>
                <a:latin typeface="Calibri" panose="020F0502020204030204" pitchFamily="34" charset="0"/>
              </a:rPr>
              <a:t>iKnow</a:t>
            </a:r>
            <a:r>
              <a:rPr lang="en-US" sz="1600" b="0" i="0" dirty="0">
                <a:solidFill>
                  <a:srgbClr val="666666"/>
                </a:solidFill>
                <a:effectLst/>
                <a:latin typeface="Calibri" panose="020F0502020204030204" pitchFamily="34" charset="0"/>
              </a:rPr>
              <a:t> provides wide range of Outsourcing Services, with its prior aim of creating “Customer Satisfaction”.  It is crucial for us to increase Customer productivity and operational quality by offering “Correct” Resources to our customers.  </a:t>
            </a:r>
            <a:endParaRPr lang="en-US" sz="1600" b="0" i="0" dirty="0">
              <a:solidFill>
                <a:srgbClr val="666666"/>
              </a:solidFill>
              <a:effectLst/>
              <a:latin typeface="Helvetica Neue" panose="02000503040000020004" pitchFamily="50" charset="-52"/>
            </a:endParaRPr>
          </a:p>
          <a:p>
            <a:pPr algn="l">
              <a:spcBef>
                <a:spcPts val="1125"/>
              </a:spcBef>
              <a:spcAft>
                <a:spcPts val="1125"/>
              </a:spcAft>
            </a:pPr>
            <a:r>
              <a:rPr lang="en-US" sz="1600" b="0" i="0" dirty="0">
                <a:solidFill>
                  <a:srgbClr val="666666"/>
                </a:solidFill>
                <a:effectLst/>
                <a:latin typeface="Calibri" panose="020F0502020204030204" pitchFamily="34" charset="0"/>
              </a:rPr>
              <a:t>We aim to add a value to our Customers with our outsourcing services.</a:t>
            </a:r>
            <a:br>
              <a:rPr lang="en-US" sz="1600" b="0" i="0" dirty="0">
                <a:solidFill>
                  <a:srgbClr val="666666"/>
                </a:solidFill>
                <a:effectLst/>
                <a:latin typeface="Calibri" panose="020F0502020204030204" pitchFamily="34" charset="0"/>
              </a:rPr>
            </a:br>
            <a:r>
              <a:rPr lang="tr-TR" sz="1600" b="1" i="0" dirty="0">
                <a:solidFill>
                  <a:srgbClr val="F15922"/>
                </a:solidFill>
                <a:effectLst/>
                <a:latin typeface="Calibri" panose="020F0502020204030204" pitchFamily="34" charset="0"/>
              </a:rPr>
              <a:t>iKnow</a:t>
            </a:r>
            <a:r>
              <a:rPr lang="en-US" sz="1600" b="0" i="0" dirty="0">
                <a:solidFill>
                  <a:srgbClr val="666666"/>
                </a:solidFill>
                <a:effectLst/>
                <a:latin typeface="Calibri" panose="020F0502020204030204" pitchFamily="34" charset="0"/>
              </a:rPr>
              <a:t> offers outsourcing services for </a:t>
            </a:r>
            <a:r>
              <a:rPr lang="en-US" sz="1600" b="1" i="0" dirty="0">
                <a:solidFill>
                  <a:srgbClr val="666666"/>
                </a:solidFill>
                <a:effectLst/>
                <a:latin typeface="Calibri" panose="020F0502020204030204" pitchFamily="34" charset="0"/>
              </a:rPr>
              <a:t>Project Management, Business Analysis, Software Development, Operation Support and Testing</a:t>
            </a:r>
            <a:r>
              <a:rPr lang="en-US" sz="1600" b="0" i="0" dirty="0">
                <a:solidFill>
                  <a:srgbClr val="666666"/>
                </a:solidFill>
                <a:effectLst/>
                <a:latin typeface="Calibri" panose="020F0502020204030204" pitchFamily="34" charset="0"/>
              </a:rPr>
              <a:t>.</a:t>
            </a:r>
            <a:r>
              <a:rPr lang="tr-TR" sz="1600" b="0" i="0" dirty="0">
                <a:solidFill>
                  <a:srgbClr val="666666"/>
                </a:solidFill>
                <a:effectLst/>
                <a:latin typeface="Calibri" panose="020F0502020204030204" pitchFamily="34" charset="0"/>
              </a:rPr>
              <a:t> </a:t>
            </a:r>
            <a:r>
              <a:rPr lang="en-US" sz="1600" b="0" i="0" dirty="0">
                <a:solidFill>
                  <a:srgbClr val="666666"/>
                </a:solidFill>
                <a:effectLst/>
                <a:latin typeface="Calibri" panose="020F0502020204030204" pitchFamily="34" charset="0"/>
              </a:rPr>
              <a:t>With the help of these services, it’s possible to monitor and reduce the employee cost, to get faster and higher quality results by enabling customers to concentrate only on the production area effectively.</a:t>
            </a:r>
            <a:br>
              <a:rPr lang="en-US" sz="1600" b="0" i="0" dirty="0">
                <a:solidFill>
                  <a:srgbClr val="666666"/>
                </a:solidFill>
                <a:effectLst/>
                <a:latin typeface="Calibri" panose="020F0502020204030204" pitchFamily="34" charset="0"/>
              </a:rPr>
            </a:br>
            <a:r>
              <a:rPr lang="en-US" sz="1600" b="0" i="0" dirty="0">
                <a:solidFill>
                  <a:srgbClr val="666666"/>
                </a:solidFill>
                <a:effectLst/>
                <a:latin typeface="Calibri" panose="020F0502020204030204" pitchFamily="34" charset="0"/>
              </a:rPr>
              <a:t/>
            </a:r>
            <a:br>
              <a:rPr lang="en-US" sz="1600" b="0" i="0" dirty="0">
                <a:solidFill>
                  <a:srgbClr val="666666"/>
                </a:solidFill>
                <a:effectLst/>
                <a:latin typeface="Calibri" panose="020F0502020204030204" pitchFamily="34" charset="0"/>
              </a:rPr>
            </a:br>
            <a:r>
              <a:rPr lang="en-US" sz="1600" b="0" i="0" dirty="0">
                <a:solidFill>
                  <a:srgbClr val="666666"/>
                </a:solidFill>
                <a:effectLst/>
                <a:latin typeface="Calibri" panose="020F0502020204030204" pitchFamily="34" charset="0"/>
              </a:rPr>
              <a:t>By using our experience in the areas of </a:t>
            </a:r>
            <a:r>
              <a:rPr lang="en-US" sz="1600" b="1" i="0" dirty="0">
                <a:solidFill>
                  <a:srgbClr val="666666"/>
                </a:solidFill>
                <a:effectLst/>
                <a:latin typeface="Calibri" panose="020F0502020204030204" pitchFamily="34" charset="0"/>
              </a:rPr>
              <a:t>Project Management, Agile (Scrum), Software Development, Analysis, Testing and operations</a:t>
            </a:r>
            <a:r>
              <a:rPr lang="en-US" sz="1600" b="0" i="0" dirty="0">
                <a:solidFill>
                  <a:srgbClr val="666666"/>
                </a:solidFill>
                <a:effectLst/>
                <a:latin typeface="Calibri" panose="020F0502020204030204" pitchFamily="34" charset="0"/>
              </a:rPr>
              <a:t>; our aim is to understand customer needs and to give support with our team of experts.</a:t>
            </a:r>
            <a:br>
              <a:rPr lang="en-US" sz="1600" b="0" i="0" dirty="0">
                <a:solidFill>
                  <a:srgbClr val="666666"/>
                </a:solidFill>
                <a:effectLst/>
                <a:latin typeface="Calibri" panose="020F0502020204030204" pitchFamily="34" charset="0"/>
              </a:rPr>
            </a:br>
            <a:r>
              <a:rPr lang="en-US" sz="1600" b="0" i="0" dirty="0">
                <a:solidFill>
                  <a:srgbClr val="666666"/>
                </a:solidFill>
                <a:effectLst/>
                <a:latin typeface="Calibri" panose="020F0502020204030204" pitchFamily="34" charset="0"/>
              </a:rPr>
              <a:t/>
            </a:r>
            <a:br>
              <a:rPr lang="en-US" sz="1600" b="0" i="0" dirty="0">
                <a:solidFill>
                  <a:srgbClr val="666666"/>
                </a:solidFill>
                <a:effectLst/>
                <a:latin typeface="Calibri" panose="020F0502020204030204" pitchFamily="34" charset="0"/>
              </a:rPr>
            </a:br>
            <a:r>
              <a:rPr lang="en-US" sz="1600" b="0" i="0" dirty="0">
                <a:solidFill>
                  <a:srgbClr val="666666"/>
                </a:solidFill>
                <a:effectLst/>
                <a:latin typeface="Calibri" panose="020F0502020204030204" pitchFamily="34" charset="0"/>
              </a:rPr>
              <a:t>We provide the following services to our customers with our expert team which has global project experience in all areas;</a:t>
            </a:r>
            <a:endParaRPr lang="en-US" sz="1600" b="0" i="0" dirty="0">
              <a:solidFill>
                <a:srgbClr val="666666"/>
              </a:solidFill>
              <a:effectLst/>
              <a:latin typeface="Helvetica Neue" panose="02000503040000020004" pitchFamily="50" charset="-52"/>
            </a:endParaRPr>
          </a:p>
          <a:p>
            <a:pPr marL="285750" indent="-285750" algn="l">
              <a:spcBef>
                <a:spcPts val="400"/>
              </a:spcBef>
              <a:spcAft>
                <a:spcPts val="400"/>
              </a:spcAft>
              <a:buFont typeface="Arial" panose="020B0604020202020204" pitchFamily="34" charset="0"/>
              <a:buChar char="•"/>
            </a:pPr>
            <a:r>
              <a:rPr lang="en-US" sz="1600" b="0" i="0" dirty="0">
                <a:solidFill>
                  <a:srgbClr val="666666"/>
                </a:solidFill>
                <a:effectLst/>
              </a:rPr>
              <a:t>Long Term Onsite Outsourcing</a:t>
            </a:r>
            <a:endParaRPr lang="tr-TR" sz="1600" b="0" i="0" dirty="0">
              <a:solidFill>
                <a:srgbClr val="666666"/>
              </a:solidFill>
              <a:effectLst/>
            </a:endParaRPr>
          </a:p>
          <a:p>
            <a:pPr marL="285750" indent="-285750" algn="l">
              <a:spcBef>
                <a:spcPts val="400"/>
              </a:spcBef>
              <a:spcAft>
                <a:spcPts val="400"/>
              </a:spcAft>
              <a:buFont typeface="Arial" panose="020B0604020202020204" pitchFamily="34" charset="0"/>
              <a:buChar char="•"/>
            </a:pPr>
            <a:r>
              <a:rPr lang="en-US" sz="1600" b="0" i="0" dirty="0">
                <a:solidFill>
                  <a:srgbClr val="666666"/>
                </a:solidFill>
                <a:effectLst/>
              </a:rPr>
              <a:t>Project Based Outsourcing</a:t>
            </a:r>
            <a:endParaRPr lang="tr-TR" sz="1600" b="0" i="0" dirty="0">
              <a:solidFill>
                <a:srgbClr val="666666"/>
              </a:solidFill>
              <a:effectLst/>
            </a:endParaRPr>
          </a:p>
          <a:p>
            <a:pPr marL="285750" indent="-285750" algn="l">
              <a:spcBef>
                <a:spcPts val="400"/>
              </a:spcBef>
              <a:spcAft>
                <a:spcPts val="400"/>
              </a:spcAft>
              <a:buFont typeface="Arial" panose="020B0604020202020204" pitchFamily="34" charset="0"/>
              <a:buChar char="•"/>
            </a:pPr>
            <a:r>
              <a:rPr lang="en-US" sz="1600" b="0" i="0" dirty="0">
                <a:solidFill>
                  <a:srgbClr val="666666"/>
                </a:solidFill>
                <a:effectLst/>
              </a:rPr>
              <a:t>Project Based Product Development Outsourcing</a:t>
            </a:r>
          </a:p>
          <a:p>
            <a:pPr algn="l">
              <a:spcBef>
                <a:spcPts val="1125"/>
              </a:spcBef>
              <a:spcAft>
                <a:spcPts val="1125"/>
              </a:spcAft>
            </a:pPr>
            <a:r>
              <a:rPr lang="en-US" sz="1600" b="0" i="0" dirty="0">
                <a:solidFill>
                  <a:srgbClr val="666666"/>
                </a:solidFill>
                <a:effectLst/>
                <a:latin typeface="Calibri" panose="020F0502020204030204" pitchFamily="34" charset="0"/>
              </a:rPr>
              <a:t> </a:t>
            </a:r>
            <a:endParaRPr lang="en-US" sz="1600" b="0" i="0" dirty="0">
              <a:solidFill>
                <a:srgbClr val="666666"/>
              </a:solidFill>
              <a:effectLst/>
              <a:latin typeface="Helvetica Neue" panose="02000503040000020004" pitchFamily="50" charset="-52"/>
            </a:endParaRPr>
          </a:p>
        </p:txBody>
      </p:sp>
    </p:spTree>
    <p:extLst>
      <p:ext uri="{BB962C8B-B14F-4D97-AF65-F5344CB8AC3E}">
        <p14:creationId xmlns:p14="http://schemas.microsoft.com/office/powerpoint/2010/main" val="524939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251520" y="-101476"/>
            <a:ext cx="7886700" cy="1325563"/>
          </a:xfrm>
        </p:spPr>
        <p:txBody>
          <a:bodyPr/>
          <a:lstStyle/>
          <a:p>
            <a:r>
              <a:rPr lang="tr-TR" b="1" dirty="0">
                <a:solidFill>
                  <a:srgbClr val="3E3A5F"/>
                </a:solidFill>
              </a:rPr>
              <a:t>About iKnow - Tech Stack</a:t>
            </a:r>
          </a:p>
        </p:txBody>
      </p:sp>
      <p:sp>
        <p:nvSpPr>
          <p:cNvPr id="3" name="İçerik Yer Tutucusu 2"/>
          <p:cNvSpPr>
            <a:spLocks noGrp="1"/>
          </p:cNvSpPr>
          <p:nvPr>
            <p:ph idx="1"/>
          </p:nvPr>
        </p:nvSpPr>
        <p:spPr>
          <a:xfrm>
            <a:off x="251520" y="874712"/>
            <a:ext cx="8424935" cy="1474168"/>
          </a:xfrm>
        </p:spPr>
        <p:txBody>
          <a:bodyPr>
            <a:normAutofit/>
          </a:bodyPr>
          <a:lstStyle/>
          <a:p>
            <a:pPr marL="0" indent="0" algn="just">
              <a:spcBef>
                <a:spcPts val="250"/>
              </a:spcBef>
              <a:spcAft>
                <a:spcPts val="350"/>
              </a:spcAft>
              <a:buNone/>
            </a:pPr>
            <a:r>
              <a:rPr lang="en-US" sz="1600" b="1" dirty="0" err="1">
                <a:solidFill>
                  <a:srgbClr val="F15922"/>
                </a:solidFill>
                <a:effectLst/>
                <a:ea typeface="Batang" panose="02030600000101010101" pitchFamily="18" charset="-127"/>
              </a:rPr>
              <a:t>iKnow</a:t>
            </a:r>
            <a:r>
              <a:rPr lang="en-US" sz="1600" dirty="0">
                <a:effectLst/>
                <a:ea typeface="Batang" panose="02030600000101010101" pitchFamily="18" charset="-127"/>
              </a:rPr>
              <a:t> is a software and solution development company delivering high quality and cost</a:t>
            </a:r>
            <a:r>
              <a:rPr lang="tr-TR" sz="1600" dirty="0">
                <a:effectLst/>
                <a:ea typeface="Batang" panose="02030600000101010101" pitchFamily="18" charset="-127"/>
              </a:rPr>
              <a:t>-</a:t>
            </a:r>
            <a:r>
              <a:rPr lang="en-US" sz="1600" dirty="0">
                <a:effectLst/>
                <a:ea typeface="Batang" panose="02030600000101010101" pitchFamily="18" charset="-127"/>
              </a:rPr>
              <a:t>effective custom applications to its clients. </a:t>
            </a:r>
            <a:endParaRPr lang="tr-TR" sz="1600" dirty="0">
              <a:effectLst/>
              <a:ea typeface="Batang" panose="02030600000101010101" pitchFamily="18" charset="-127"/>
            </a:endParaRPr>
          </a:p>
          <a:p>
            <a:pPr marL="0" indent="0" algn="just">
              <a:spcBef>
                <a:spcPts val="250"/>
              </a:spcBef>
              <a:spcAft>
                <a:spcPts val="350"/>
              </a:spcAft>
              <a:buNone/>
            </a:pPr>
            <a:r>
              <a:rPr lang="en-US" sz="1600" dirty="0">
                <a:effectLst/>
                <a:ea typeface="Batang" panose="02030600000101010101" pitchFamily="18" charset="-127"/>
              </a:rPr>
              <a:t>The company has been founded by many experts who have been in the Telecom sector more than </a:t>
            </a:r>
            <a:r>
              <a:rPr lang="tr-TR" sz="1600" dirty="0">
                <a:effectLst/>
                <a:ea typeface="Batang" panose="02030600000101010101" pitchFamily="18" charset="-127"/>
              </a:rPr>
              <a:t>twenty</a:t>
            </a:r>
            <a:r>
              <a:rPr lang="en-US" sz="1600" dirty="0">
                <a:effectLst/>
                <a:ea typeface="Batang" panose="02030600000101010101" pitchFamily="18" charset="-127"/>
              </a:rPr>
              <a:t> years. </a:t>
            </a:r>
            <a:endParaRPr lang="tr-TR" sz="1600" dirty="0">
              <a:effectLst/>
              <a:ea typeface="Batang" panose="02030600000101010101" pitchFamily="18" charset="-127"/>
            </a:endParaRPr>
          </a:p>
          <a:p>
            <a:pPr marL="0" indent="0" algn="just">
              <a:spcBef>
                <a:spcPts val="250"/>
              </a:spcBef>
              <a:spcAft>
                <a:spcPts val="350"/>
              </a:spcAft>
              <a:buNone/>
            </a:pPr>
            <a:r>
              <a:rPr lang="tr-TR" sz="1600" b="1" dirty="0">
                <a:solidFill>
                  <a:srgbClr val="3E3A5F"/>
                </a:solidFill>
                <a:ea typeface="Batang" panose="02030600000101010101" pitchFamily="18" charset="-127"/>
              </a:rPr>
              <a:t>Here is our tech </a:t>
            </a:r>
            <a:r>
              <a:rPr lang="tr-TR" sz="1600" b="1" dirty="0" err="1">
                <a:solidFill>
                  <a:srgbClr val="3E3A5F"/>
                </a:solidFill>
                <a:ea typeface="Batang" panose="02030600000101010101" pitchFamily="18" charset="-127"/>
              </a:rPr>
              <a:t>stack</a:t>
            </a:r>
            <a:r>
              <a:rPr lang="tr-TR" sz="1600" b="1" dirty="0" smtClean="0">
                <a:solidFill>
                  <a:srgbClr val="3E3A5F"/>
                </a:solidFill>
                <a:ea typeface="Batang" panose="02030600000101010101" pitchFamily="18" charset="-127"/>
              </a:rPr>
              <a:t>:</a:t>
            </a:r>
            <a:endParaRPr lang="tr-TR" sz="1600" b="1" dirty="0">
              <a:solidFill>
                <a:srgbClr val="3E3A5F"/>
              </a:solidFill>
              <a:effectLst/>
              <a:ea typeface="Batang" panose="02030600000101010101" pitchFamily="18" charset="-127"/>
            </a:endParaRPr>
          </a:p>
        </p:txBody>
      </p:sp>
      <p:sp>
        <p:nvSpPr>
          <p:cNvPr id="5" name="Footer Placeholder 4">
            <a:extLst>
              <a:ext uri="{FF2B5EF4-FFF2-40B4-BE49-F238E27FC236}">
                <a16:creationId xmlns:a16="http://schemas.microsoft.com/office/drawing/2014/main" xmlns="" id="{B7712ABE-114C-D9E5-5BE1-3234DA253A8E}"/>
              </a:ext>
            </a:extLst>
          </p:cNvPr>
          <p:cNvSpPr>
            <a:spLocks noGrp="1"/>
          </p:cNvSpPr>
          <p:nvPr>
            <p:ph type="ftr" sz="quarter" idx="11"/>
          </p:nvPr>
        </p:nvSpPr>
        <p:spPr/>
        <p:txBody>
          <a:bodyPr/>
          <a:lstStyle/>
          <a:p>
            <a:r>
              <a:rPr lang="tr-TR" dirty="0"/>
              <a:t>iKnow Technology</a:t>
            </a:r>
          </a:p>
        </p:txBody>
      </p:sp>
      <p:sp>
        <p:nvSpPr>
          <p:cNvPr id="7" name="Slide Number Placeholder 6">
            <a:extLst>
              <a:ext uri="{FF2B5EF4-FFF2-40B4-BE49-F238E27FC236}">
                <a16:creationId xmlns:a16="http://schemas.microsoft.com/office/drawing/2014/main" xmlns="" id="{03BD6478-26F7-879A-13BB-57A21FB2537C}"/>
              </a:ext>
            </a:extLst>
          </p:cNvPr>
          <p:cNvSpPr>
            <a:spLocks noGrp="1"/>
          </p:cNvSpPr>
          <p:nvPr>
            <p:ph type="sldNum" sz="quarter" idx="12"/>
          </p:nvPr>
        </p:nvSpPr>
        <p:spPr/>
        <p:txBody>
          <a:bodyPr/>
          <a:lstStyle/>
          <a:p>
            <a:fld id="{45536E09-86AD-465C-A544-548EAC427A74}" type="slidenum">
              <a:rPr lang="tr-TR" smtClean="0"/>
              <a:t>18</a:t>
            </a:fld>
            <a:endParaRPr lang="tr-TR"/>
          </a:p>
        </p:txBody>
      </p:sp>
      <p:graphicFrame>
        <p:nvGraphicFramePr>
          <p:cNvPr id="6" name="Table 5">
            <a:extLst>
              <a:ext uri="{FF2B5EF4-FFF2-40B4-BE49-F238E27FC236}">
                <a16:creationId xmlns:a16="http://schemas.microsoft.com/office/drawing/2014/main" xmlns="" id="{525754C2-87DA-747F-AD03-3EA660032A02}"/>
              </a:ext>
            </a:extLst>
          </p:cNvPr>
          <p:cNvGraphicFramePr>
            <a:graphicFrameLocks noGrp="1"/>
          </p:cNvGraphicFramePr>
          <p:nvPr>
            <p:extLst>
              <p:ext uri="{D42A27DB-BD31-4B8C-83A1-F6EECF244321}">
                <p14:modId xmlns:p14="http://schemas.microsoft.com/office/powerpoint/2010/main" val="1384058340"/>
              </p:ext>
            </p:extLst>
          </p:nvPr>
        </p:nvGraphicFramePr>
        <p:xfrm>
          <a:off x="287811" y="2276872"/>
          <a:ext cx="8568377" cy="3870960"/>
        </p:xfrm>
        <a:graphic>
          <a:graphicData uri="http://schemas.openxmlformats.org/drawingml/2006/table">
            <a:tbl>
              <a:tblPr firstRow="1" firstCol="1" bandRow="1">
                <a:tableStyleId>{2D5ABB26-0587-4C30-8999-92F81FD0307C}</a:tableStyleId>
              </a:tblPr>
              <a:tblGrid>
                <a:gridCol w="4452006">
                  <a:extLst>
                    <a:ext uri="{9D8B030D-6E8A-4147-A177-3AD203B41FA5}">
                      <a16:colId xmlns:a16="http://schemas.microsoft.com/office/drawing/2014/main" xmlns="" val="1099460613"/>
                    </a:ext>
                  </a:extLst>
                </a:gridCol>
                <a:gridCol w="4116371">
                  <a:extLst>
                    <a:ext uri="{9D8B030D-6E8A-4147-A177-3AD203B41FA5}">
                      <a16:colId xmlns:a16="http://schemas.microsoft.com/office/drawing/2014/main" xmlns="" val="1502935398"/>
                    </a:ext>
                  </a:extLst>
                </a:gridCol>
              </a:tblGrid>
              <a:tr h="2291232">
                <a:tc>
                  <a:txBody>
                    <a:bodyPr/>
                    <a:lstStyle/>
                    <a:p>
                      <a:pPr marL="0" lvl="0" indent="0">
                        <a:buFont typeface="Arial" panose="020B0604020202020204" pitchFamily="34" charset="0"/>
                        <a:buNone/>
                      </a:pPr>
                      <a:r>
                        <a:rPr lang="tr-TR" sz="1400" b="1" u="none" dirty="0">
                          <a:solidFill>
                            <a:srgbClr val="3E3A5F"/>
                          </a:solidFill>
                          <a:effectLst/>
                        </a:rPr>
                        <a:t>Programming Languages</a:t>
                      </a:r>
                      <a:r>
                        <a:rPr lang="tr-TR" sz="1400" dirty="0">
                          <a:effectLst/>
                        </a:rPr>
                        <a:t/>
                      </a:r>
                      <a:br>
                        <a:rPr lang="tr-TR" sz="1400" dirty="0">
                          <a:effectLst/>
                        </a:rPr>
                      </a:br>
                      <a:r>
                        <a:rPr lang="tr-TR" sz="1400" b="0" dirty="0">
                          <a:solidFill>
                            <a:srgbClr val="666666"/>
                          </a:solidFill>
                          <a:effectLst/>
                        </a:rPr>
                        <a:t>High-Level Languages: Python, Java, C#, JavaScript, </a:t>
                      </a:r>
                    </a:p>
                    <a:p>
                      <a:pPr marL="0" lvl="0" indent="0">
                        <a:buFont typeface="Arial" panose="020B0604020202020204" pitchFamily="34" charset="0"/>
                        <a:buNone/>
                      </a:pPr>
                      <a:r>
                        <a:rPr lang="tr-TR" sz="1400" b="0" dirty="0">
                          <a:solidFill>
                            <a:srgbClr val="666666"/>
                          </a:solidFill>
                          <a:effectLst/>
                        </a:rPr>
                        <a:t>Ruby, PHP</a:t>
                      </a:r>
                      <a:br>
                        <a:rPr lang="tr-TR" sz="1400" b="0" dirty="0">
                          <a:solidFill>
                            <a:srgbClr val="666666"/>
                          </a:solidFill>
                          <a:effectLst/>
                        </a:rPr>
                      </a:br>
                      <a:r>
                        <a:rPr lang="tr-TR" sz="1400" b="0" dirty="0">
                          <a:solidFill>
                            <a:srgbClr val="666666"/>
                          </a:solidFill>
                          <a:effectLst/>
                        </a:rPr>
                        <a:t>Scripting Languages: Bash, Perl</a:t>
                      </a:r>
                    </a:p>
                    <a:p>
                      <a:pPr marL="0" lvl="0" indent="0">
                        <a:buFont typeface="Arial" panose="020B0604020202020204" pitchFamily="34" charset="0"/>
                        <a:buNone/>
                      </a:pPr>
                      <a:endParaRPr lang="tr-TR" sz="1600" b="0" dirty="0">
                        <a:effectLst/>
                      </a:endParaRPr>
                    </a:p>
                    <a:p>
                      <a:pPr marL="0" lvl="0" indent="0">
                        <a:buFont typeface="Arial" panose="020B0604020202020204" pitchFamily="34" charset="0"/>
                        <a:buNone/>
                      </a:pPr>
                      <a:r>
                        <a:rPr lang="tr-TR" sz="1400" b="1" u="none" kern="1200" dirty="0">
                          <a:solidFill>
                            <a:srgbClr val="3E3A5F"/>
                          </a:solidFill>
                          <a:effectLst/>
                          <a:latin typeface="+mn-lt"/>
                          <a:ea typeface="+mn-ea"/>
                          <a:cs typeface="+mn-cs"/>
                        </a:rPr>
                        <a:t>Mobile Development</a:t>
                      </a:r>
                      <a:r>
                        <a:rPr lang="tr-TR" sz="1400" dirty="0">
                          <a:effectLst/>
                        </a:rPr>
                        <a:t/>
                      </a:r>
                      <a:br>
                        <a:rPr lang="tr-TR" sz="1400" dirty="0">
                          <a:effectLst/>
                        </a:rPr>
                      </a:br>
                      <a:r>
                        <a:rPr lang="tr-TR" sz="1400" b="0" dirty="0">
                          <a:solidFill>
                            <a:srgbClr val="666666"/>
                          </a:solidFill>
                          <a:effectLst/>
                        </a:rPr>
                        <a:t>Mobile Platforms: iOS, Android</a:t>
                      </a:r>
                      <a:br>
                        <a:rPr lang="tr-TR" sz="1400" b="0" dirty="0">
                          <a:solidFill>
                            <a:srgbClr val="666666"/>
                          </a:solidFill>
                          <a:effectLst/>
                        </a:rPr>
                      </a:br>
                      <a:r>
                        <a:rPr lang="tr-TR" sz="1400" b="0" dirty="0">
                          <a:solidFill>
                            <a:srgbClr val="666666"/>
                          </a:solidFill>
                          <a:effectLst/>
                        </a:rPr>
                        <a:t>Mobile Development Frameworks: Swift (iOS), </a:t>
                      </a:r>
                    </a:p>
                    <a:p>
                      <a:pPr marL="0" lvl="0" indent="0">
                        <a:buFont typeface="Arial" panose="020B0604020202020204" pitchFamily="34" charset="0"/>
                        <a:buNone/>
                      </a:pPr>
                      <a:r>
                        <a:rPr lang="tr-TR" sz="1400" b="0" dirty="0">
                          <a:solidFill>
                            <a:srgbClr val="666666"/>
                          </a:solidFill>
                          <a:effectLst/>
                        </a:rPr>
                        <a:t>Kotlin (Android), Flutter, React Native</a:t>
                      </a:r>
                    </a:p>
                    <a:p>
                      <a:pPr marL="0" lvl="0" indent="0">
                        <a:buFont typeface="Arial" panose="020B0604020202020204" pitchFamily="34" charset="0"/>
                        <a:buNone/>
                      </a:pPr>
                      <a:endParaRPr lang="tr-TR" sz="1600" b="0" dirty="0">
                        <a:effectLst/>
                      </a:endParaRPr>
                    </a:p>
                    <a:p>
                      <a:pPr marL="0" lvl="0" indent="0">
                        <a:buFont typeface="Arial" panose="020B0604020202020204" pitchFamily="34" charset="0"/>
                        <a:buNone/>
                      </a:pPr>
                      <a:r>
                        <a:rPr lang="tr-TR" sz="1400" b="1" u="none" kern="1200" dirty="0">
                          <a:solidFill>
                            <a:srgbClr val="3E3A5F"/>
                          </a:solidFill>
                          <a:effectLst/>
                          <a:latin typeface="+mn-lt"/>
                          <a:ea typeface="+mn-ea"/>
                          <a:cs typeface="+mn-cs"/>
                        </a:rPr>
                        <a:t>DevOps and CI/CD</a:t>
                      </a:r>
                      <a:r>
                        <a:rPr lang="tr-TR" sz="1400" dirty="0">
                          <a:effectLst/>
                        </a:rPr>
                        <a:t/>
                      </a:r>
                      <a:br>
                        <a:rPr lang="tr-TR" sz="1400" dirty="0">
                          <a:effectLst/>
                        </a:rPr>
                      </a:br>
                      <a:r>
                        <a:rPr lang="tr-TR" sz="1400" b="0" dirty="0">
                          <a:solidFill>
                            <a:srgbClr val="666666"/>
                          </a:solidFill>
                          <a:effectLst/>
                        </a:rPr>
                        <a:t>Continuous Integration/Continuous Deployment: Jenkins, GitLab CI, GitHub Actions</a:t>
                      </a:r>
                      <a:br>
                        <a:rPr lang="tr-TR" sz="1400" b="0" dirty="0">
                          <a:solidFill>
                            <a:srgbClr val="666666"/>
                          </a:solidFill>
                          <a:effectLst/>
                        </a:rPr>
                      </a:br>
                      <a:r>
                        <a:rPr lang="tr-TR" sz="1400" b="0" dirty="0">
                          <a:solidFill>
                            <a:srgbClr val="666666"/>
                          </a:solidFill>
                          <a:effectLst/>
                        </a:rPr>
                        <a:t>Containerization: Docker, Kubernetes, OpenShift</a:t>
                      </a:r>
                      <a:br>
                        <a:rPr lang="tr-TR" sz="1400" b="0" dirty="0">
                          <a:solidFill>
                            <a:srgbClr val="666666"/>
                          </a:solidFill>
                          <a:effectLst/>
                        </a:rPr>
                      </a:br>
                      <a:r>
                        <a:rPr lang="tr-TR" sz="1400" b="0" dirty="0">
                          <a:solidFill>
                            <a:srgbClr val="666666"/>
                          </a:solidFill>
                          <a:effectLst/>
                        </a:rPr>
                        <a:t>Monitoring and Logging: Prometheus, Grafana, ELK Stack</a:t>
                      </a:r>
                      <a:endParaRPr lang="tr-TR" sz="1600" b="0" dirty="0">
                        <a:solidFill>
                          <a:srgbClr val="666666"/>
                        </a:solidFill>
                        <a:effectLst/>
                        <a:latin typeface="Times New Roman" panose="02020603050405020304" pitchFamily="18" charset="0"/>
                        <a:ea typeface="+mn-ea"/>
                      </a:endParaRPr>
                    </a:p>
                  </a:txBody>
                  <a:tcPr marL="50337" marR="50337" marT="0" marB="0"/>
                </a:tc>
                <a:tc>
                  <a:txBody>
                    <a:bodyPr/>
                    <a:lstStyle/>
                    <a:p>
                      <a:pPr marL="0" lvl="0" indent="0">
                        <a:buFont typeface="Arial" panose="020B0604020202020204" pitchFamily="34" charset="0"/>
                        <a:buNone/>
                      </a:pPr>
                      <a:r>
                        <a:rPr lang="tr-TR" sz="1400" b="1" u="none" kern="1200" dirty="0">
                          <a:solidFill>
                            <a:srgbClr val="3E3A5F"/>
                          </a:solidFill>
                          <a:effectLst/>
                          <a:latin typeface="+mn-lt"/>
                          <a:ea typeface="+mn-ea"/>
                          <a:cs typeface="+mn-cs"/>
                        </a:rPr>
                        <a:t>Web Development</a:t>
                      </a:r>
                      <a:r>
                        <a:rPr lang="tr-TR" sz="1400" dirty="0">
                          <a:effectLst/>
                        </a:rPr>
                        <a:t/>
                      </a:r>
                      <a:br>
                        <a:rPr lang="tr-TR" sz="1400" dirty="0">
                          <a:effectLst/>
                        </a:rPr>
                      </a:br>
                      <a:r>
                        <a:rPr lang="tr-TR" sz="1400" b="0" dirty="0">
                          <a:solidFill>
                            <a:srgbClr val="666666"/>
                          </a:solidFill>
                          <a:effectLst/>
                        </a:rPr>
                        <a:t>Frontend Frameworks and Libraries: React, </a:t>
                      </a:r>
                    </a:p>
                    <a:p>
                      <a:pPr marL="0" lvl="0" indent="0">
                        <a:buFont typeface="Arial" panose="020B0604020202020204" pitchFamily="34" charset="0"/>
                        <a:buNone/>
                      </a:pPr>
                      <a:r>
                        <a:rPr lang="tr-TR" sz="1400" b="0" dirty="0">
                          <a:solidFill>
                            <a:srgbClr val="666666"/>
                          </a:solidFill>
                          <a:effectLst/>
                        </a:rPr>
                        <a:t>Angular, Vue.js</a:t>
                      </a:r>
                      <a:br>
                        <a:rPr lang="tr-TR" sz="1400" b="0" dirty="0">
                          <a:solidFill>
                            <a:srgbClr val="666666"/>
                          </a:solidFill>
                          <a:effectLst/>
                        </a:rPr>
                      </a:br>
                      <a:r>
                        <a:rPr lang="tr-TR" sz="1400" b="0" dirty="0">
                          <a:solidFill>
                            <a:srgbClr val="666666"/>
                          </a:solidFill>
                          <a:effectLst/>
                        </a:rPr>
                        <a:t>Backend Frameworks: Node.js, Django, Flask, </a:t>
                      </a:r>
                    </a:p>
                    <a:p>
                      <a:pPr marL="0" lvl="0" indent="0">
                        <a:buFont typeface="Arial" panose="020B0604020202020204" pitchFamily="34" charset="0"/>
                        <a:buNone/>
                      </a:pPr>
                      <a:r>
                        <a:rPr lang="tr-TR" sz="1400" b="0" dirty="0">
                          <a:solidFill>
                            <a:srgbClr val="666666"/>
                          </a:solidFill>
                          <a:effectLst/>
                        </a:rPr>
                        <a:t>Ruby on Rails, Spring Boot, ASP.NET</a:t>
                      </a:r>
                      <a:br>
                        <a:rPr lang="tr-TR" sz="1400" b="0" dirty="0">
                          <a:solidFill>
                            <a:srgbClr val="666666"/>
                          </a:solidFill>
                          <a:effectLst/>
                        </a:rPr>
                      </a:br>
                      <a:r>
                        <a:rPr lang="tr-TR" sz="1400" b="0" dirty="0">
                          <a:solidFill>
                            <a:srgbClr val="666666"/>
                          </a:solidFill>
                          <a:effectLst/>
                        </a:rPr>
                        <a:t>CSS Frameworks: Bootstrap</a:t>
                      </a:r>
                      <a:r>
                        <a:rPr lang="tr-TR" sz="1400" b="0" dirty="0">
                          <a:effectLst/>
                        </a:rPr>
                        <a:t/>
                      </a:r>
                      <a:br>
                        <a:rPr lang="tr-TR" sz="1400" b="0" dirty="0">
                          <a:effectLst/>
                        </a:rPr>
                      </a:br>
                      <a:endParaRPr lang="tr-TR" sz="1600" b="0" dirty="0">
                        <a:effectLst/>
                      </a:endParaRPr>
                    </a:p>
                    <a:p>
                      <a:pPr marL="0" lvl="0" indent="0">
                        <a:buFont typeface="Arial" panose="020B0604020202020204" pitchFamily="34" charset="0"/>
                        <a:buNone/>
                      </a:pPr>
                      <a:r>
                        <a:rPr lang="tr-TR" sz="1400" b="1" u="none" kern="1200" dirty="0">
                          <a:solidFill>
                            <a:srgbClr val="3E3A5F"/>
                          </a:solidFill>
                          <a:effectLst/>
                          <a:latin typeface="+mn-lt"/>
                          <a:ea typeface="+mn-ea"/>
                          <a:cs typeface="+mn-cs"/>
                        </a:rPr>
                        <a:t>Databases</a:t>
                      </a:r>
                      <a:r>
                        <a:rPr lang="tr-TR" sz="1400" dirty="0">
                          <a:effectLst/>
                        </a:rPr>
                        <a:t/>
                      </a:r>
                      <a:br>
                        <a:rPr lang="tr-TR" sz="1400" dirty="0">
                          <a:effectLst/>
                        </a:rPr>
                      </a:br>
                      <a:r>
                        <a:rPr lang="tr-TR" sz="1400" b="0" dirty="0">
                          <a:solidFill>
                            <a:srgbClr val="666666"/>
                          </a:solidFill>
                          <a:effectLst/>
                        </a:rPr>
                        <a:t>Relational Databases: MySQL, PostgreSQL, Oracle Database, Microsoft SQL Server</a:t>
                      </a:r>
                      <a:br>
                        <a:rPr lang="tr-TR" sz="1400" b="0" dirty="0">
                          <a:solidFill>
                            <a:srgbClr val="666666"/>
                          </a:solidFill>
                          <a:effectLst/>
                        </a:rPr>
                      </a:br>
                      <a:r>
                        <a:rPr lang="tr-TR" sz="1400" b="0" dirty="0">
                          <a:solidFill>
                            <a:srgbClr val="666666"/>
                          </a:solidFill>
                          <a:effectLst/>
                        </a:rPr>
                        <a:t>NoSQL Databases: MongoDB, Cassandra, Redis</a:t>
                      </a:r>
                      <a:br>
                        <a:rPr lang="tr-TR" sz="1400" b="0" dirty="0">
                          <a:solidFill>
                            <a:srgbClr val="666666"/>
                          </a:solidFill>
                          <a:effectLst/>
                        </a:rPr>
                      </a:br>
                      <a:r>
                        <a:rPr lang="tr-TR" sz="1400" b="0" dirty="0">
                          <a:solidFill>
                            <a:srgbClr val="666666"/>
                          </a:solidFill>
                          <a:effectLst/>
                        </a:rPr>
                        <a:t>In-Memory Databases: Redis, </a:t>
                      </a:r>
                      <a:r>
                        <a:rPr lang="tr-TR" sz="1400" b="0" dirty="0" err="1" smtClean="0">
                          <a:solidFill>
                            <a:srgbClr val="666666"/>
                          </a:solidFill>
                          <a:effectLst/>
                        </a:rPr>
                        <a:t>Memcached</a:t>
                      </a:r>
                      <a:endParaRPr lang="tr-TR" sz="1400" b="0" dirty="0" smtClean="0">
                        <a:solidFill>
                          <a:srgbClr val="666666"/>
                        </a:solidFill>
                        <a:effectLst/>
                      </a:endParaRPr>
                    </a:p>
                    <a:p>
                      <a:pPr marL="0" lvl="0" indent="0">
                        <a:buFont typeface="Arial" panose="020B0604020202020204" pitchFamily="34" charset="0"/>
                        <a:buNone/>
                      </a:pPr>
                      <a:endParaRPr lang="tr-TR" sz="1400" b="0" dirty="0" smtClean="0">
                        <a:solidFill>
                          <a:srgbClr val="666666"/>
                        </a:solidFill>
                        <a:effectLst/>
                        <a:latin typeface="Times New Roman" panose="02020603050405020304" pitchFamily="18" charset="0"/>
                        <a:ea typeface="+mn-ea"/>
                      </a:endParaRPr>
                    </a:p>
                    <a:p>
                      <a:pPr lvl="0"/>
                      <a:r>
                        <a:rPr lang="tr-TR" sz="1400" b="1" u="none" kern="1200" dirty="0" smtClean="0">
                          <a:solidFill>
                            <a:srgbClr val="3E3A5F"/>
                          </a:solidFill>
                          <a:effectLst/>
                          <a:latin typeface="+mn-lt"/>
                          <a:ea typeface="+mn-ea"/>
                          <a:cs typeface="+mn-cs"/>
                        </a:rPr>
                        <a:t>AI </a:t>
                      </a:r>
                      <a:r>
                        <a:rPr lang="tr-TR" sz="1400" b="1" u="none" kern="1200" dirty="0" err="1" smtClean="0">
                          <a:solidFill>
                            <a:srgbClr val="3E3A5F"/>
                          </a:solidFill>
                          <a:effectLst/>
                          <a:latin typeface="+mn-lt"/>
                          <a:ea typeface="+mn-ea"/>
                          <a:cs typeface="+mn-cs"/>
                        </a:rPr>
                        <a:t>Frameworks</a:t>
                      </a:r>
                      <a:r>
                        <a:rPr lang="tr-TR" sz="1400" b="1" u="none" kern="1200" dirty="0" smtClean="0">
                          <a:solidFill>
                            <a:srgbClr val="3E3A5F"/>
                          </a:solidFill>
                          <a:effectLst/>
                          <a:latin typeface="+mn-lt"/>
                          <a:ea typeface="+mn-ea"/>
                          <a:cs typeface="+mn-cs"/>
                        </a:rPr>
                        <a:t> </a:t>
                      </a:r>
                      <a:r>
                        <a:rPr lang="tr-TR" sz="1400" b="1" u="none" kern="1200" dirty="0" err="1" smtClean="0">
                          <a:solidFill>
                            <a:srgbClr val="3E3A5F"/>
                          </a:solidFill>
                          <a:effectLst/>
                          <a:latin typeface="+mn-lt"/>
                          <a:ea typeface="+mn-ea"/>
                          <a:cs typeface="+mn-cs"/>
                        </a:rPr>
                        <a:t>and</a:t>
                      </a:r>
                      <a:r>
                        <a:rPr lang="tr-TR" sz="1400" b="1" u="none" kern="1200" dirty="0" smtClean="0">
                          <a:solidFill>
                            <a:srgbClr val="3E3A5F"/>
                          </a:solidFill>
                          <a:effectLst/>
                          <a:latin typeface="+mn-lt"/>
                          <a:ea typeface="+mn-ea"/>
                          <a:cs typeface="+mn-cs"/>
                        </a:rPr>
                        <a:t> Libraries</a:t>
                      </a:r>
                    </a:p>
                    <a:p>
                      <a:r>
                        <a:rPr lang="tr-TR" sz="1400" b="0" kern="1200" dirty="0" err="1" smtClean="0">
                          <a:solidFill>
                            <a:srgbClr val="666666"/>
                          </a:solidFill>
                          <a:effectLst/>
                          <a:latin typeface="+mn-lt"/>
                          <a:ea typeface="+mn-ea"/>
                          <a:cs typeface="+mn-cs"/>
                        </a:rPr>
                        <a:t>TensorFlow</a:t>
                      </a:r>
                      <a:r>
                        <a:rPr lang="tr-TR" sz="1400" b="0" kern="1200" dirty="0" smtClean="0">
                          <a:solidFill>
                            <a:srgbClr val="666666"/>
                          </a:solidFill>
                          <a:effectLst/>
                          <a:latin typeface="+mn-lt"/>
                          <a:ea typeface="+mn-ea"/>
                          <a:cs typeface="+mn-cs"/>
                        </a:rPr>
                        <a:t>, </a:t>
                      </a:r>
                      <a:r>
                        <a:rPr lang="tr-TR" sz="1400" b="0" kern="1200" dirty="0" err="1" smtClean="0">
                          <a:solidFill>
                            <a:srgbClr val="666666"/>
                          </a:solidFill>
                          <a:effectLst/>
                          <a:latin typeface="+mn-lt"/>
                          <a:ea typeface="+mn-ea"/>
                          <a:cs typeface="+mn-cs"/>
                        </a:rPr>
                        <a:t>PyTorch</a:t>
                      </a:r>
                      <a:r>
                        <a:rPr lang="tr-TR" sz="1400" b="0" kern="1200" dirty="0" smtClean="0">
                          <a:solidFill>
                            <a:srgbClr val="666666"/>
                          </a:solidFill>
                          <a:effectLst/>
                          <a:latin typeface="+mn-lt"/>
                          <a:ea typeface="+mn-ea"/>
                          <a:cs typeface="+mn-cs"/>
                        </a:rPr>
                        <a:t>, </a:t>
                      </a:r>
                      <a:r>
                        <a:rPr lang="tr-TR" sz="1400" b="0" kern="1200" dirty="0" err="1" smtClean="0">
                          <a:solidFill>
                            <a:srgbClr val="666666"/>
                          </a:solidFill>
                          <a:effectLst/>
                          <a:latin typeface="+mn-lt"/>
                          <a:ea typeface="+mn-ea"/>
                          <a:cs typeface="+mn-cs"/>
                        </a:rPr>
                        <a:t>Scikit-learn</a:t>
                      </a:r>
                      <a:r>
                        <a:rPr lang="tr-TR" sz="1400" b="0" kern="1200" dirty="0" smtClean="0">
                          <a:solidFill>
                            <a:srgbClr val="666666"/>
                          </a:solidFill>
                          <a:effectLst/>
                          <a:latin typeface="+mn-lt"/>
                          <a:ea typeface="+mn-ea"/>
                          <a:cs typeface="+mn-cs"/>
                        </a:rPr>
                        <a:t>, </a:t>
                      </a:r>
                      <a:r>
                        <a:rPr lang="tr-TR" sz="1400" b="0" kern="1200" dirty="0" err="1" smtClean="0">
                          <a:solidFill>
                            <a:srgbClr val="666666"/>
                          </a:solidFill>
                          <a:effectLst/>
                          <a:latin typeface="+mn-lt"/>
                          <a:ea typeface="+mn-ea"/>
                          <a:cs typeface="+mn-cs"/>
                        </a:rPr>
                        <a:t>Hugging</a:t>
                      </a:r>
                      <a:r>
                        <a:rPr lang="tr-TR" sz="1400" b="0" kern="1200" dirty="0" smtClean="0">
                          <a:solidFill>
                            <a:srgbClr val="666666"/>
                          </a:solidFill>
                          <a:effectLst/>
                          <a:latin typeface="+mn-lt"/>
                          <a:ea typeface="+mn-ea"/>
                          <a:cs typeface="+mn-cs"/>
                        </a:rPr>
                        <a:t> </a:t>
                      </a:r>
                      <a:r>
                        <a:rPr lang="tr-TR" sz="1400" b="0" kern="1200" dirty="0" err="1" smtClean="0">
                          <a:solidFill>
                            <a:srgbClr val="666666"/>
                          </a:solidFill>
                          <a:effectLst/>
                          <a:latin typeface="+mn-lt"/>
                          <a:ea typeface="+mn-ea"/>
                          <a:cs typeface="+mn-cs"/>
                        </a:rPr>
                        <a:t>Face</a:t>
                      </a:r>
                      <a:r>
                        <a:rPr lang="tr-TR" sz="1400" b="0" kern="1200" dirty="0" smtClean="0">
                          <a:solidFill>
                            <a:srgbClr val="666666"/>
                          </a:solidFill>
                          <a:effectLst/>
                          <a:latin typeface="+mn-lt"/>
                          <a:ea typeface="+mn-ea"/>
                          <a:cs typeface="+mn-cs"/>
                        </a:rPr>
                        <a:t> Trans.</a:t>
                      </a:r>
                    </a:p>
                    <a:p>
                      <a:r>
                        <a:rPr lang="tr-TR" sz="1400" b="0" kern="1200" dirty="0" err="1" smtClean="0">
                          <a:solidFill>
                            <a:srgbClr val="666666"/>
                          </a:solidFill>
                          <a:effectLst/>
                          <a:latin typeface="+mn-lt"/>
                          <a:ea typeface="+mn-ea"/>
                          <a:cs typeface="+mn-cs"/>
                        </a:rPr>
                        <a:t>Pretrained</a:t>
                      </a:r>
                      <a:r>
                        <a:rPr lang="tr-TR" sz="1400" b="0" kern="1200" dirty="0" smtClean="0">
                          <a:solidFill>
                            <a:srgbClr val="666666"/>
                          </a:solidFill>
                          <a:effectLst/>
                          <a:latin typeface="+mn-lt"/>
                          <a:ea typeface="+mn-ea"/>
                          <a:cs typeface="+mn-cs"/>
                        </a:rPr>
                        <a:t> </a:t>
                      </a:r>
                      <a:r>
                        <a:rPr lang="tr-TR" sz="1400" b="0" kern="1200" dirty="0" err="1" smtClean="0">
                          <a:solidFill>
                            <a:srgbClr val="666666"/>
                          </a:solidFill>
                          <a:effectLst/>
                          <a:latin typeface="+mn-lt"/>
                          <a:ea typeface="+mn-ea"/>
                          <a:cs typeface="+mn-cs"/>
                        </a:rPr>
                        <a:t>Local</a:t>
                      </a:r>
                      <a:r>
                        <a:rPr lang="tr-TR" sz="1400" b="0" kern="1200" dirty="0" smtClean="0">
                          <a:solidFill>
                            <a:srgbClr val="666666"/>
                          </a:solidFill>
                          <a:effectLst/>
                          <a:latin typeface="+mn-lt"/>
                          <a:ea typeface="+mn-ea"/>
                          <a:cs typeface="+mn-cs"/>
                        </a:rPr>
                        <a:t> </a:t>
                      </a:r>
                      <a:r>
                        <a:rPr lang="tr-TR" sz="1400" b="0" kern="1200" dirty="0" err="1" smtClean="0">
                          <a:solidFill>
                            <a:srgbClr val="666666"/>
                          </a:solidFill>
                          <a:effectLst/>
                          <a:latin typeface="+mn-lt"/>
                          <a:ea typeface="+mn-ea"/>
                          <a:cs typeface="+mn-cs"/>
                        </a:rPr>
                        <a:t>Models</a:t>
                      </a:r>
                      <a:r>
                        <a:rPr lang="tr-TR" sz="1400" b="0" kern="1200" dirty="0" smtClean="0">
                          <a:solidFill>
                            <a:srgbClr val="666666"/>
                          </a:solidFill>
                          <a:effectLst/>
                          <a:latin typeface="+mn-lt"/>
                          <a:ea typeface="+mn-ea"/>
                          <a:cs typeface="+mn-cs"/>
                        </a:rPr>
                        <a:t>: </a:t>
                      </a:r>
                      <a:r>
                        <a:rPr lang="tr-TR" sz="1400" b="0" kern="1200" dirty="0" err="1" smtClean="0">
                          <a:solidFill>
                            <a:srgbClr val="666666"/>
                          </a:solidFill>
                          <a:effectLst/>
                          <a:latin typeface="+mn-lt"/>
                          <a:ea typeface="+mn-ea"/>
                          <a:cs typeface="+mn-cs"/>
                        </a:rPr>
                        <a:t>LLaM</a:t>
                      </a:r>
                      <a:r>
                        <a:rPr lang="tr-TR" sz="1400" b="0" kern="1200" dirty="0" smtClean="0">
                          <a:solidFill>
                            <a:srgbClr val="666666"/>
                          </a:solidFill>
                          <a:effectLst/>
                          <a:latin typeface="+mn-lt"/>
                          <a:ea typeface="+mn-ea"/>
                          <a:cs typeface="+mn-cs"/>
                        </a:rPr>
                        <a:t>, </a:t>
                      </a:r>
                      <a:r>
                        <a:rPr lang="tr-TR" sz="1400" b="0" kern="1200" dirty="0" err="1" smtClean="0">
                          <a:solidFill>
                            <a:srgbClr val="666666"/>
                          </a:solidFill>
                          <a:effectLst/>
                          <a:latin typeface="+mn-lt"/>
                          <a:ea typeface="+mn-ea"/>
                          <a:cs typeface="+mn-cs"/>
                        </a:rPr>
                        <a:t>Mistral</a:t>
                      </a:r>
                      <a:r>
                        <a:rPr lang="tr-TR" sz="1400" b="0" kern="1200" dirty="0" smtClean="0">
                          <a:solidFill>
                            <a:srgbClr val="666666"/>
                          </a:solidFill>
                          <a:effectLst/>
                          <a:latin typeface="+mn-lt"/>
                          <a:ea typeface="+mn-ea"/>
                          <a:cs typeface="+mn-cs"/>
                        </a:rPr>
                        <a:t> ,</a:t>
                      </a:r>
                      <a:r>
                        <a:rPr lang="tr-TR" sz="1400" b="0" kern="1200" dirty="0" err="1" smtClean="0">
                          <a:solidFill>
                            <a:srgbClr val="666666"/>
                          </a:solidFill>
                          <a:effectLst/>
                          <a:latin typeface="+mn-lt"/>
                          <a:ea typeface="+mn-ea"/>
                          <a:cs typeface="+mn-cs"/>
                        </a:rPr>
                        <a:t>Phi</a:t>
                      </a:r>
                      <a:r>
                        <a:rPr lang="tr-TR" sz="1400" b="0" kern="1200" dirty="0" smtClean="0">
                          <a:solidFill>
                            <a:srgbClr val="666666"/>
                          </a:solidFill>
                          <a:effectLst/>
                          <a:latin typeface="+mn-lt"/>
                          <a:ea typeface="+mn-ea"/>
                          <a:cs typeface="+mn-cs"/>
                        </a:rPr>
                        <a:t>, </a:t>
                      </a:r>
                      <a:r>
                        <a:rPr lang="tr-TR" sz="1400" b="0" kern="1200" dirty="0" err="1" smtClean="0">
                          <a:solidFill>
                            <a:srgbClr val="666666"/>
                          </a:solidFill>
                          <a:effectLst/>
                          <a:latin typeface="+mn-lt"/>
                          <a:ea typeface="+mn-ea"/>
                          <a:cs typeface="+mn-cs"/>
                        </a:rPr>
                        <a:t>Qwen</a:t>
                      </a:r>
                      <a:r>
                        <a:rPr lang="tr-TR" sz="1400" b="0" kern="1200" dirty="0" smtClean="0">
                          <a:solidFill>
                            <a:srgbClr val="666666"/>
                          </a:solidFill>
                          <a:effectLst/>
                          <a:latin typeface="+mn-lt"/>
                          <a:ea typeface="+mn-ea"/>
                          <a:cs typeface="+mn-cs"/>
                        </a:rPr>
                        <a:t>, </a:t>
                      </a:r>
                      <a:r>
                        <a:rPr lang="tr-TR" sz="1400" b="0" kern="1200" dirty="0" err="1" smtClean="0">
                          <a:solidFill>
                            <a:srgbClr val="666666"/>
                          </a:solidFill>
                          <a:effectLst/>
                          <a:latin typeface="+mn-lt"/>
                          <a:ea typeface="+mn-ea"/>
                          <a:cs typeface="+mn-cs"/>
                        </a:rPr>
                        <a:t>Deepseek</a:t>
                      </a:r>
                      <a:endParaRPr lang="tr-TR" sz="1400" b="0" kern="1200" dirty="0" smtClean="0">
                        <a:solidFill>
                          <a:srgbClr val="666666"/>
                        </a:solidFill>
                        <a:effectLst/>
                        <a:latin typeface="+mn-lt"/>
                        <a:ea typeface="+mn-ea"/>
                        <a:cs typeface="+mn-cs"/>
                      </a:endParaRPr>
                    </a:p>
                    <a:p>
                      <a:r>
                        <a:rPr lang="tr-TR" sz="1400" b="0" kern="1200" dirty="0" err="1" smtClean="0">
                          <a:solidFill>
                            <a:srgbClr val="666666"/>
                          </a:solidFill>
                          <a:effectLst/>
                          <a:latin typeface="+mn-lt"/>
                          <a:ea typeface="+mn-ea"/>
                          <a:cs typeface="+mn-cs"/>
                        </a:rPr>
                        <a:t>Pretrained</a:t>
                      </a:r>
                      <a:r>
                        <a:rPr lang="tr-TR" sz="1400" b="0" kern="1200" dirty="0" smtClean="0">
                          <a:solidFill>
                            <a:srgbClr val="666666"/>
                          </a:solidFill>
                          <a:effectLst/>
                          <a:latin typeface="+mn-lt"/>
                          <a:ea typeface="+mn-ea"/>
                          <a:cs typeface="+mn-cs"/>
                        </a:rPr>
                        <a:t> API </a:t>
                      </a:r>
                      <a:r>
                        <a:rPr lang="tr-TR" sz="1400" b="0" kern="1200" dirty="0" err="1" smtClean="0">
                          <a:solidFill>
                            <a:srgbClr val="666666"/>
                          </a:solidFill>
                          <a:effectLst/>
                          <a:latin typeface="+mn-lt"/>
                          <a:ea typeface="+mn-ea"/>
                          <a:cs typeface="+mn-cs"/>
                        </a:rPr>
                        <a:t>models</a:t>
                      </a:r>
                      <a:r>
                        <a:rPr lang="tr-TR" sz="1400" b="0" kern="1200" dirty="0" smtClean="0">
                          <a:solidFill>
                            <a:srgbClr val="666666"/>
                          </a:solidFill>
                          <a:effectLst/>
                          <a:latin typeface="+mn-lt"/>
                          <a:ea typeface="+mn-ea"/>
                          <a:cs typeface="+mn-cs"/>
                        </a:rPr>
                        <a:t>: </a:t>
                      </a:r>
                      <a:r>
                        <a:rPr lang="tr-TR" sz="1400" b="0" kern="1200" dirty="0" err="1" smtClean="0">
                          <a:solidFill>
                            <a:srgbClr val="666666"/>
                          </a:solidFill>
                          <a:effectLst/>
                          <a:latin typeface="+mn-lt"/>
                          <a:ea typeface="+mn-ea"/>
                          <a:cs typeface="+mn-cs"/>
                        </a:rPr>
                        <a:t>OpenAI</a:t>
                      </a:r>
                      <a:r>
                        <a:rPr lang="tr-TR" sz="1400" b="0" kern="1200" dirty="0" smtClean="0">
                          <a:solidFill>
                            <a:srgbClr val="666666"/>
                          </a:solidFill>
                          <a:effectLst/>
                          <a:latin typeface="+mn-lt"/>
                          <a:ea typeface="+mn-ea"/>
                          <a:cs typeface="+mn-cs"/>
                        </a:rPr>
                        <a:t>, IBM Watson</a:t>
                      </a:r>
                      <a:endParaRPr lang="tr-TR" sz="1400" b="0" kern="1200" dirty="0">
                        <a:solidFill>
                          <a:srgbClr val="666666"/>
                        </a:solidFill>
                        <a:effectLst/>
                        <a:latin typeface="+mn-lt"/>
                        <a:ea typeface="+mn-ea"/>
                        <a:cs typeface="+mn-cs"/>
                      </a:endParaRPr>
                    </a:p>
                  </a:txBody>
                  <a:tcPr marL="50337" marR="50337" marT="0" marB="0"/>
                </a:tc>
                <a:extLst>
                  <a:ext uri="{0D108BD9-81ED-4DB2-BD59-A6C34878D82A}">
                    <a16:rowId xmlns:a16="http://schemas.microsoft.com/office/drawing/2014/main" xmlns="" val="2188260118"/>
                  </a:ext>
                </a:extLst>
              </a:tr>
            </a:tbl>
          </a:graphicData>
        </a:graphic>
      </p:graphicFrame>
      <p:pic>
        <p:nvPicPr>
          <p:cNvPr id="8" name="Picture 7">
            <a:extLst>
              <a:ext uri="{FF2B5EF4-FFF2-40B4-BE49-F238E27FC236}">
                <a16:creationId xmlns:a16="http://schemas.microsoft.com/office/drawing/2014/main" xmlns="" id="{26BCC9DF-4BDF-7316-8443-379F8E2366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Tree>
    <p:extLst>
      <p:ext uri="{BB962C8B-B14F-4D97-AF65-F5344CB8AC3E}">
        <p14:creationId xmlns:p14="http://schemas.microsoft.com/office/powerpoint/2010/main" val="20423197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C25EC6-A297-7E6A-ABA7-854CBEA6F1A7}"/>
              </a:ext>
            </a:extLst>
          </p:cNvPr>
          <p:cNvSpPr>
            <a:spLocks noGrp="1"/>
          </p:cNvSpPr>
          <p:nvPr>
            <p:ph type="title"/>
          </p:nvPr>
        </p:nvSpPr>
        <p:spPr>
          <a:xfrm>
            <a:off x="179512" y="-99392"/>
            <a:ext cx="7886700" cy="1325563"/>
          </a:xfrm>
        </p:spPr>
        <p:txBody>
          <a:bodyPr/>
          <a:lstStyle/>
          <a:p>
            <a:r>
              <a:rPr lang="tr-TR" b="1" dirty="0">
                <a:solidFill>
                  <a:srgbClr val="3E3A5F"/>
                </a:solidFill>
              </a:rPr>
              <a:t>About iKnow - Tech Stack</a:t>
            </a:r>
            <a:endParaRPr lang="tr-TR" dirty="0">
              <a:solidFill>
                <a:srgbClr val="3E3A5F"/>
              </a:solidFill>
            </a:endParaRPr>
          </a:p>
        </p:txBody>
      </p:sp>
      <p:graphicFrame>
        <p:nvGraphicFramePr>
          <p:cNvPr id="4" name="Content Placeholder 3">
            <a:extLst>
              <a:ext uri="{FF2B5EF4-FFF2-40B4-BE49-F238E27FC236}">
                <a16:creationId xmlns:a16="http://schemas.microsoft.com/office/drawing/2014/main" xmlns="" id="{55DC41FF-5F35-445E-F54C-6E7E3578191A}"/>
              </a:ext>
            </a:extLst>
          </p:cNvPr>
          <p:cNvGraphicFramePr>
            <a:graphicFrameLocks noGrp="1"/>
          </p:cNvGraphicFramePr>
          <p:nvPr>
            <p:ph idx="1"/>
            <p:extLst>
              <p:ext uri="{D42A27DB-BD31-4B8C-83A1-F6EECF244321}">
                <p14:modId xmlns:p14="http://schemas.microsoft.com/office/powerpoint/2010/main" val="105134050"/>
              </p:ext>
            </p:extLst>
          </p:nvPr>
        </p:nvGraphicFramePr>
        <p:xfrm>
          <a:off x="251520" y="2564904"/>
          <a:ext cx="8352927" cy="3048000"/>
        </p:xfrm>
        <a:graphic>
          <a:graphicData uri="http://schemas.openxmlformats.org/drawingml/2006/table">
            <a:tbl>
              <a:tblPr firstRow="1" firstCol="1" bandRow="1">
                <a:tableStyleId>{2D5ABB26-0587-4C30-8999-92F81FD0307C}</a:tableStyleId>
              </a:tblPr>
              <a:tblGrid>
                <a:gridCol w="4340061">
                  <a:extLst>
                    <a:ext uri="{9D8B030D-6E8A-4147-A177-3AD203B41FA5}">
                      <a16:colId xmlns:a16="http://schemas.microsoft.com/office/drawing/2014/main" xmlns="" val="2907293426"/>
                    </a:ext>
                  </a:extLst>
                </a:gridCol>
                <a:gridCol w="4012866">
                  <a:extLst>
                    <a:ext uri="{9D8B030D-6E8A-4147-A177-3AD203B41FA5}">
                      <a16:colId xmlns:a16="http://schemas.microsoft.com/office/drawing/2014/main" xmlns="" val="1812311147"/>
                    </a:ext>
                  </a:extLst>
                </a:gridCol>
              </a:tblGrid>
              <a:tr h="2147028">
                <a:tc>
                  <a:txBody>
                    <a:bodyPr/>
                    <a:lstStyle/>
                    <a:p>
                      <a:pPr marL="0" lvl="0" indent="0">
                        <a:buFont typeface="Arial" panose="020B0604020202020204" pitchFamily="34" charset="0"/>
                        <a:buNone/>
                      </a:pPr>
                      <a:r>
                        <a:rPr lang="tr-TR" sz="1400" b="1" u="none" dirty="0">
                          <a:solidFill>
                            <a:srgbClr val="3E3A5F"/>
                          </a:solidFill>
                          <a:effectLst/>
                        </a:rPr>
                        <a:t>Cloud Platforms</a:t>
                      </a:r>
                      <a:r>
                        <a:rPr lang="tr-TR" sz="1400" dirty="0">
                          <a:solidFill>
                            <a:schemeClr val="tx1"/>
                          </a:solidFill>
                          <a:effectLst/>
                        </a:rPr>
                        <a:t/>
                      </a:r>
                      <a:br>
                        <a:rPr lang="tr-TR" sz="1400" dirty="0">
                          <a:solidFill>
                            <a:schemeClr val="tx1"/>
                          </a:solidFill>
                          <a:effectLst/>
                        </a:rPr>
                      </a:br>
                      <a:r>
                        <a:rPr lang="tr-TR" sz="1400" b="0" dirty="0">
                          <a:solidFill>
                            <a:srgbClr val="666666"/>
                          </a:solidFill>
                          <a:effectLst/>
                        </a:rPr>
                        <a:t>Major Cloud Providers: Amazon Web Services (AWS), Microsoft Azure, Google Cloud Platform (GCP)</a:t>
                      </a:r>
                      <a:br>
                        <a:rPr lang="tr-TR" sz="1400" b="0" dirty="0">
                          <a:solidFill>
                            <a:srgbClr val="666666"/>
                          </a:solidFill>
                          <a:effectLst/>
                        </a:rPr>
                      </a:br>
                      <a:r>
                        <a:rPr lang="tr-TR" sz="1400" b="0" dirty="0">
                          <a:solidFill>
                            <a:srgbClr val="666666"/>
                          </a:solidFill>
                          <a:effectLst/>
                        </a:rPr>
                        <a:t>Other Cloud Services: IBM Cloud, Oracle Cloud</a:t>
                      </a:r>
                    </a:p>
                    <a:p>
                      <a:pPr marL="0" lvl="0" indent="0">
                        <a:buFont typeface="Arial" panose="020B0604020202020204" pitchFamily="34" charset="0"/>
                        <a:buNone/>
                      </a:pPr>
                      <a:endParaRPr lang="tr-TR" sz="1600" b="0" dirty="0">
                        <a:solidFill>
                          <a:schemeClr val="tx1"/>
                        </a:solidFill>
                        <a:effectLst/>
                      </a:endParaRPr>
                    </a:p>
                    <a:p>
                      <a:pPr marL="0" lvl="0" indent="0">
                        <a:buFont typeface="Arial" panose="020B0604020202020204" pitchFamily="34" charset="0"/>
                        <a:buNone/>
                      </a:pPr>
                      <a:r>
                        <a:rPr lang="tr-TR" sz="1400" b="1" u="none" kern="1200" dirty="0">
                          <a:solidFill>
                            <a:srgbClr val="3E3A5F"/>
                          </a:solidFill>
                          <a:effectLst/>
                          <a:latin typeface="+mn-lt"/>
                          <a:ea typeface="+mn-ea"/>
                          <a:cs typeface="+mn-cs"/>
                        </a:rPr>
                        <a:t>Version Control Systems</a:t>
                      </a:r>
                      <a:r>
                        <a:rPr lang="tr-TR" sz="1400" b="0" dirty="0">
                          <a:solidFill>
                            <a:schemeClr val="tx1"/>
                          </a:solidFill>
                          <a:effectLst/>
                        </a:rPr>
                        <a:t/>
                      </a:r>
                      <a:br>
                        <a:rPr lang="tr-TR" sz="1400" b="0" dirty="0">
                          <a:solidFill>
                            <a:schemeClr val="tx1"/>
                          </a:solidFill>
                          <a:effectLst/>
                        </a:rPr>
                      </a:br>
                      <a:r>
                        <a:rPr lang="tr-TR" sz="1400" b="0" dirty="0">
                          <a:solidFill>
                            <a:srgbClr val="666666"/>
                          </a:solidFill>
                          <a:effectLst/>
                        </a:rPr>
                        <a:t>Distributed Version Control: Git</a:t>
                      </a:r>
                      <a:br>
                        <a:rPr lang="tr-TR" sz="1400" b="0" dirty="0">
                          <a:solidFill>
                            <a:srgbClr val="666666"/>
                          </a:solidFill>
                          <a:effectLst/>
                        </a:rPr>
                      </a:br>
                      <a:r>
                        <a:rPr lang="tr-TR" sz="1400" b="0" dirty="0">
                          <a:solidFill>
                            <a:srgbClr val="666666"/>
                          </a:solidFill>
                          <a:effectLst/>
                        </a:rPr>
                        <a:t>Centralized Version Control: SVN</a:t>
                      </a:r>
                    </a:p>
                    <a:p>
                      <a:pPr marL="0" lvl="0" indent="0">
                        <a:buFont typeface="Arial" panose="020B0604020202020204" pitchFamily="34" charset="0"/>
                        <a:buNone/>
                      </a:pPr>
                      <a:endParaRPr lang="tr-TR" sz="1600" b="0" dirty="0">
                        <a:solidFill>
                          <a:schemeClr val="tx1"/>
                        </a:solidFill>
                        <a:effectLst/>
                      </a:endParaRPr>
                    </a:p>
                    <a:p>
                      <a:pPr marL="0" lvl="0" indent="0">
                        <a:buFont typeface="Arial" panose="020B0604020202020204" pitchFamily="34" charset="0"/>
                        <a:buNone/>
                      </a:pPr>
                      <a:r>
                        <a:rPr lang="tr-TR" sz="1400" b="1" u="none" kern="1200" dirty="0">
                          <a:solidFill>
                            <a:srgbClr val="3E3A5F"/>
                          </a:solidFill>
                          <a:effectLst/>
                          <a:latin typeface="+mn-lt"/>
                          <a:ea typeface="+mn-ea"/>
                          <a:cs typeface="+mn-cs"/>
                        </a:rPr>
                        <a:t>Testing and Quality Assurance</a:t>
                      </a:r>
                      <a:r>
                        <a:rPr lang="tr-TR" sz="1400" dirty="0">
                          <a:solidFill>
                            <a:schemeClr val="tx1"/>
                          </a:solidFill>
                          <a:effectLst/>
                        </a:rPr>
                        <a:t/>
                      </a:r>
                      <a:br>
                        <a:rPr lang="tr-TR" sz="1400" dirty="0">
                          <a:solidFill>
                            <a:schemeClr val="tx1"/>
                          </a:solidFill>
                          <a:effectLst/>
                        </a:rPr>
                      </a:br>
                      <a:r>
                        <a:rPr lang="tr-TR" sz="1400" b="0" dirty="0">
                          <a:solidFill>
                            <a:srgbClr val="666666"/>
                          </a:solidFill>
                          <a:effectLst/>
                        </a:rPr>
                        <a:t>Unit Testing Frameworks: JUnit (Java), NUnit (.NET), pytest (Python), Mocha (JavaScript)</a:t>
                      </a:r>
                      <a:br>
                        <a:rPr lang="tr-TR" sz="1400" b="0" dirty="0">
                          <a:solidFill>
                            <a:srgbClr val="666666"/>
                          </a:solidFill>
                          <a:effectLst/>
                        </a:rPr>
                      </a:br>
                      <a:r>
                        <a:rPr lang="tr-TR" sz="1400" b="0" dirty="0">
                          <a:solidFill>
                            <a:srgbClr val="666666"/>
                          </a:solidFill>
                          <a:effectLst/>
                        </a:rPr>
                        <a:t>Integration Testing: Selenium</a:t>
                      </a:r>
                      <a:br>
                        <a:rPr lang="tr-TR" sz="1400" b="0" dirty="0">
                          <a:solidFill>
                            <a:srgbClr val="666666"/>
                          </a:solidFill>
                          <a:effectLst/>
                        </a:rPr>
                      </a:br>
                      <a:r>
                        <a:rPr lang="tr-TR" sz="1400" b="0" dirty="0">
                          <a:solidFill>
                            <a:srgbClr val="666666"/>
                          </a:solidFill>
                          <a:effectLst/>
                        </a:rPr>
                        <a:t>Performance Testing: Jmeter</a:t>
                      </a:r>
                      <a:endParaRPr lang="tr-TR" sz="1600" b="0" dirty="0">
                        <a:solidFill>
                          <a:srgbClr val="666666"/>
                        </a:solidFill>
                        <a:effectLst/>
                        <a:latin typeface="Times New Roman" panose="02020603050405020304" pitchFamily="18" charset="0"/>
                        <a:ea typeface="Times New Roman" panose="02020603050405020304" pitchFamily="18" charset="0"/>
                      </a:endParaRPr>
                    </a:p>
                  </a:txBody>
                  <a:tcPr marL="50337" marR="50337" marT="0" marB="0"/>
                </a:tc>
                <a:tc>
                  <a:txBody>
                    <a:bodyPr/>
                    <a:lstStyle/>
                    <a:p>
                      <a:pPr marL="0" lvl="0" indent="0">
                        <a:buFont typeface="Arial" panose="020B0604020202020204" pitchFamily="34" charset="0"/>
                        <a:buNone/>
                      </a:pPr>
                      <a:r>
                        <a:rPr lang="tr-TR" sz="1400" b="1" u="none" kern="1200" dirty="0">
                          <a:solidFill>
                            <a:srgbClr val="3E3A5F"/>
                          </a:solidFill>
                          <a:effectLst/>
                          <a:latin typeface="+mn-lt"/>
                          <a:ea typeface="+mn-ea"/>
                          <a:cs typeface="+mn-cs"/>
                        </a:rPr>
                        <a:t>Data Science and Machine Learning</a:t>
                      </a:r>
                      <a:r>
                        <a:rPr lang="tr-TR" sz="1400" b="1" dirty="0">
                          <a:solidFill>
                            <a:schemeClr val="tx1"/>
                          </a:solidFill>
                          <a:effectLst/>
                        </a:rPr>
                        <a:t/>
                      </a:r>
                      <a:br>
                        <a:rPr lang="tr-TR" sz="1400" b="1" dirty="0">
                          <a:solidFill>
                            <a:schemeClr val="tx1"/>
                          </a:solidFill>
                          <a:effectLst/>
                        </a:rPr>
                      </a:br>
                      <a:r>
                        <a:rPr lang="tr-TR" sz="1400" b="0" dirty="0">
                          <a:solidFill>
                            <a:srgbClr val="666666"/>
                          </a:solidFill>
                          <a:effectLst/>
                        </a:rPr>
                        <a:t>Data Processing: Pandas (Python), Apache Spark</a:t>
                      </a:r>
                      <a:br>
                        <a:rPr lang="tr-TR" sz="1400" b="0" dirty="0">
                          <a:solidFill>
                            <a:srgbClr val="666666"/>
                          </a:solidFill>
                          <a:effectLst/>
                        </a:rPr>
                      </a:br>
                      <a:r>
                        <a:rPr lang="tr-TR" sz="1400" b="0" dirty="0">
                          <a:solidFill>
                            <a:srgbClr val="666666"/>
                          </a:solidFill>
                          <a:effectLst/>
                        </a:rPr>
                        <a:t>Machine Learning Frameworks: PyTorch</a:t>
                      </a:r>
                      <a:r>
                        <a:rPr lang="tr-TR" sz="1400" b="1" dirty="0">
                          <a:solidFill>
                            <a:schemeClr val="tx1"/>
                          </a:solidFill>
                          <a:effectLst/>
                        </a:rPr>
                        <a:t/>
                      </a:r>
                      <a:br>
                        <a:rPr lang="tr-TR" sz="1400" b="1" dirty="0">
                          <a:solidFill>
                            <a:schemeClr val="tx1"/>
                          </a:solidFill>
                          <a:effectLst/>
                        </a:rPr>
                      </a:br>
                      <a:endParaRPr lang="tr-TR" sz="1600" b="1" dirty="0">
                        <a:solidFill>
                          <a:schemeClr val="tx1"/>
                        </a:solidFill>
                        <a:effectLst/>
                      </a:endParaRPr>
                    </a:p>
                    <a:p>
                      <a:pPr marL="0" lvl="0" indent="0">
                        <a:buFont typeface="Arial" panose="020B0604020202020204" pitchFamily="34" charset="0"/>
                        <a:buNone/>
                      </a:pPr>
                      <a:r>
                        <a:rPr lang="tr-TR" sz="1400" b="1" u="none" dirty="0">
                          <a:solidFill>
                            <a:srgbClr val="3E3A5F"/>
                          </a:solidFill>
                          <a:effectLst/>
                        </a:rPr>
                        <a:t>Project Management and Collaboration</a:t>
                      </a:r>
                      <a:r>
                        <a:rPr lang="tr-TR" sz="1400" b="1" dirty="0">
                          <a:solidFill>
                            <a:schemeClr val="tx1"/>
                          </a:solidFill>
                          <a:effectLst/>
                        </a:rPr>
                        <a:t/>
                      </a:r>
                      <a:br>
                        <a:rPr lang="tr-TR" sz="1400" b="1" dirty="0">
                          <a:solidFill>
                            <a:schemeClr val="tx1"/>
                          </a:solidFill>
                          <a:effectLst/>
                        </a:rPr>
                      </a:br>
                      <a:r>
                        <a:rPr lang="tr-TR" sz="1400" b="0" dirty="0">
                          <a:solidFill>
                            <a:srgbClr val="666666"/>
                          </a:solidFill>
                          <a:effectLst/>
                        </a:rPr>
                        <a:t>Project Management Tools: JIRA, Trello, Azure DevOps</a:t>
                      </a:r>
                      <a:br>
                        <a:rPr lang="tr-TR" sz="1400" b="0" dirty="0">
                          <a:solidFill>
                            <a:srgbClr val="666666"/>
                          </a:solidFill>
                          <a:effectLst/>
                        </a:rPr>
                      </a:br>
                      <a:r>
                        <a:rPr lang="tr-TR" sz="1400" b="0" dirty="0">
                          <a:solidFill>
                            <a:srgbClr val="666666"/>
                          </a:solidFill>
                          <a:effectLst/>
                        </a:rPr>
                        <a:t>Collaboration Tools: Slack, Microsoft Teams, Confluence</a:t>
                      </a:r>
                      <a:r>
                        <a:rPr lang="tr-TR" sz="1400" b="1" dirty="0">
                          <a:solidFill>
                            <a:schemeClr val="tx1"/>
                          </a:solidFill>
                          <a:effectLst/>
                        </a:rPr>
                        <a:t/>
                      </a:r>
                      <a:br>
                        <a:rPr lang="tr-TR" sz="1400" b="1" dirty="0">
                          <a:solidFill>
                            <a:schemeClr val="tx1"/>
                          </a:solidFill>
                          <a:effectLst/>
                        </a:rPr>
                      </a:br>
                      <a:endParaRPr lang="tr-TR" sz="1600" b="1" dirty="0">
                        <a:solidFill>
                          <a:schemeClr val="tx1"/>
                        </a:solidFill>
                        <a:effectLst/>
                      </a:endParaRPr>
                    </a:p>
                    <a:p>
                      <a:pPr marL="0" lvl="0" indent="0">
                        <a:buFont typeface="Arial" panose="020B0604020202020204" pitchFamily="34" charset="0"/>
                        <a:buNone/>
                      </a:pPr>
                      <a:r>
                        <a:rPr lang="tr-TR" sz="1400" b="1" u="none" dirty="0">
                          <a:solidFill>
                            <a:srgbClr val="3E3A5F"/>
                          </a:solidFill>
                          <a:effectLst/>
                        </a:rPr>
                        <a:t>API and Microservices</a:t>
                      </a:r>
                      <a:r>
                        <a:rPr lang="tr-TR" sz="1400" b="1" dirty="0">
                          <a:solidFill>
                            <a:schemeClr val="tx1"/>
                          </a:solidFill>
                          <a:effectLst/>
                        </a:rPr>
                        <a:t/>
                      </a:r>
                      <a:br>
                        <a:rPr lang="tr-TR" sz="1400" b="1" dirty="0">
                          <a:solidFill>
                            <a:schemeClr val="tx1"/>
                          </a:solidFill>
                          <a:effectLst/>
                        </a:rPr>
                      </a:br>
                      <a:r>
                        <a:rPr lang="tr-TR" sz="1400" b="0" dirty="0">
                          <a:solidFill>
                            <a:srgbClr val="666666"/>
                          </a:solidFill>
                          <a:effectLst/>
                        </a:rPr>
                        <a:t>API Development and Documentation: Swagger, Postman, OpenAPI</a:t>
                      </a:r>
                      <a:br>
                        <a:rPr lang="tr-TR" sz="1400" b="0" dirty="0">
                          <a:solidFill>
                            <a:srgbClr val="666666"/>
                          </a:solidFill>
                          <a:effectLst/>
                        </a:rPr>
                      </a:br>
                      <a:r>
                        <a:rPr lang="tr-TR" sz="1400" b="0" dirty="0">
                          <a:solidFill>
                            <a:srgbClr val="666666"/>
                          </a:solidFill>
                          <a:effectLst/>
                        </a:rPr>
                        <a:t>Microservices Frameworks: Spring Cloud</a:t>
                      </a:r>
                      <a:endParaRPr lang="tr-TR" sz="1600" b="0" dirty="0">
                        <a:solidFill>
                          <a:srgbClr val="666666"/>
                        </a:solidFill>
                        <a:effectLst/>
                        <a:latin typeface="Times New Roman" panose="02020603050405020304" pitchFamily="18" charset="0"/>
                        <a:ea typeface="Times New Roman" panose="02020603050405020304" pitchFamily="18" charset="0"/>
                      </a:endParaRPr>
                    </a:p>
                  </a:txBody>
                  <a:tcPr marL="50337" marR="50337" marT="0" marB="0"/>
                </a:tc>
                <a:extLst>
                  <a:ext uri="{0D108BD9-81ED-4DB2-BD59-A6C34878D82A}">
                    <a16:rowId xmlns:a16="http://schemas.microsoft.com/office/drawing/2014/main" xmlns="" val="1066990541"/>
                  </a:ext>
                </a:extLst>
              </a:tr>
            </a:tbl>
          </a:graphicData>
        </a:graphic>
      </p:graphicFrame>
      <p:sp>
        <p:nvSpPr>
          <p:cNvPr id="3" name="Footer Placeholder 2">
            <a:extLst>
              <a:ext uri="{FF2B5EF4-FFF2-40B4-BE49-F238E27FC236}">
                <a16:creationId xmlns:a16="http://schemas.microsoft.com/office/drawing/2014/main" xmlns="" id="{530C3DC4-F50B-D64B-7C7D-8786145C378A}"/>
              </a:ext>
            </a:extLst>
          </p:cNvPr>
          <p:cNvSpPr>
            <a:spLocks noGrp="1"/>
          </p:cNvSpPr>
          <p:nvPr>
            <p:ph type="ftr" sz="quarter" idx="11"/>
          </p:nvPr>
        </p:nvSpPr>
        <p:spPr/>
        <p:txBody>
          <a:bodyPr/>
          <a:lstStyle/>
          <a:p>
            <a:r>
              <a:rPr lang="tr-TR" dirty="0"/>
              <a:t>iKnow Technology</a:t>
            </a:r>
          </a:p>
        </p:txBody>
      </p:sp>
      <p:sp>
        <p:nvSpPr>
          <p:cNvPr id="6" name="Slide Number Placeholder 5">
            <a:extLst>
              <a:ext uri="{FF2B5EF4-FFF2-40B4-BE49-F238E27FC236}">
                <a16:creationId xmlns:a16="http://schemas.microsoft.com/office/drawing/2014/main" xmlns="" id="{7139898C-9FC3-02A8-77BF-ABBA747F1678}"/>
              </a:ext>
            </a:extLst>
          </p:cNvPr>
          <p:cNvSpPr>
            <a:spLocks noGrp="1"/>
          </p:cNvSpPr>
          <p:nvPr>
            <p:ph type="sldNum" sz="quarter" idx="12"/>
          </p:nvPr>
        </p:nvSpPr>
        <p:spPr/>
        <p:txBody>
          <a:bodyPr/>
          <a:lstStyle/>
          <a:p>
            <a:fld id="{45536E09-86AD-465C-A544-548EAC427A74}" type="slidenum">
              <a:rPr lang="tr-TR" smtClean="0"/>
              <a:t>19</a:t>
            </a:fld>
            <a:endParaRPr lang="tr-TR"/>
          </a:p>
        </p:txBody>
      </p:sp>
      <p:sp>
        <p:nvSpPr>
          <p:cNvPr id="7" name="TextBox 6">
            <a:extLst>
              <a:ext uri="{FF2B5EF4-FFF2-40B4-BE49-F238E27FC236}">
                <a16:creationId xmlns:a16="http://schemas.microsoft.com/office/drawing/2014/main" xmlns="" id="{8DD492BB-6364-D6CF-BDB4-1B3650B575C1}"/>
              </a:ext>
            </a:extLst>
          </p:cNvPr>
          <p:cNvSpPr txBox="1"/>
          <p:nvPr/>
        </p:nvSpPr>
        <p:spPr>
          <a:xfrm>
            <a:off x="179512" y="908720"/>
            <a:ext cx="8352926" cy="1502976"/>
          </a:xfrm>
          <a:prstGeom prst="rect">
            <a:avLst/>
          </a:prstGeom>
          <a:noFill/>
        </p:spPr>
        <p:txBody>
          <a:bodyPr wrap="square">
            <a:spAutoFit/>
          </a:bodyPr>
          <a:lstStyle/>
          <a:p>
            <a:pPr marL="0" indent="0">
              <a:spcBef>
                <a:spcPts val="250"/>
              </a:spcBef>
              <a:spcAft>
                <a:spcPts val="350"/>
              </a:spcAft>
              <a:buNone/>
            </a:pPr>
            <a:r>
              <a:rPr lang="en-US" sz="1600" dirty="0">
                <a:effectLst/>
                <a:ea typeface="Batang" panose="02030600000101010101" pitchFamily="18" charset="-127"/>
              </a:rPr>
              <a:t>In</a:t>
            </a:r>
            <a:r>
              <a:rPr lang="tr-TR" sz="1600" dirty="0">
                <a:effectLst/>
                <a:ea typeface="Batang" panose="02030600000101010101" pitchFamily="18" charset="-127"/>
              </a:rPr>
              <a:t> </a:t>
            </a:r>
            <a:r>
              <a:rPr lang="en-US" sz="1600" dirty="0">
                <a:effectLst/>
                <a:ea typeface="Batang" panose="02030600000101010101" pitchFamily="18" charset="-127"/>
              </a:rPr>
              <a:t>addition to our Software development capabilities, </a:t>
            </a:r>
            <a:r>
              <a:rPr lang="en-US" sz="1600" b="1" dirty="0" err="1">
                <a:solidFill>
                  <a:srgbClr val="F15922"/>
                </a:solidFill>
                <a:effectLst/>
                <a:ea typeface="Batang" panose="02030600000101010101" pitchFamily="18" charset="-127"/>
              </a:rPr>
              <a:t>iKnow</a:t>
            </a:r>
            <a:r>
              <a:rPr lang="en-US" sz="1600" dirty="0">
                <a:effectLst/>
                <a:ea typeface="Batang" panose="02030600000101010101" pitchFamily="18" charset="-127"/>
              </a:rPr>
              <a:t> is also very experienced in providing tailor made integrated systems, solutions and services in Telecommunication, Banking, Insurance and Health care markets and we have extensive experience in many technologies</a:t>
            </a:r>
            <a:r>
              <a:rPr lang="tr-TR" sz="1600" dirty="0">
                <a:effectLst/>
                <a:ea typeface="Batang" panose="02030600000101010101" pitchFamily="18" charset="-127"/>
              </a:rPr>
              <a:t>.</a:t>
            </a:r>
            <a:endParaRPr lang="tr-TR" sz="1600" dirty="0">
              <a:ea typeface="Batang" panose="02030600000101010101" pitchFamily="18" charset="-127"/>
            </a:endParaRPr>
          </a:p>
          <a:p>
            <a:pPr marL="0" indent="0">
              <a:spcBef>
                <a:spcPts val="250"/>
              </a:spcBef>
              <a:spcAft>
                <a:spcPts val="350"/>
              </a:spcAft>
              <a:buNone/>
            </a:pPr>
            <a:endParaRPr lang="tr-TR" sz="1600" dirty="0">
              <a:ea typeface="Batang" panose="02030600000101010101" pitchFamily="18" charset="-127"/>
            </a:endParaRPr>
          </a:p>
          <a:p>
            <a:pPr>
              <a:spcBef>
                <a:spcPts val="250"/>
              </a:spcBef>
              <a:spcAft>
                <a:spcPts val="350"/>
              </a:spcAft>
            </a:pPr>
            <a:r>
              <a:rPr lang="tr-TR" sz="1600" b="1" dirty="0">
                <a:solidFill>
                  <a:srgbClr val="3E3A5F"/>
                </a:solidFill>
                <a:ea typeface="Batang" panose="02030600000101010101" pitchFamily="18" charset="-127"/>
              </a:rPr>
              <a:t>Here is our tech stack (cont.):</a:t>
            </a:r>
            <a:endParaRPr lang="tr-TR" sz="1600" b="1" dirty="0">
              <a:solidFill>
                <a:srgbClr val="3E3A5F"/>
              </a:solidFill>
              <a:effectLst/>
              <a:ea typeface="Batang" panose="02030600000101010101" pitchFamily="18" charset="-127"/>
            </a:endParaRPr>
          </a:p>
        </p:txBody>
      </p:sp>
      <p:pic>
        <p:nvPicPr>
          <p:cNvPr id="8" name="Picture 7">
            <a:extLst>
              <a:ext uri="{FF2B5EF4-FFF2-40B4-BE49-F238E27FC236}">
                <a16:creationId xmlns:a16="http://schemas.microsoft.com/office/drawing/2014/main" xmlns="" id="{31B83AD1-BE66-D1F3-D4C3-D5CC1BFDD3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Tree>
    <p:extLst>
      <p:ext uri="{BB962C8B-B14F-4D97-AF65-F5344CB8AC3E}">
        <p14:creationId xmlns:p14="http://schemas.microsoft.com/office/powerpoint/2010/main" val="15673957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628650" y="-56803"/>
            <a:ext cx="7886700" cy="1325563"/>
          </a:xfrm>
        </p:spPr>
        <p:txBody>
          <a:bodyPr/>
          <a:lstStyle/>
          <a:p>
            <a:r>
              <a:rPr lang="tr-TR" b="1" dirty="0">
                <a:solidFill>
                  <a:srgbClr val="3E3A5F"/>
                </a:solidFill>
              </a:rPr>
              <a:t>What We Deliver?</a:t>
            </a:r>
          </a:p>
        </p:txBody>
      </p:sp>
      <p:sp>
        <p:nvSpPr>
          <p:cNvPr id="3" name="İçerik Yer Tutucusu 2"/>
          <p:cNvSpPr>
            <a:spLocks noGrp="1"/>
          </p:cNvSpPr>
          <p:nvPr>
            <p:ph idx="1"/>
          </p:nvPr>
        </p:nvSpPr>
        <p:spPr>
          <a:xfrm>
            <a:off x="628649" y="879301"/>
            <a:ext cx="7867693" cy="1109539"/>
          </a:xfrm>
        </p:spPr>
        <p:txBody>
          <a:bodyPr>
            <a:normAutofit fontScale="40000" lnSpcReduction="20000"/>
          </a:bodyPr>
          <a:lstStyle/>
          <a:p>
            <a:pPr marL="342900" lvl="0" indent="-342900">
              <a:buFont typeface="+mj-lt"/>
              <a:buAutoNum type="arabicParenR"/>
            </a:pPr>
            <a:r>
              <a:rPr lang="en-US" sz="3400" b="1" dirty="0">
                <a:effectLst/>
                <a:ea typeface="Times New Roman" panose="02020603050405020304" pitchFamily="18" charset="0"/>
              </a:rPr>
              <a:t>Software and Documentation</a:t>
            </a:r>
            <a:endParaRPr lang="tr-TR" sz="3400" b="1" dirty="0">
              <a:effectLst/>
              <a:ea typeface="Times New Roman" panose="02020603050405020304" pitchFamily="18" charset="0"/>
            </a:endParaRPr>
          </a:p>
          <a:p>
            <a:pPr marL="342900" lvl="0" indent="-342900">
              <a:buFont typeface="+mj-lt"/>
              <a:buAutoNum type="arabicParenR"/>
            </a:pPr>
            <a:r>
              <a:rPr lang="en-US" sz="3400" b="1" dirty="0">
                <a:effectLst/>
                <a:ea typeface="Times New Roman" panose="02020603050405020304" pitchFamily="18" charset="0"/>
              </a:rPr>
              <a:t>System Integration </a:t>
            </a:r>
            <a:endParaRPr lang="tr-TR" sz="3400" b="1" dirty="0">
              <a:effectLst/>
              <a:ea typeface="Times New Roman" panose="02020603050405020304" pitchFamily="18" charset="0"/>
            </a:endParaRPr>
          </a:p>
          <a:p>
            <a:pPr marL="0" lvl="0" indent="0">
              <a:buNone/>
            </a:pPr>
            <a:r>
              <a:rPr lang="tr-TR" sz="3400" dirty="0">
                <a:ea typeface="Times New Roman" panose="02020603050405020304" pitchFamily="18" charset="0"/>
              </a:rPr>
              <a:t>       </a:t>
            </a:r>
            <a:r>
              <a:rPr lang="en-US" sz="3400" dirty="0">
                <a:effectLst/>
                <a:ea typeface="Times New Roman" panose="02020603050405020304" pitchFamily="18" charset="0"/>
              </a:rPr>
              <a:t>(Installation of S</a:t>
            </a:r>
            <a:r>
              <a:rPr lang="tr-TR" sz="3400" dirty="0">
                <a:effectLst/>
                <a:ea typeface="Times New Roman" panose="02020603050405020304" pitchFamily="18" charset="0"/>
              </a:rPr>
              <a:t>oftware,</a:t>
            </a:r>
            <a:r>
              <a:rPr lang="en-US" sz="3400" dirty="0">
                <a:effectLst/>
                <a:ea typeface="Times New Roman" panose="02020603050405020304" pitchFamily="18" charset="0"/>
              </a:rPr>
              <a:t> Integration, Integration Test, Performance test, </a:t>
            </a:r>
            <a:r>
              <a:rPr lang="tr-TR" sz="3400" dirty="0">
                <a:effectLst/>
                <a:ea typeface="Times New Roman" panose="02020603050405020304" pitchFamily="18" charset="0"/>
              </a:rPr>
              <a:t>Mo</a:t>
            </a:r>
            <a:r>
              <a:rPr lang="tr-TR" sz="3400" dirty="0">
                <a:ea typeface="Times New Roman" panose="02020603050405020304" pitchFamily="18" charset="0"/>
              </a:rPr>
              <a:t>nitoring, etc.</a:t>
            </a:r>
            <a:r>
              <a:rPr lang="en-US" sz="3400" dirty="0">
                <a:effectLst/>
                <a:ea typeface="Times New Roman" panose="02020603050405020304" pitchFamily="18" charset="0"/>
              </a:rPr>
              <a:t>)</a:t>
            </a:r>
            <a:endParaRPr lang="tr-TR" sz="1800" dirty="0">
              <a:ea typeface="Times New Roman" panose="02020603050405020304" pitchFamily="18" charset="0"/>
            </a:endParaRPr>
          </a:p>
          <a:p>
            <a:pPr marL="0" lvl="0" indent="0">
              <a:buNone/>
            </a:pPr>
            <a:r>
              <a:rPr lang="tr-TR" sz="3400" b="1" dirty="0">
                <a:solidFill>
                  <a:srgbClr val="3E3A5F"/>
                </a:solidFill>
                <a:ea typeface="Times New Roman" panose="02020603050405020304" pitchFamily="18" charset="0"/>
              </a:rPr>
              <a:t>List of our deliverables:</a:t>
            </a:r>
            <a:endParaRPr lang="tr-TR" sz="3400" b="1" dirty="0">
              <a:solidFill>
                <a:srgbClr val="3E3A5F"/>
              </a:solidFill>
              <a:effectLst/>
              <a:ea typeface="Times New Roman" panose="02020603050405020304" pitchFamily="18" charset="0"/>
            </a:endParaRPr>
          </a:p>
        </p:txBody>
      </p:sp>
      <p:sp>
        <p:nvSpPr>
          <p:cNvPr id="4" name="Footer Placeholder 3">
            <a:extLst>
              <a:ext uri="{FF2B5EF4-FFF2-40B4-BE49-F238E27FC236}">
                <a16:creationId xmlns:a16="http://schemas.microsoft.com/office/drawing/2014/main" xmlns="" id="{77F9A4E9-B4D0-0605-D277-1AD31363C16A}"/>
              </a:ext>
            </a:extLst>
          </p:cNvPr>
          <p:cNvSpPr>
            <a:spLocks noGrp="1"/>
          </p:cNvSpPr>
          <p:nvPr>
            <p:ph type="ftr" sz="quarter" idx="11"/>
          </p:nvPr>
        </p:nvSpPr>
        <p:spPr/>
        <p:txBody>
          <a:bodyPr/>
          <a:lstStyle/>
          <a:p>
            <a:r>
              <a:rPr lang="tr-TR" dirty="0"/>
              <a:t>iKnow Technology</a:t>
            </a:r>
          </a:p>
        </p:txBody>
      </p:sp>
      <p:sp>
        <p:nvSpPr>
          <p:cNvPr id="5" name="Slide Number Placeholder 4">
            <a:extLst>
              <a:ext uri="{FF2B5EF4-FFF2-40B4-BE49-F238E27FC236}">
                <a16:creationId xmlns:a16="http://schemas.microsoft.com/office/drawing/2014/main" xmlns="" id="{F8685FAE-E621-BB52-E29F-BDD22A336BE2}"/>
              </a:ext>
            </a:extLst>
          </p:cNvPr>
          <p:cNvSpPr>
            <a:spLocks noGrp="1"/>
          </p:cNvSpPr>
          <p:nvPr>
            <p:ph type="sldNum" sz="quarter" idx="12"/>
          </p:nvPr>
        </p:nvSpPr>
        <p:spPr/>
        <p:txBody>
          <a:bodyPr/>
          <a:lstStyle/>
          <a:p>
            <a:fld id="{45536E09-86AD-465C-A544-548EAC427A74}" type="slidenum">
              <a:rPr lang="tr-TR" smtClean="0"/>
              <a:t>20</a:t>
            </a:fld>
            <a:endParaRPr lang="tr-TR"/>
          </a:p>
        </p:txBody>
      </p:sp>
      <p:graphicFrame>
        <p:nvGraphicFramePr>
          <p:cNvPr id="10" name="Table 9">
            <a:extLst>
              <a:ext uri="{FF2B5EF4-FFF2-40B4-BE49-F238E27FC236}">
                <a16:creationId xmlns:a16="http://schemas.microsoft.com/office/drawing/2014/main" xmlns="" id="{66E5CB2E-365E-1DF8-3F76-D4AA0BDBA7B3}"/>
              </a:ext>
            </a:extLst>
          </p:cNvPr>
          <p:cNvGraphicFramePr>
            <a:graphicFrameLocks noGrp="1"/>
          </p:cNvGraphicFramePr>
          <p:nvPr>
            <p:extLst>
              <p:ext uri="{D42A27DB-BD31-4B8C-83A1-F6EECF244321}">
                <p14:modId xmlns:p14="http://schemas.microsoft.com/office/powerpoint/2010/main" val="791734840"/>
              </p:ext>
            </p:extLst>
          </p:nvPr>
        </p:nvGraphicFramePr>
        <p:xfrm>
          <a:off x="683568" y="1996077"/>
          <a:ext cx="7776864" cy="4472266"/>
        </p:xfrm>
        <a:graphic>
          <a:graphicData uri="http://schemas.openxmlformats.org/drawingml/2006/table">
            <a:tbl>
              <a:tblPr firstRow="1" firstCol="1" bandRow="1">
                <a:tableStyleId>{2D5ABB26-0587-4C30-8999-92F81FD0307C}</a:tableStyleId>
              </a:tblPr>
              <a:tblGrid>
                <a:gridCol w="1652761">
                  <a:extLst>
                    <a:ext uri="{9D8B030D-6E8A-4147-A177-3AD203B41FA5}">
                      <a16:colId xmlns:a16="http://schemas.microsoft.com/office/drawing/2014/main" xmlns="" val="1175861236"/>
                    </a:ext>
                  </a:extLst>
                </a:gridCol>
                <a:gridCol w="6124103">
                  <a:extLst>
                    <a:ext uri="{9D8B030D-6E8A-4147-A177-3AD203B41FA5}">
                      <a16:colId xmlns:a16="http://schemas.microsoft.com/office/drawing/2014/main" xmlns="" val="2675215636"/>
                    </a:ext>
                  </a:extLst>
                </a:gridCol>
              </a:tblGrid>
              <a:tr h="156065">
                <a:tc>
                  <a:txBody>
                    <a:bodyPr/>
                    <a:lstStyle/>
                    <a:p>
                      <a:pPr algn="just">
                        <a:spcBef>
                          <a:spcPts val="250"/>
                        </a:spcBef>
                        <a:spcAft>
                          <a:spcPts val="350"/>
                        </a:spcAft>
                      </a:pPr>
                      <a:r>
                        <a:rPr lang="tr-TR" sz="1400" b="1" u="sng" dirty="0">
                          <a:solidFill>
                            <a:srgbClr val="3E3A5F"/>
                          </a:solidFill>
                          <a:effectLst/>
                        </a:rPr>
                        <a:t>Component</a:t>
                      </a:r>
                      <a:endParaRPr lang="tr-TR" sz="1400" b="1" u="sng" dirty="0">
                        <a:solidFill>
                          <a:srgbClr val="3E3A5F"/>
                        </a:solidFill>
                        <a:effectLst/>
                        <a:latin typeface="Times New Roman" panose="02020603050405020304" pitchFamily="18" charset="0"/>
                        <a:ea typeface="Batang" panose="02030600000101010101" pitchFamily="18" charset="-127"/>
                      </a:endParaRPr>
                    </a:p>
                  </a:txBody>
                  <a:tcPr marL="16108" marR="16108" marT="0" marB="0"/>
                </a:tc>
                <a:tc>
                  <a:txBody>
                    <a:bodyPr/>
                    <a:lstStyle/>
                    <a:p>
                      <a:pPr algn="just">
                        <a:spcBef>
                          <a:spcPts val="250"/>
                        </a:spcBef>
                        <a:spcAft>
                          <a:spcPts val="350"/>
                        </a:spcAft>
                      </a:pPr>
                      <a:r>
                        <a:rPr lang="tr-TR" sz="1400" b="1" u="sng" dirty="0">
                          <a:solidFill>
                            <a:srgbClr val="3E3A5F"/>
                          </a:solidFill>
                          <a:effectLst/>
                        </a:rPr>
                        <a:t>Description</a:t>
                      </a:r>
                      <a:endParaRPr lang="tr-TR" sz="1400" b="1" u="sng" dirty="0">
                        <a:solidFill>
                          <a:srgbClr val="3E3A5F"/>
                        </a:solidFill>
                        <a:effectLst/>
                        <a:latin typeface="Times New Roman" panose="02020603050405020304" pitchFamily="18" charset="0"/>
                        <a:ea typeface="Batang" panose="02030600000101010101" pitchFamily="18" charset="-127"/>
                      </a:endParaRPr>
                    </a:p>
                  </a:txBody>
                  <a:tcPr marL="16108" marR="16108" marT="0" marB="0"/>
                </a:tc>
                <a:extLst>
                  <a:ext uri="{0D108BD9-81ED-4DB2-BD59-A6C34878D82A}">
                    <a16:rowId xmlns:a16="http://schemas.microsoft.com/office/drawing/2014/main" xmlns="" val="481860390"/>
                  </a:ext>
                </a:extLst>
              </a:tr>
              <a:tr h="156065">
                <a:tc>
                  <a:txBody>
                    <a:bodyPr/>
                    <a:lstStyle/>
                    <a:p>
                      <a:pPr algn="l">
                        <a:spcBef>
                          <a:spcPts val="250"/>
                        </a:spcBef>
                        <a:spcAft>
                          <a:spcPts val="350"/>
                        </a:spcAft>
                      </a:pPr>
                      <a:r>
                        <a:rPr lang="tr-TR" sz="1200" dirty="0">
                          <a:solidFill>
                            <a:srgbClr val="666666"/>
                          </a:solidFill>
                          <a:effectLst/>
                        </a:rPr>
                        <a:t>UI/UX Design</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tc>
                  <a:txBody>
                    <a:bodyPr/>
                    <a:lstStyle/>
                    <a:p>
                      <a:pPr algn="l">
                        <a:spcBef>
                          <a:spcPts val="250"/>
                        </a:spcBef>
                        <a:spcAft>
                          <a:spcPts val="350"/>
                        </a:spcAft>
                      </a:pPr>
                      <a:r>
                        <a:rPr lang="tr-TR" sz="1200">
                          <a:solidFill>
                            <a:srgbClr val="666666"/>
                          </a:solidFill>
                          <a:effectLst/>
                        </a:rPr>
                        <a:t>Figma and CSS files of the UI/UX design.</a:t>
                      </a:r>
                      <a:endParaRPr lang="tr-TR" sz="1200">
                        <a:solidFill>
                          <a:srgbClr val="666666"/>
                        </a:solidFill>
                        <a:effectLst/>
                        <a:latin typeface="Times New Roman" panose="02020603050405020304" pitchFamily="18" charset="0"/>
                        <a:ea typeface="Batang" panose="02030600000101010101" pitchFamily="18" charset="-127"/>
                      </a:endParaRPr>
                    </a:p>
                  </a:txBody>
                  <a:tcPr marL="16108" marR="16108" marT="0" marB="0"/>
                </a:tc>
                <a:extLst>
                  <a:ext uri="{0D108BD9-81ED-4DB2-BD59-A6C34878D82A}">
                    <a16:rowId xmlns:a16="http://schemas.microsoft.com/office/drawing/2014/main" xmlns="" val="3128051446"/>
                  </a:ext>
                </a:extLst>
              </a:tr>
              <a:tr h="312130">
                <a:tc>
                  <a:txBody>
                    <a:bodyPr/>
                    <a:lstStyle/>
                    <a:p>
                      <a:pPr algn="l">
                        <a:spcBef>
                          <a:spcPts val="250"/>
                        </a:spcBef>
                        <a:spcAft>
                          <a:spcPts val="350"/>
                        </a:spcAft>
                      </a:pPr>
                      <a:r>
                        <a:rPr lang="tr-TR" sz="1200" dirty="0">
                          <a:solidFill>
                            <a:srgbClr val="666666"/>
                          </a:solidFill>
                          <a:effectLst/>
                        </a:rPr>
                        <a:t>Backend Code</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tc>
                  <a:txBody>
                    <a:bodyPr/>
                    <a:lstStyle/>
                    <a:p>
                      <a:pPr algn="l">
                        <a:spcBef>
                          <a:spcPts val="250"/>
                        </a:spcBef>
                        <a:spcAft>
                          <a:spcPts val="350"/>
                        </a:spcAft>
                      </a:pPr>
                      <a:r>
                        <a:rPr lang="tr-TR" sz="1200" dirty="0">
                          <a:solidFill>
                            <a:srgbClr val="666666"/>
                          </a:solidFill>
                          <a:effectLst/>
                        </a:rPr>
                        <a:t>The core backend codebase, likely including service logic, data access layers, and business rules implemented in Java or .Net.</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extLst>
                  <a:ext uri="{0D108BD9-81ED-4DB2-BD59-A6C34878D82A}">
                    <a16:rowId xmlns:a16="http://schemas.microsoft.com/office/drawing/2014/main" xmlns="" val="1745528997"/>
                  </a:ext>
                </a:extLst>
              </a:tr>
              <a:tr h="312130">
                <a:tc>
                  <a:txBody>
                    <a:bodyPr/>
                    <a:lstStyle/>
                    <a:p>
                      <a:pPr algn="l">
                        <a:spcBef>
                          <a:spcPts val="250"/>
                        </a:spcBef>
                        <a:spcAft>
                          <a:spcPts val="350"/>
                        </a:spcAft>
                      </a:pPr>
                      <a:r>
                        <a:rPr lang="tr-TR" sz="1200" dirty="0">
                          <a:solidFill>
                            <a:srgbClr val="666666"/>
                          </a:solidFill>
                          <a:effectLst/>
                        </a:rPr>
                        <a:t>Configuration Files</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tc>
                  <a:txBody>
                    <a:bodyPr/>
                    <a:lstStyle/>
                    <a:p>
                      <a:pPr algn="l">
                        <a:spcBef>
                          <a:spcPts val="250"/>
                        </a:spcBef>
                        <a:spcAft>
                          <a:spcPts val="350"/>
                        </a:spcAft>
                      </a:pPr>
                      <a:r>
                        <a:rPr lang="tr-TR" sz="1200" dirty="0">
                          <a:solidFill>
                            <a:srgbClr val="666666"/>
                          </a:solidFill>
                          <a:effectLst/>
                        </a:rPr>
                        <a:t>Files such as application.properties, application-test.properties, and application-local.properties for different environment configurations.</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extLst>
                  <a:ext uri="{0D108BD9-81ED-4DB2-BD59-A6C34878D82A}">
                    <a16:rowId xmlns:a16="http://schemas.microsoft.com/office/drawing/2014/main" xmlns="" val="1632768922"/>
                  </a:ext>
                </a:extLst>
              </a:tr>
              <a:tr h="215881">
                <a:tc>
                  <a:txBody>
                    <a:bodyPr/>
                    <a:lstStyle/>
                    <a:p>
                      <a:pPr algn="l">
                        <a:spcBef>
                          <a:spcPts val="250"/>
                        </a:spcBef>
                        <a:spcAft>
                          <a:spcPts val="350"/>
                        </a:spcAft>
                      </a:pPr>
                      <a:r>
                        <a:rPr lang="tr-TR" sz="1200">
                          <a:solidFill>
                            <a:srgbClr val="666666"/>
                          </a:solidFill>
                          <a:effectLst/>
                        </a:rPr>
                        <a:t>XML Configurations</a:t>
                      </a:r>
                      <a:endParaRPr lang="tr-TR" sz="1200">
                        <a:solidFill>
                          <a:srgbClr val="666666"/>
                        </a:solidFill>
                        <a:effectLst/>
                        <a:latin typeface="Times New Roman" panose="02020603050405020304" pitchFamily="18" charset="0"/>
                        <a:ea typeface="Batang" panose="02030600000101010101" pitchFamily="18" charset="-127"/>
                      </a:endParaRPr>
                    </a:p>
                  </a:txBody>
                  <a:tcPr marL="16108" marR="16108" marT="0" marB="0"/>
                </a:tc>
                <a:tc>
                  <a:txBody>
                    <a:bodyPr/>
                    <a:lstStyle/>
                    <a:p>
                      <a:pPr algn="l">
                        <a:spcBef>
                          <a:spcPts val="250"/>
                        </a:spcBef>
                        <a:spcAft>
                          <a:spcPts val="350"/>
                        </a:spcAft>
                      </a:pPr>
                      <a:r>
                        <a:rPr lang="tr-TR" sz="1200" dirty="0">
                          <a:solidFill>
                            <a:srgbClr val="666666"/>
                          </a:solidFill>
                          <a:effectLst/>
                        </a:rPr>
                        <a:t>Various XML files for specific service configurations.</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extLst>
                  <a:ext uri="{0D108BD9-81ED-4DB2-BD59-A6C34878D82A}">
                    <a16:rowId xmlns:a16="http://schemas.microsoft.com/office/drawing/2014/main" xmlns="" val="724160963"/>
                  </a:ext>
                </a:extLst>
              </a:tr>
              <a:tr h="202545">
                <a:tc>
                  <a:txBody>
                    <a:bodyPr/>
                    <a:lstStyle/>
                    <a:p>
                      <a:pPr algn="l">
                        <a:spcBef>
                          <a:spcPts val="250"/>
                        </a:spcBef>
                        <a:spcAft>
                          <a:spcPts val="350"/>
                        </a:spcAft>
                      </a:pPr>
                      <a:r>
                        <a:rPr lang="tr-TR" sz="1200">
                          <a:solidFill>
                            <a:srgbClr val="666666"/>
                          </a:solidFill>
                          <a:effectLst/>
                        </a:rPr>
                        <a:t>Setup Documentation</a:t>
                      </a:r>
                      <a:endParaRPr lang="tr-TR" sz="1200">
                        <a:solidFill>
                          <a:srgbClr val="666666"/>
                        </a:solidFill>
                        <a:effectLst/>
                        <a:latin typeface="Times New Roman" panose="02020603050405020304" pitchFamily="18" charset="0"/>
                        <a:ea typeface="Batang" panose="02030600000101010101" pitchFamily="18" charset="-127"/>
                      </a:endParaRPr>
                    </a:p>
                  </a:txBody>
                  <a:tcPr marL="16108" marR="16108" marT="0" marB="0"/>
                </a:tc>
                <a:tc>
                  <a:txBody>
                    <a:bodyPr/>
                    <a:lstStyle/>
                    <a:p>
                      <a:pPr algn="l">
                        <a:spcBef>
                          <a:spcPts val="250"/>
                        </a:spcBef>
                        <a:spcAft>
                          <a:spcPts val="350"/>
                        </a:spcAft>
                      </a:pPr>
                      <a:r>
                        <a:rPr lang="tr-TR" sz="1200" dirty="0">
                          <a:solidFill>
                            <a:srgbClr val="666666"/>
                          </a:solidFill>
                          <a:effectLst/>
                        </a:rPr>
                        <a:t>Detailed setup instructions for the web server, VM, file server, Java, .Net and MongoDB.</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extLst>
                  <a:ext uri="{0D108BD9-81ED-4DB2-BD59-A6C34878D82A}">
                    <a16:rowId xmlns:a16="http://schemas.microsoft.com/office/drawing/2014/main" xmlns="" val="1042224158"/>
                  </a:ext>
                </a:extLst>
              </a:tr>
              <a:tr h="312130">
                <a:tc>
                  <a:txBody>
                    <a:bodyPr/>
                    <a:lstStyle/>
                    <a:p>
                      <a:pPr algn="l">
                        <a:spcBef>
                          <a:spcPts val="250"/>
                        </a:spcBef>
                        <a:spcAft>
                          <a:spcPts val="350"/>
                        </a:spcAft>
                      </a:pPr>
                      <a:r>
                        <a:rPr lang="tr-TR" sz="1200">
                          <a:solidFill>
                            <a:srgbClr val="666666"/>
                          </a:solidFill>
                          <a:effectLst/>
                        </a:rPr>
                        <a:t>API Endpoints</a:t>
                      </a:r>
                      <a:endParaRPr lang="tr-TR" sz="1200">
                        <a:solidFill>
                          <a:srgbClr val="666666"/>
                        </a:solidFill>
                        <a:effectLst/>
                        <a:latin typeface="Times New Roman" panose="02020603050405020304" pitchFamily="18" charset="0"/>
                        <a:ea typeface="Batang" panose="02030600000101010101" pitchFamily="18" charset="-127"/>
                      </a:endParaRPr>
                    </a:p>
                  </a:txBody>
                  <a:tcPr marL="16108" marR="16108" marT="0" marB="0"/>
                </a:tc>
                <a:tc>
                  <a:txBody>
                    <a:bodyPr/>
                    <a:lstStyle/>
                    <a:p>
                      <a:pPr algn="l">
                        <a:spcBef>
                          <a:spcPts val="250"/>
                        </a:spcBef>
                        <a:spcAft>
                          <a:spcPts val="350"/>
                        </a:spcAft>
                      </a:pPr>
                      <a:r>
                        <a:rPr lang="tr-TR" sz="1200" dirty="0">
                          <a:solidFill>
                            <a:srgbClr val="666666"/>
                          </a:solidFill>
                          <a:effectLst/>
                        </a:rPr>
                        <a:t>List of API endpoints exposed by the backend service, possibly described in the documentation or through a tool like Swagger.</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extLst>
                  <a:ext uri="{0D108BD9-81ED-4DB2-BD59-A6C34878D82A}">
                    <a16:rowId xmlns:a16="http://schemas.microsoft.com/office/drawing/2014/main" xmlns="" val="4025505163"/>
                  </a:ext>
                </a:extLst>
              </a:tr>
              <a:tr h="202545">
                <a:tc>
                  <a:txBody>
                    <a:bodyPr/>
                    <a:lstStyle/>
                    <a:p>
                      <a:pPr algn="l">
                        <a:spcBef>
                          <a:spcPts val="250"/>
                        </a:spcBef>
                        <a:spcAft>
                          <a:spcPts val="350"/>
                        </a:spcAft>
                      </a:pPr>
                      <a:r>
                        <a:rPr lang="tr-TR" sz="1200" dirty="0">
                          <a:solidFill>
                            <a:srgbClr val="666666"/>
                          </a:solidFill>
                          <a:effectLst/>
                        </a:rPr>
                        <a:t>Test Suites</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tc>
                  <a:txBody>
                    <a:bodyPr/>
                    <a:lstStyle/>
                    <a:p>
                      <a:pPr algn="l">
                        <a:spcBef>
                          <a:spcPts val="250"/>
                        </a:spcBef>
                        <a:spcAft>
                          <a:spcPts val="350"/>
                        </a:spcAft>
                      </a:pPr>
                      <a:r>
                        <a:rPr lang="tr-TR" sz="1200" dirty="0">
                          <a:solidFill>
                            <a:srgbClr val="666666"/>
                          </a:solidFill>
                          <a:effectLst/>
                        </a:rPr>
                        <a:t>Unit tests, integration tests, or end-to-end tests that ensure the quality and functionality of the application.</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extLst>
                  <a:ext uri="{0D108BD9-81ED-4DB2-BD59-A6C34878D82A}">
                    <a16:rowId xmlns:a16="http://schemas.microsoft.com/office/drawing/2014/main" xmlns="" val="1792447524"/>
                  </a:ext>
                </a:extLst>
              </a:tr>
              <a:tr h="202545">
                <a:tc>
                  <a:txBody>
                    <a:bodyPr/>
                    <a:lstStyle/>
                    <a:p>
                      <a:pPr algn="l">
                        <a:spcBef>
                          <a:spcPts val="250"/>
                        </a:spcBef>
                        <a:spcAft>
                          <a:spcPts val="350"/>
                        </a:spcAft>
                      </a:pPr>
                      <a:r>
                        <a:rPr lang="tr-TR" sz="1200" dirty="0">
                          <a:solidFill>
                            <a:srgbClr val="666666"/>
                          </a:solidFill>
                          <a:effectLst/>
                        </a:rPr>
                        <a:t>Database Schema</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tc>
                  <a:txBody>
                    <a:bodyPr/>
                    <a:lstStyle/>
                    <a:p>
                      <a:pPr algn="l">
                        <a:spcBef>
                          <a:spcPts val="250"/>
                        </a:spcBef>
                        <a:spcAft>
                          <a:spcPts val="350"/>
                        </a:spcAft>
                      </a:pPr>
                      <a:r>
                        <a:rPr lang="tr-TR" sz="1200" dirty="0">
                          <a:solidFill>
                            <a:srgbClr val="666666"/>
                          </a:solidFill>
                          <a:effectLst/>
                        </a:rPr>
                        <a:t>SQL scripts or database schema definitions required for setting up the necessary database(s) for the application.</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extLst>
                  <a:ext uri="{0D108BD9-81ED-4DB2-BD59-A6C34878D82A}">
                    <a16:rowId xmlns:a16="http://schemas.microsoft.com/office/drawing/2014/main" xmlns="" val="2441394190"/>
                  </a:ext>
                </a:extLst>
              </a:tr>
              <a:tr h="232363">
                <a:tc>
                  <a:txBody>
                    <a:bodyPr/>
                    <a:lstStyle/>
                    <a:p>
                      <a:pPr algn="l">
                        <a:spcBef>
                          <a:spcPts val="250"/>
                        </a:spcBef>
                        <a:spcAft>
                          <a:spcPts val="350"/>
                        </a:spcAft>
                      </a:pPr>
                      <a:r>
                        <a:rPr lang="tr-TR" sz="1200" dirty="0">
                          <a:solidFill>
                            <a:srgbClr val="666666"/>
                          </a:solidFill>
                          <a:effectLst/>
                        </a:rPr>
                        <a:t>Frontend Code</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tc>
                  <a:txBody>
                    <a:bodyPr/>
                    <a:lstStyle/>
                    <a:p>
                      <a:pPr algn="l">
                        <a:spcBef>
                          <a:spcPts val="250"/>
                        </a:spcBef>
                        <a:spcAft>
                          <a:spcPts val="350"/>
                        </a:spcAft>
                      </a:pPr>
                      <a:r>
                        <a:rPr lang="tr-TR" sz="1200" dirty="0">
                          <a:solidFill>
                            <a:srgbClr val="666666"/>
                          </a:solidFill>
                          <a:effectLst/>
                        </a:rPr>
                        <a:t>The core frontend codebase, including components, screens, and navigation logic implemented in React Native.</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extLst>
                  <a:ext uri="{0D108BD9-81ED-4DB2-BD59-A6C34878D82A}">
                    <a16:rowId xmlns:a16="http://schemas.microsoft.com/office/drawing/2014/main" xmlns="" val="3530657091"/>
                  </a:ext>
                </a:extLst>
              </a:tr>
              <a:tr h="312130">
                <a:tc>
                  <a:txBody>
                    <a:bodyPr/>
                    <a:lstStyle/>
                    <a:p>
                      <a:pPr algn="l">
                        <a:spcBef>
                          <a:spcPts val="250"/>
                        </a:spcBef>
                        <a:spcAft>
                          <a:spcPts val="350"/>
                        </a:spcAft>
                      </a:pPr>
                      <a:r>
                        <a:rPr lang="tr-TR" sz="1200" dirty="0">
                          <a:solidFill>
                            <a:srgbClr val="666666"/>
                          </a:solidFill>
                          <a:effectLst/>
                        </a:rPr>
                        <a:t>Frontend Configuration Files</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tc>
                  <a:txBody>
                    <a:bodyPr/>
                    <a:lstStyle/>
                    <a:p>
                      <a:pPr algn="l">
                        <a:spcBef>
                          <a:spcPts val="250"/>
                        </a:spcBef>
                        <a:spcAft>
                          <a:spcPts val="350"/>
                        </a:spcAft>
                      </a:pPr>
                      <a:r>
                        <a:rPr lang="tr-TR" sz="1200" dirty="0">
                          <a:solidFill>
                            <a:srgbClr val="666666"/>
                          </a:solidFill>
                          <a:effectLst/>
                        </a:rPr>
                        <a:t>Configuration files specific to the React Native environment, such as .babelrc, metro.config.js, or react-native.config.js.</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extLst>
                  <a:ext uri="{0D108BD9-81ED-4DB2-BD59-A6C34878D82A}">
                    <a16:rowId xmlns:a16="http://schemas.microsoft.com/office/drawing/2014/main" xmlns="" val="2255966968"/>
                  </a:ext>
                </a:extLst>
              </a:tr>
              <a:tr h="312130">
                <a:tc>
                  <a:txBody>
                    <a:bodyPr/>
                    <a:lstStyle/>
                    <a:p>
                      <a:pPr algn="l">
                        <a:spcBef>
                          <a:spcPts val="250"/>
                        </a:spcBef>
                        <a:spcAft>
                          <a:spcPts val="350"/>
                        </a:spcAft>
                      </a:pPr>
                      <a:r>
                        <a:rPr lang="tr-TR" sz="1200" dirty="0">
                          <a:solidFill>
                            <a:srgbClr val="666666"/>
                          </a:solidFill>
                          <a:effectLst/>
                        </a:rPr>
                        <a:t>Navigation Setup</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tc>
                  <a:txBody>
                    <a:bodyPr/>
                    <a:lstStyle/>
                    <a:p>
                      <a:pPr algn="l">
                        <a:spcBef>
                          <a:spcPts val="250"/>
                        </a:spcBef>
                        <a:spcAft>
                          <a:spcPts val="350"/>
                        </a:spcAft>
                      </a:pPr>
                      <a:r>
                        <a:rPr lang="tr-TR" sz="1200" dirty="0">
                          <a:solidFill>
                            <a:srgbClr val="666666"/>
                          </a:solidFill>
                          <a:effectLst/>
                        </a:rPr>
                        <a:t>Implementation of navigation logic, potentially using libraries like React Navigation, for handling screen transitions and deep linking.</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extLst>
                  <a:ext uri="{0D108BD9-81ED-4DB2-BD59-A6C34878D82A}">
                    <a16:rowId xmlns:a16="http://schemas.microsoft.com/office/drawing/2014/main" xmlns="" val="2391005016"/>
                  </a:ext>
                </a:extLst>
              </a:tr>
              <a:tr h="312130">
                <a:tc>
                  <a:txBody>
                    <a:bodyPr/>
                    <a:lstStyle/>
                    <a:p>
                      <a:pPr algn="l">
                        <a:spcBef>
                          <a:spcPts val="250"/>
                        </a:spcBef>
                        <a:spcAft>
                          <a:spcPts val="350"/>
                        </a:spcAft>
                      </a:pPr>
                      <a:r>
                        <a:rPr lang="tr-TR" sz="1200">
                          <a:solidFill>
                            <a:srgbClr val="666666"/>
                          </a:solidFill>
                          <a:effectLst/>
                        </a:rPr>
                        <a:t>State Management</a:t>
                      </a:r>
                      <a:endParaRPr lang="tr-TR" sz="1200">
                        <a:solidFill>
                          <a:srgbClr val="666666"/>
                        </a:solidFill>
                        <a:effectLst/>
                        <a:latin typeface="Times New Roman" panose="02020603050405020304" pitchFamily="18" charset="0"/>
                        <a:ea typeface="Batang" panose="02030600000101010101" pitchFamily="18" charset="-127"/>
                      </a:endParaRPr>
                    </a:p>
                  </a:txBody>
                  <a:tcPr marL="16108" marR="16108" marT="0" marB="0"/>
                </a:tc>
                <a:tc>
                  <a:txBody>
                    <a:bodyPr/>
                    <a:lstStyle/>
                    <a:p>
                      <a:pPr algn="l">
                        <a:spcBef>
                          <a:spcPts val="250"/>
                        </a:spcBef>
                        <a:spcAft>
                          <a:spcPts val="350"/>
                        </a:spcAft>
                      </a:pPr>
                      <a:r>
                        <a:rPr lang="tr-TR" sz="1200" dirty="0">
                          <a:solidFill>
                            <a:srgbClr val="666666"/>
                          </a:solidFill>
                          <a:effectLst/>
                        </a:rPr>
                        <a:t>Implementation of state management, possibly using Redux, MobX, or React's built-in Context API, to manage application state.</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extLst>
                  <a:ext uri="{0D108BD9-81ED-4DB2-BD59-A6C34878D82A}">
                    <a16:rowId xmlns:a16="http://schemas.microsoft.com/office/drawing/2014/main" xmlns="" val="2335256869"/>
                  </a:ext>
                </a:extLst>
              </a:tr>
              <a:tr h="312130">
                <a:tc>
                  <a:txBody>
                    <a:bodyPr/>
                    <a:lstStyle/>
                    <a:p>
                      <a:pPr algn="l">
                        <a:spcBef>
                          <a:spcPts val="250"/>
                        </a:spcBef>
                        <a:spcAft>
                          <a:spcPts val="350"/>
                        </a:spcAft>
                      </a:pPr>
                      <a:r>
                        <a:rPr lang="tr-TR" sz="1200" dirty="0">
                          <a:solidFill>
                            <a:srgbClr val="666666"/>
                          </a:solidFill>
                          <a:effectLst/>
                        </a:rPr>
                        <a:t>API Integration</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tc>
                  <a:txBody>
                    <a:bodyPr/>
                    <a:lstStyle/>
                    <a:p>
                      <a:pPr algn="l">
                        <a:spcBef>
                          <a:spcPts val="250"/>
                        </a:spcBef>
                        <a:spcAft>
                          <a:spcPts val="350"/>
                        </a:spcAft>
                      </a:pPr>
                      <a:r>
                        <a:rPr lang="tr-TR" sz="1200" dirty="0">
                          <a:solidFill>
                            <a:srgbClr val="666666"/>
                          </a:solidFill>
                          <a:effectLst/>
                        </a:rPr>
                        <a:t>Code for interacting with backend APIs, handling data fetching, and managing network requests and responses within the frontend.</a:t>
                      </a:r>
                      <a:endParaRPr lang="tr-TR" sz="1200" dirty="0">
                        <a:solidFill>
                          <a:srgbClr val="666666"/>
                        </a:solidFill>
                        <a:effectLst/>
                        <a:latin typeface="Times New Roman" panose="02020603050405020304" pitchFamily="18" charset="0"/>
                        <a:ea typeface="Batang" panose="02030600000101010101" pitchFamily="18" charset="-127"/>
                      </a:endParaRPr>
                    </a:p>
                  </a:txBody>
                  <a:tcPr marL="16108" marR="16108" marT="0" marB="0"/>
                </a:tc>
                <a:extLst>
                  <a:ext uri="{0D108BD9-81ED-4DB2-BD59-A6C34878D82A}">
                    <a16:rowId xmlns:a16="http://schemas.microsoft.com/office/drawing/2014/main" xmlns="" val="1813287536"/>
                  </a:ext>
                </a:extLst>
              </a:tr>
            </a:tbl>
          </a:graphicData>
        </a:graphic>
      </p:graphicFrame>
      <p:pic>
        <p:nvPicPr>
          <p:cNvPr id="6" name="Picture 5">
            <a:extLst>
              <a:ext uri="{FF2B5EF4-FFF2-40B4-BE49-F238E27FC236}">
                <a16:creationId xmlns:a16="http://schemas.microsoft.com/office/drawing/2014/main" xmlns="" id="{A6261FDE-316F-2443-B610-5B08D7DBFF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Tree>
    <p:extLst>
      <p:ext uri="{BB962C8B-B14F-4D97-AF65-F5344CB8AC3E}">
        <p14:creationId xmlns:p14="http://schemas.microsoft.com/office/powerpoint/2010/main" val="9005770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628650" y="-56803"/>
            <a:ext cx="7886700" cy="1325563"/>
          </a:xfrm>
        </p:spPr>
        <p:txBody>
          <a:bodyPr/>
          <a:lstStyle/>
          <a:p>
            <a:r>
              <a:rPr lang="tr-TR" b="1" dirty="0">
                <a:solidFill>
                  <a:srgbClr val="3E3A5F"/>
                </a:solidFill>
              </a:rPr>
              <a:t>What We Deliver Rather Than Code? </a:t>
            </a:r>
          </a:p>
        </p:txBody>
      </p:sp>
      <p:sp>
        <p:nvSpPr>
          <p:cNvPr id="3" name="İçerik Yer Tutucusu 2"/>
          <p:cNvSpPr>
            <a:spLocks noGrp="1"/>
          </p:cNvSpPr>
          <p:nvPr>
            <p:ph idx="1"/>
          </p:nvPr>
        </p:nvSpPr>
        <p:spPr>
          <a:xfrm>
            <a:off x="628649" y="1340768"/>
            <a:ext cx="7867693" cy="936104"/>
          </a:xfrm>
        </p:spPr>
        <p:txBody>
          <a:bodyPr/>
          <a:lstStyle/>
          <a:p>
            <a:pPr marL="0" indent="0">
              <a:buNone/>
            </a:pPr>
            <a:r>
              <a:rPr lang="en-US" sz="1800" dirty="0">
                <a:effectLst/>
                <a:ea typeface="Batang" panose="02030600000101010101" pitchFamily="18" charset="-127"/>
              </a:rPr>
              <a:t>The below table identifies the documents to be delivered;</a:t>
            </a:r>
            <a:endParaRPr lang="tr-TR" sz="1800" dirty="0">
              <a:effectLst/>
              <a:ea typeface="Batang" panose="02030600000101010101" pitchFamily="18" charset="-127"/>
            </a:endParaRPr>
          </a:p>
        </p:txBody>
      </p:sp>
      <p:sp>
        <p:nvSpPr>
          <p:cNvPr id="5" name="Footer Placeholder 4">
            <a:extLst>
              <a:ext uri="{FF2B5EF4-FFF2-40B4-BE49-F238E27FC236}">
                <a16:creationId xmlns:a16="http://schemas.microsoft.com/office/drawing/2014/main" xmlns="" id="{63DF5A13-E0DA-F2B9-18BF-6B380B7D2DC9}"/>
              </a:ext>
            </a:extLst>
          </p:cNvPr>
          <p:cNvSpPr>
            <a:spLocks noGrp="1"/>
          </p:cNvSpPr>
          <p:nvPr>
            <p:ph type="ftr" sz="quarter" idx="11"/>
          </p:nvPr>
        </p:nvSpPr>
        <p:spPr/>
        <p:txBody>
          <a:bodyPr/>
          <a:lstStyle/>
          <a:p>
            <a:r>
              <a:rPr lang="tr-TR" dirty="0"/>
              <a:t>iKnow Technology</a:t>
            </a:r>
          </a:p>
        </p:txBody>
      </p:sp>
      <p:sp>
        <p:nvSpPr>
          <p:cNvPr id="6" name="Slide Number Placeholder 5">
            <a:extLst>
              <a:ext uri="{FF2B5EF4-FFF2-40B4-BE49-F238E27FC236}">
                <a16:creationId xmlns:a16="http://schemas.microsoft.com/office/drawing/2014/main" xmlns="" id="{28499DC9-878C-6B64-7F84-6540634EA76B}"/>
              </a:ext>
            </a:extLst>
          </p:cNvPr>
          <p:cNvSpPr>
            <a:spLocks noGrp="1"/>
          </p:cNvSpPr>
          <p:nvPr>
            <p:ph type="sldNum" sz="quarter" idx="12"/>
          </p:nvPr>
        </p:nvSpPr>
        <p:spPr/>
        <p:txBody>
          <a:bodyPr/>
          <a:lstStyle/>
          <a:p>
            <a:fld id="{45536E09-86AD-465C-A544-548EAC427A74}" type="slidenum">
              <a:rPr lang="tr-TR" smtClean="0"/>
              <a:t>21</a:t>
            </a:fld>
            <a:endParaRPr lang="tr-TR"/>
          </a:p>
        </p:txBody>
      </p:sp>
      <p:graphicFrame>
        <p:nvGraphicFramePr>
          <p:cNvPr id="4" name="Table 3">
            <a:extLst>
              <a:ext uri="{FF2B5EF4-FFF2-40B4-BE49-F238E27FC236}">
                <a16:creationId xmlns:a16="http://schemas.microsoft.com/office/drawing/2014/main" xmlns="" id="{EFC174F5-1012-136A-08F6-4FCA2F1287C8}"/>
              </a:ext>
            </a:extLst>
          </p:cNvPr>
          <p:cNvGraphicFramePr>
            <a:graphicFrameLocks noGrp="1"/>
          </p:cNvGraphicFramePr>
          <p:nvPr>
            <p:extLst>
              <p:ext uri="{D42A27DB-BD31-4B8C-83A1-F6EECF244321}">
                <p14:modId xmlns:p14="http://schemas.microsoft.com/office/powerpoint/2010/main" val="849906803"/>
              </p:ext>
            </p:extLst>
          </p:nvPr>
        </p:nvGraphicFramePr>
        <p:xfrm>
          <a:off x="749524" y="1866280"/>
          <a:ext cx="6898847" cy="3006132"/>
        </p:xfrm>
        <a:graphic>
          <a:graphicData uri="http://schemas.openxmlformats.org/drawingml/2006/table">
            <a:tbl>
              <a:tblPr firstRow="1" firstCol="1" bandRow="1">
                <a:tableStyleId>{2D5ABB26-0587-4C30-8999-92F81FD0307C}</a:tableStyleId>
              </a:tblPr>
              <a:tblGrid>
                <a:gridCol w="2284283">
                  <a:extLst>
                    <a:ext uri="{9D8B030D-6E8A-4147-A177-3AD203B41FA5}">
                      <a16:colId xmlns:a16="http://schemas.microsoft.com/office/drawing/2014/main" xmlns="" val="3248222367"/>
                    </a:ext>
                  </a:extLst>
                </a:gridCol>
                <a:gridCol w="4614564">
                  <a:extLst>
                    <a:ext uri="{9D8B030D-6E8A-4147-A177-3AD203B41FA5}">
                      <a16:colId xmlns:a16="http://schemas.microsoft.com/office/drawing/2014/main" xmlns="" val="1468271907"/>
                    </a:ext>
                  </a:extLst>
                </a:gridCol>
              </a:tblGrid>
              <a:tr h="0">
                <a:tc>
                  <a:txBody>
                    <a:bodyPr/>
                    <a:lstStyle/>
                    <a:p>
                      <a:pPr>
                        <a:lnSpc>
                          <a:spcPts val="1200"/>
                        </a:lnSpc>
                        <a:spcBef>
                          <a:spcPts val="250"/>
                        </a:spcBef>
                        <a:spcAft>
                          <a:spcPts val="350"/>
                        </a:spcAft>
                      </a:pPr>
                      <a:endParaRPr lang="tr-TR" sz="1400" b="1" u="sng" kern="1000" dirty="0">
                        <a:solidFill>
                          <a:srgbClr val="3E3A5F"/>
                        </a:solidFill>
                        <a:effectLst/>
                        <a:latin typeface="+mn-lt"/>
                      </a:endParaRPr>
                    </a:p>
                    <a:p>
                      <a:pPr>
                        <a:lnSpc>
                          <a:spcPts val="1200"/>
                        </a:lnSpc>
                        <a:spcBef>
                          <a:spcPts val="250"/>
                        </a:spcBef>
                        <a:spcAft>
                          <a:spcPts val="350"/>
                        </a:spcAft>
                      </a:pPr>
                      <a:r>
                        <a:rPr lang="en-US" sz="1400" b="1" u="sng" kern="1000" dirty="0">
                          <a:solidFill>
                            <a:srgbClr val="3E3A5F"/>
                          </a:solidFill>
                          <a:effectLst/>
                          <a:latin typeface="+mn-lt"/>
                        </a:rPr>
                        <a:t>Document </a:t>
                      </a:r>
                      <a:r>
                        <a:rPr lang="tr-TR" sz="1400" b="1" u="sng" kern="1000" dirty="0">
                          <a:solidFill>
                            <a:srgbClr val="3E3A5F"/>
                          </a:solidFill>
                          <a:effectLst/>
                          <a:latin typeface="+mn-lt"/>
                        </a:rPr>
                        <a:t>Title</a:t>
                      </a:r>
                      <a:endParaRPr lang="tr-TR" sz="1400" b="1" u="sng" kern="1000" dirty="0">
                        <a:solidFill>
                          <a:srgbClr val="3E3A5F"/>
                        </a:solidFill>
                        <a:effectLst/>
                        <a:latin typeface="+mn-lt"/>
                        <a:ea typeface="Batang" panose="02030600000101010101" pitchFamily="18" charset="-127"/>
                        <a:cs typeface="Arial" panose="020B0604020202020204" pitchFamily="34" charset="0"/>
                      </a:endParaRPr>
                    </a:p>
                  </a:txBody>
                  <a:tcPr marL="27305" marR="27305" marT="0" marB="0"/>
                </a:tc>
                <a:tc>
                  <a:txBody>
                    <a:bodyPr/>
                    <a:lstStyle/>
                    <a:p>
                      <a:pPr>
                        <a:lnSpc>
                          <a:spcPts val="1200"/>
                        </a:lnSpc>
                        <a:spcBef>
                          <a:spcPts val="250"/>
                        </a:spcBef>
                        <a:spcAft>
                          <a:spcPts val="350"/>
                        </a:spcAft>
                      </a:pPr>
                      <a:endParaRPr lang="tr-TR" sz="1400" b="1" u="sng" kern="1000" dirty="0">
                        <a:solidFill>
                          <a:srgbClr val="3E3A5F"/>
                        </a:solidFill>
                        <a:effectLst/>
                        <a:latin typeface="+mn-lt"/>
                      </a:endParaRPr>
                    </a:p>
                    <a:p>
                      <a:pPr>
                        <a:lnSpc>
                          <a:spcPts val="1200"/>
                        </a:lnSpc>
                        <a:spcBef>
                          <a:spcPts val="250"/>
                        </a:spcBef>
                        <a:spcAft>
                          <a:spcPts val="350"/>
                        </a:spcAft>
                      </a:pPr>
                      <a:r>
                        <a:rPr lang="en-US" sz="1400" b="1" u="sng" kern="1000" dirty="0">
                          <a:solidFill>
                            <a:srgbClr val="3E3A5F"/>
                          </a:solidFill>
                          <a:effectLst/>
                          <a:latin typeface="+mn-lt"/>
                        </a:rPr>
                        <a:t>Description</a:t>
                      </a:r>
                      <a:endParaRPr lang="tr-TR" sz="1400" b="1" u="sng" kern="1000" dirty="0">
                        <a:solidFill>
                          <a:srgbClr val="3E3A5F"/>
                        </a:solidFill>
                        <a:effectLst/>
                        <a:latin typeface="+mn-lt"/>
                        <a:ea typeface="Batang" panose="02030600000101010101" pitchFamily="18" charset="-127"/>
                        <a:cs typeface="Arial" panose="020B0604020202020204" pitchFamily="34" charset="0"/>
                      </a:endParaRPr>
                    </a:p>
                  </a:txBody>
                  <a:tcPr marL="27305" marR="27305" marT="0" marB="0"/>
                </a:tc>
                <a:extLst>
                  <a:ext uri="{0D108BD9-81ED-4DB2-BD59-A6C34878D82A}">
                    <a16:rowId xmlns:a16="http://schemas.microsoft.com/office/drawing/2014/main" xmlns="" val="1904443695"/>
                  </a:ext>
                </a:extLst>
              </a:tr>
              <a:tr h="54797">
                <a:tc>
                  <a:txBody>
                    <a:bodyPr/>
                    <a:lstStyle/>
                    <a:p>
                      <a:pPr>
                        <a:lnSpc>
                          <a:spcPts val="1200"/>
                        </a:lnSpc>
                        <a:spcBef>
                          <a:spcPts val="250"/>
                        </a:spcBef>
                        <a:spcAft>
                          <a:spcPts val="350"/>
                        </a:spcAft>
                      </a:pPr>
                      <a:endParaRPr lang="tr-TR" sz="1400" kern="1000" dirty="0">
                        <a:solidFill>
                          <a:srgbClr val="666666"/>
                        </a:solidFill>
                        <a:effectLst/>
                        <a:latin typeface="+mn-lt"/>
                      </a:endParaRPr>
                    </a:p>
                    <a:p>
                      <a:pPr>
                        <a:lnSpc>
                          <a:spcPts val="1200"/>
                        </a:lnSpc>
                        <a:spcBef>
                          <a:spcPts val="250"/>
                        </a:spcBef>
                        <a:spcAft>
                          <a:spcPts val="350"/>
                        </a:spcAft>
                      </a:pPr>
                      <a:r>
                        <a:rPr lang="en-US" sz="1400" kern="1000" dirty="0">
                          <a:solidFill>
                            <a:srgbClr val="666666"/>
                          </a:solidFill>
                          <a:effectLst/>
                          <a:latin typeface="+mn-lt"/>
                        </a:rPr>
                        <a:t>SRS document</a:t>
                      </a:r>
                      <a:endParaRPr lang="tr-TR" sz="1400" kern="1000" dirty="0">
                        <a:solidFill>
                          <a:srgbClr val="666666"/>
                        </a:solidFill>
                        <a:effectLst/>
                        <a:latin typeface="+mn-lt"/>
                        <a:ea typeface="Batang" panose="02030600000101010101" pitchFamily="18" charset="-127"/>
                        <a:cs typeface="Arial" panose="020B0604020202020204" pitchFamily="34" charset="0"/>
                      </a:endParaRPr>
                    </a:p>
                  </a:txBody>
                  <a:tcPr marL="27305" marR="27305" marT="0" marB="0"/>
                </a:tc>
                <a:tc>
                  <a:txBody>
                    <a:bodyPr/>
                    <a:lstStyle/>
                    <a:p>
                      <a:pPr>
                        <a:lnSpc>
                          <a:spcPts val="1200"/>
                        </a:lnSpc>
                        <a:spcBef>
                          <a:spcPts val="250"/>
                        </a:spcBef>
                        <a:spcAft>
                          <a:spcPts val="350"/>
                        </a:spcAft>
                      </a:pPr>
                      <a:endParaRPr lang="tr-TR" sz="1400" kern="1000" dirty="0">
                        <a:solidFill>
                          <a:srgbClr val="666666"/>
                        </a:solidFill>
                        <a:effectLst/>
                        <a:latin typeface="+mn-lt"/>
                      </a:endParaRPr>
                    </a:p>
                    <a:p>
                      <a:pPr>
                        <a:lnSpc>
                          <a:spcPts val="1200"/>
                        </a:lnSpc>
                        <a:spcBef>
                          <a:spcPts val="250"/>
                        </a:spcBef>
                        <a:spcAft>
                          <a:spcPts val="350"/>
                        </a:spcAft>
                      </a:pPr>
                      <a:r>
                        <a:rPr lang="en-US" sz="1400" kern="1000" dirty="0">
                          <a:solidFill>
                            <a:srgbClr val="666666"/>
                          </a:solidFill>
                          <a:effectLst/>
                          <a:latin typeface="+mn-lt"/>
                        </a:rPr>
                        <a:t>Solution/System  Requirements Specifications document</a:t>
                      </a:r>
                      <a:endParaRPr lang="tr-TR" sz="1400" kern="1000" dirty="0">
                        <a:solidFill>
                          <a:srgbClr val="666666"/>
                        </a:solidFill>
                        <a:effectLst/>
                        <a:latin typeface="+mn-lt"/>
                        <a:ea typeface="Batang" panose="02030600000101010101" pitchFamily="18" charset="-127"/>
                        <a:cs typeface="Arial" panose="020B0604020202020204" pitchFamily="34" charset="0"/>
                      </a:endParaRPr>
                    </a:p>
                  </a:txBody>
                  <a:tcPr marL="27305" marR="27305" marT="0" marB="0"/>
                </a:tc>
                <a:extLst>
                  <a:ext uri="{0D108BD9-81ED-4DB2-BD59-A6C34878D82A}">
                    <a16:rowId xmlns:a16="http://schemas.microsoft.com/office/drawing/2014/main" xmlns="" val="2342687213"/>
                  </a:ext>
                </a:extLst>
              </a:tr>
              <a:tr h="275178">
                <a:tc>
                  <a:txBody>
                    <a:bodyPr/>
                    <a:lstStyle/>
                    <a:p>
                      <a:pPr>
                        <a:lnSpc>
                          <a:spcPts val="1200"/>
                        </a:lnSpc>
                        <a:spcBef>
                          <a:spcPts val="250"/>
                        </a:spcBef>
                        <a:spcAft>
                          <a:spcPts val="350"/>
                        </a:spcAft>
                      </a:pPr>
                      <a:endParaRPr lang="tr-TR" sz="1400" kern="1000" dirty="0">
                        <a:solidFill>
                          <a:srgbClr val="666666"/>
                        </a:solidFill>
                        <a:effectLst/>
                        <a:latin typeface="+mn-lt"/>
                      </a:endParaRPr>
                    </a:p>
                    <a:p>
                      <a:pPr>
                        <a:lnSpc>
                          <a:spcPts val="1200"/>
                        </a:lnSpc>
                        <a:spcBef>
                          <a:spcPts val="250"/>
                        </a:spcBef>
                        <a:spcAft>
                          <a:spcPts val="350"/>
                        </a:spcAft>
                      </a:pPr>
                      <a:r>
                        <a:rPr lang="en-US" sz="1400" kern="1000" dirty="0">
                          <a:solidFill>
                            <a:srgbClr val="666666"/>
                          </a:solidFill>
                          <a:effectLst/>
                          <a:latin typeface="+mn-lt"/>
                        </a:rPr>
                        <a:t>SAS document</a:t>
                      </a:r>
                      <a:endParaRPr lang="tr-TR" sz="1400" kern="1000" dirty="0">
                        <a:solidFill>
                          <a:srgbClr val="666666"/>
                        </a:solidFill>
                        <a:effectLst/>
                        <a:latin typeface="+mn-lt"/>
                        <a:ea typeface="Batang" panose="02030600000101010101" pitchFamily="18" charset="-127"/>
                        <a:cs typeface="Arial" panose="020B0604020202020204" pitchFamily="34" charset="0"/>
                      </a:endParaRPr>
                    </a:p>
                  </a:txBody>
                  <a:tcPr marL="27305" marR="27305" marT="0" marB="0"/>
                </a:tc>
                <a:tc>
                  <a:txBody>
                    <a:bodyPr/>
                    <a:lstStyle/>
                    <a:p>
                      <a:pPr>
                        <a:lnSpc>
                          <a:spcPts val="1200"/>
                        </a:lnSpc>
                        <a:spcBef>
                          <a:spcPts val="250"/>
                        </a:spcBef>
                        <a:spcAft>
                          <a:spcPts val="350"/>
                        </a:spcAft>
                      </a:pPr>
                      <a:endParaRPr lang="tr-TR" sz="1400" kern="1000" dirty="0">
                        <a:solidFill>
                          <a:srgbClr val="666666"/>
                        </a:solidFill>
                        <a:effectLst/>
                        <a:latin typeface="+mn-lt"/>
                      </a:endParaRPr>
                    </a:p>
                    <a:p>
                      <a:pPr>
                        <a:lnSpc>
                          <a:spcPts val="1200"/>
                        </a:lnSpc>
                        <a:spcBef>
                          <a:spcPts val="250"/>
                        </a:spcBef>
                        <a:spcAft>
                          <a:spcPts val="350"/>
                        </a:spcAft>
                      </a:pPr>
                      <a:r>
                        <a:rPr lang="en-US" sz="1400" kern="1000" dirty="0">
                          <a:solidFill>
                            <a:srgbClr val="666666"/>
                          </a:solidFill>
                          <a:effectLst/>
                          <a:latin typeface="+mn-lt"/>
                        </a:rPr>
                        <a:t>System Architecture Specifications Document</a:t>
                      </a:r>
                      <a:endParaRPr lang="tr-TR" sz="1400" kern="1000" dirty="0">
                        <a:solidFill>
                          <a:srgbClr val="666666"/>
                        </a:solidFill>
                        <a:effectLst/>
                        <a:latin typeface="+mn-lt"/>
                        <a:ea typeface="Batang" panose="02030600000101010101" pitchFamily="18" charset="-127"/>
                        <a:cs typeface="Arial" panose="020B0604020202020204" pitchFamily="34" charset="0"/>
                      </a:endParaRPr>
                    </a:p>
                  </a:txBody>
                  <a:tcPr marL="27305" marR="27305" marT="0" marB="0"/>
                </a:tc>
                <a:extLst>
                  <a:ext uri="{0D108BD9-81ED-4DB2-BD59-A6C34878D82A}">
                    <a16:rowId xmlns:a16="http://schemas.microsoft.com/office/drawing/2014/main" xmlns="" val="4060901330"/>
                  </a:ext>
                </a:extLst>
              </a:tr>
              <a:tr h="351543">
                <a:tc>
                  <a:txBody>
                    <a:bodyPr/>
                    <a:lstStyle/>
                    <a:p>
                      <a:pPr>
                        <a:lnSpc>
                          <a:spcPts val="1200"/>
                        </a:lnSpc>
                        <a:spcBef>
                          <a:spcPts val="250"/>
                        </a:spcBef>
                        <a:spcAft>
                          <a:spcPts val="350"/>
                        </a:spcAft>
                      </a:pPr>
                      <a:endParaRPr lang="tr-TR" sz="1400" kern="1000" dirty="0">
                        <a:solidFill>
                          <a:srgbClr val="666666"/>
                        </a:solidFill>
                        <a:effectLst/>
                        <a:latin typeface="+mn-lt"/>
                      </a:endParaRPr>
                    </a:p>
                    <a:p>
                      <a:pPr>
                        <a:lnSpc>
                          <a:spcPts val="1200"/>
                        </a:lnSpc>
                        <a:spcBef>
                          <a:spcPts val="250"/>
                        </a:spcBef>
                        <a:spcAft>
                          <a:spcPts val="350"/>
                        </a:spcAft>
                      </a:pPr>
                      <a:r>
                        <a:rPr lang="en-US" sz="1400" kern="1000" dirty="0">
                          <a:solidFill>
                            <a:srgbClr val="666666"/>
                          </a:solidFill>
                          <a:effectLst/>
                          <a:latin typeface="+mn-lt"/>
                        </a:rPr>
                        <a:t>HLD</a:t>
                      </a:r>
                      <a:endParaRPr lang="tr-TR" sz="1400" kern="1000" dirty="0">
                        <a:solidFill>
                          <a:srgbClr val="666666"/>
                        </a:solidFill>
                        <a:effectLst/>
                        <a:latin typeface="+mn-lt"/>
                        <a:ea typeface="Batang" panose="02030600000101010101" pitchFamily="18" charset="-127"/>
                        <a:cs typeface="Arial" panose="020B0604020202020204" pitchFamily="34" charset="0"/>
                      </a:endParaRPr>
                    </a:p>
                  </a:txBody>
                  <a:tcPr marL="27305" marR="27305" marT="0" marB="0"/>
                </a:tc>
                <a:tc>
                  <a:txBody>
                    <a:bodyPr/>
                    <a:lstStyle/>
                    <a:p>
                      <a:pPr>
                        <a:lnSpc>
                          <a:spcPts val="1200"/>
                        </a:lnSpc>
                        <a:spcBef>
                          <a:spcPts val="250"/>
                        </a:spcBef>
                        <a:spcAft>
                          <a:spcPts val="350"/>
                        </a:spcAft>
                      </a:pPr>
                      <a:endParaRPr lang="tr-TR" sz="1400" kern="1000" dirty="0">
                        <a:solidFill>
                          <a:srgbClr val="666666"/>
                        </a:solidFill>
                        <a:effectLst/>
                        <a:latin typeface="+mn-lt"/>
                      </a:endParaRPr>
                    </a:p>
                    <a:p>
                      <a:pPr>
                        <a:lnSpc>
                          <a:spcPts val="1200"/>
                        </a:lnSpc>
                        <a:spcBef>
                          <a:spcPts val="250"/>
                        </a:spcBef>
                        <a:spcAft>
                          <a:spcPts val="350"/>
                        </a:spcAft>
                      </a:pPr>
                      <a:r>
                        <a:rPr lang="en-US" sz="1400" kern="1000" dirty="0">
                          <a:solidFill>
                            <a:srgbClr val="666666"/>
                          </a:solidFill>
                          <a:effectLst/>
                          <a:latin typeface="+mn-lt"/>
                        </a:rPr>
                        <a:t>Detailed High Level Design Specifications Document</a:t>
                      </a:r>
                      <a:endParaRPr lang="tr-TR" sz="1400" kern="1000" dirty="0">
                        <a:solidFill>
                          <a:srgbClr val="666666"/>
                        </a:solidFill>
                        <a:effectLst/>
                        <a:latin typeface="+mn-lt"/>
                        <a:ea typeface="Batang" panose="02030600000101010101" pitchFamily="18" charset="-127"/>
                        <a:cs typeface="Arial" panose="020B0604020202020204" pitchFamily="34" charset="0"/>
                      </a:endParaRPr>
                    </a:p>
                  </a:txBody>
                  <a:tcPr marL="27305" marR="27305" marT="0" marB="0"/>
                </a:tc>
                <a:extLst>
                  <a:ext uri="{0D108BD9-81ED-4DB2-BD59-A6C34878D82A}">
                    <a16:rowId xmlns:a16="http://schemas.microsoft.com/office/drawing/2014/main" xmlns="" val="3873333335"/>
                  </a:ext>
                </a:extLst>
              </a:tr>
              <a:tr h="643932">
                <a:tc>
                  <a:txBody>
                    <a:bodyPr/>
                    <a:lstStyle/>
                    <a:p>
                      <a:pPr marL="342900" lvl="0" indent="-342900">
                        <a:buFont typeface="Symbol" panose="05050102010706020507" pitchFamily="18" charset="2"/>
                        <a:buChar char=""/>
                      </a:pPr>
                      <a:endParaRPr lang="tr-TR" sz="1400" dirty="0">
                        <a:solidFill>
                          <a:srgbClr val="666666"/>
                        </a:solidFill>
                        <a:effectLst/>
                        <a:latin typeface="+mn-lt"/>
                      </a:endParaRPr>
                    </a:p>
                    <a:p>
                      <a:pPr marL="0" lvl="0" indent="0">
                        <a:buFont typeface="Symbol" panose="05050102010706020507" pitchFamily="18" charset="2"/>
                        <a:buNone/>
                      </a:pPr>
                      <a:r>
                        <a:rPr lang="en-US" sz="1400" dirty="0">
                          <a:solidFill>
                            <a:srgbClr val="666666"/>
                          </a:solidFill>
                          <a:effectLst/>
                          <a:latin typeface="+mn-lt"/>
                        </a:rPr>
                        <a:t>IFS-OFFLINE</a:t>
                      </a:r>
                      <a:endParaRPr lang="tr-TR" sz="1400" dirty="0">
                        <a:solidFill>
                          <a:srgbClr val="666666"/>
                        </a:solidFill>
                        <a:effectLst/>
                        <a:latin typeface="+mn-lt"/>
                      </a:endParaRPr>
                    </a:p>
                    <a:p>
                      <a:pPr marL="0" lvl="0" indent="0">
                        <a:buFont typeface="Symbol" panose="05050102010706020507" pitchFamily="18" charset="2"/>
                        <a:buNone/>
                      </a:pPr>
                      <a:r>
                        <a:rPr lang="en-US" sz="1400" dirty="0">
                          <a:solidFill>
                            <a:srgbClr val="666666"/>
                          </a:solidFill>
                          <a:effectLst/>
                          <a:latin typeface="+mn-lt"/>
                        </a:rPr>
                        <a:t>IFS-ONLINE</a:t>
                      </a:r>
                      <a:endParaRPr lang="tr-TR" sz="1400" dirty="0">
                        <a:solidFill>
                          <a:srgbClr val="666666"/>
                        </a:solidFill>
                        <a:effectLst/>
                        <a:latin typeface="+mn-lt"/>
                        <a:ea typeface="Times New Roman" panose="02020603050405020304" pitchFamily="18" charset="0"/>
                        <a:cs typeface="Times New Roman" panose="02020603050405020304" pitchFamily="18" charset="0"/>
                      </a:endParaRPr>
                    </a:p>
                  </a:txBody>
                  <a:tcPr marL="27305" marR="27305" marT="0" marB="0"/>
                </a:tc>
                <a:tc>
                  <a:txBody>
                    <a:bodyPr/>
                    <a:lstStyle/>
                    <a:p>
                      <a:pPr>
                        <a:lnSpc>
                          <a:spcPts val="1200"/>
                        </a:lnSpc>
                        <a:spcBef>
                          <a:spcPts val="250"/>
                        </a:spcBef>
                        <a:spcAft>
                          <a:spcPts val="350"/>
                        </a:spcAft>
                      </a:pPr>
                      <a:endParaRPr lang="tr-TR" sz="1400" kern="1000" dirty="0">
                        <a:solidFill>
                          <a:srgbClr val="666666"/>
                        </a:solidFill>
                        <a:effectLst/>
                        <a:latin typeface="+mn-lt"/>
                      </a:endParaRPr>
                    </a:p>
                    <a:p>
                      <a:pPr>
                        <a:lnSpc>
                          <a:spcPts val="1200"/>
                        </a:lnSpc>
                        <a:spcBef>
                          <a:spcPts val="250"/>
                        </a:spcBef>
                        <a:spcAft>
                          <a:spcPts val="350"/>
                        </a:spcAft>
                      </a:pPr>
                      <a:r>
                        <a:rPr lang="en-US" sz="1400" kern="1000" dirty="0">
                          <a:solidFill>
                            <a:srgbClr val="666666"/>
                          </a:solidFill>
                          <a:effectLst/>
                          <a:latin typeface="+mn-lt"/>
                        </a:rPr>
                        <a:t>Interface Specification for all offline (file based) and online (WSIL based) external interfaces.</a:t>
                      </a:r>
                      <a:endParaRPr lang="tr-TR" sz="1400" kern="1000" dirty="0">
                        <a:solidFill>
                          <a:srgbClr val="666666"/>
                        </a:solidFill>
                        <a:effectLst/>
                        <a:latin typeface="+mn-lt"/>
                        <a:ea typeface="Batang" panose="02030600000101010101" pitchFamily="18" charset="-127"/>
                        <a:cs typeface="Arial" panose="020B0604020202020204" pitchFamily="34" charset="0"/>
                      </a:endParaRPr>
                    </a:p>
                  </a:txBody>
                  <a:tcPr marL="27305" marR="27305" marT="0" marB="0"/>
                </a:tc>
                <a:extLst>
                  <a:ext uri="{0D108BD9-81ED-4DB2-BD59-A6C34878D82A}">
                    <a16:rowId xmlns:a16="http://schemas.microsoft.com/office/drawing/2014/main" xmlns="" val="1649367003"/>
                  </a:ext>
                </a:extLst>
              </a:tr>
              <a:tr h="286981">
                <a:tc>
                  <a:txBody>
                    <a:bodyPr/>
                    <a:lstStyle/>
                    <a:p>
                      <a:pPr>
                        <a:lnSpc>
                          <a:spcPts val="1200"/>
                        </a:lnSpc>
                        <a:spcBef>
                          <a:spcPts val="250"/>
                        </a:spcBef>
                        <a:spcAft>
                          <a:spcPts val="350"/>
                        </a:spcAft>
                      </a:pPr>
                      <a:endParaRPr lang="tr-TR" sz="1400" kern="1000" dirty="0">
                        <a:solidFill>
                          <a:srgbClr val="666666"/>
                        </a:solidFill>
                        <a:effectLst/>
                        <a:latin typeface="+mn-lt"/>
                      </a:endParaRPr>
                    </a:p>
                    <a:p>
                      <a:pPr>
                        <a:lnSpc>
                          <a:spcPts val="1200"/>
                        </a:lnSpc>
                        <a:spcBef>
                          <a:spcPts val="250"/>
                        </a:spcBef>
                        <a:spcAft>
                          <a:spcPts val="350"/>
                        </a:spcAft>
                      </a:pPr>
                      <a:r>
                        <a:rPr lang="en-US" sz="1400" kern="1000" dirty="0">
                          <a:solidFill>
                            <a:srgbClr val="666666"/>
                          </a:solidFill>
                          <a:effectLst/>
                          <a:latin typeface="+mn-lt"/>
                        </a:rPr>
                        <a:t>IG</a:t>
                      </a:r>
                      <a:endParaRPr lang="tr-TR" sz="1400" kern="1000" dirty="0">
                        <a:solidFill>
                          <a:srgbClr val="666666"/>
                        </a:solidFill>
                        <a:effectLst/>
                        <a:latin typeface="+mn-lt"/>
                      </a:endParaRPr>
                    </a:p>
                  </a:txBody>
                  <a:tcPr marL="27305" marR="27305" marT="0" marB="0"/>
                </a:tc>
                <a:tc>
                  <a:txBody>
                    <a:bodyPr/>
                    <a:lstStyle/>
                    <a:p>
                      <a:pPr>
                        <a:lnSpc>
                          <a:spcPts val="1200"/>
                        </a:lnSpc>
                        <a:spcBef>
                          <a:spcPts val="250"/>
                        </a:spcBef>
                        <a:spcAft>
                          <a:spcPts val="350"/>
                        </a:spcAft>
                      </a:pPr>
                      <a:endParaRPr lang="tr-TR" sz="1400" kern="1000" dirty="0">
                        <a:solidFill>
                          <a:srgbClr val="666666"/>
                        </a:solidFill>
                        <a:effectLst/>
                        <a:latin typeface="+mn-lt"/>
                      </a:endParaRPr>
                    </a:p>
                    <a:p>
                      <a:pPr>
                        <a:lnSpc>
                          <a:spcPts val="1200"/>
                        </a:lnSpc>
                        <a:spcBef>
                          <a:spcPts val="250"/>
                        </a:spcBef>
                        <a:spcAft>
                          <a:spcPts val="350"/>
                        </a:spcAft>
                      </a:pPr>
                      <a:r>
                        <a:rPr lang="en-US" sz="1400" kern="1000" dirty="0">
                          <a:solidFill>
                            <a:srgbClr val="666666"/>
                          </a:solidFill>
                          <a:effectLst/>
                          <a:latin typeface="+mn-lt"/>
                        </a:rPr>
                        <a:t>Installation Guide</a:t>
                      </a:r>
                      <a:endParaRPr lang="tr-TR" sz="1400" kern="1000" dirty="0">
                        <a:solidFill>
                          <a:srgbClr val="666666"/>
                        </a:solidFill>
                        <a:effectLst/>
                        <a:latin typeface="+mn-lt"/>
                        <a:ea typeface="Batang" panose="02030600000101010101" pitchFamily="18" charset="-127"/>
                        <a:cs typeface="Arial" panose="020B0604020202020204" pitchFamily="34" charset="0"/>
                      </a:endParaRPr>
                    </a:p>
                  </a:txBody>
                  <a:tcPr marL="27305" marR="27305" marT="0" marB="0"/>
                </a:tc>
                <a:extLst>
                  <a:ext uri="{0D108BD9-81ED-4DB2-BD59-A6C34878D82A}">
                    <a16:rowId xmlns:a16="http://schemas.microsoft.com/office/drawing/2014/main" xmlns="" val="1582443050"/>
                  </a:ext>
                </a:extLst>
              </a:tr>
              <a:tr h="286981">
                <a:tc>
                  <a:txBody>
                    <a:bodyPr/>
                    <a:lstStyle/>
                    <a:p>
                      <a:pPr>
                        <a:lnSpc>
                          <a:spcPts val="1200"/>
                        </a:lnSpc>
                        <a:spcBef>
                          <a:spcPts val="250"/>
                        </a:spcBef>
                        <a:spcAft>
                          <a:spcPts val="350"/>
                        </a:spcAft>
                      </a:pPr>
                      <a:endParaRPr lang="tr-TR" sz="1400" kern="1000" dirty="0">
                        <a:solidFill>
                          <a:srgbClr val="666666"/>
                        </a:solidFill>
                        <a:effectLst/>
                        <a:latin typeface="+mn-lt"/>
                      </a:endParaRPr>
                    </a:p>
                    <a:p>
                      <a:pPr>
                        <a:lnSpc>
                          <a:spcPts val="1200"/>
                        </a:lnSpc>
                        <a:spcBef>
                          <a:spcPts val="250"/>
                        </a:spcBef>
                        <a:spcAft>
                          <a:spcPts val="350"/>
                        </a:spcAft>
                      </a:pPr>
                      <a:r>
                        <a:rPr lang="en-US" sz="1400" kern="1000" dirty="0">
                          <a:solidFill>
                            <a:srgbClr val="666666"/>
                          </a:solidFill>
                          <a:effectLst/>
                          <a:latin typeface="+mn-lt"/>
                        </a:rPr>
                        <a:t>OCG</a:t>
                      </a:r>
                      <a:endParaRPr lang="tr-TR" sz="1400" kern="1000" dirty="0">
                        <a:solidFill>
                          <a:srgbClr val="666666"/>
                        </a:solidFill>
                        <a:effectLst/>
                        <a:latin typeface="+mn-lt"/>
                      </a:endParaRPr>
                    </a:p>
                  </a:txBody>
                  <a:tcPr marL="27305" marR="27305" marT="0" marB="0"/>
                </a:tc>
                <a:tc>
                  <a:txBody>
                    <a:bodyPr/>
                    <a:lstStyle/>
                    <a:p>
                      <a:pPr>
                        <a:lnSpc>
                          <a:spcPts val="1200"/>
                        </a:lnSpc>
                        <a:spcBef>
                          <a:spcPts val="250"/>
                        </a:spcBef>
                        <a:spcAft>
                          <a:spcPts val="350"/>
                        </a:spcAft>
                      </a:pPr>
                      <a:endParaRPr lang="tr-TR" sz="1400" kern="1000" dirty="0">
                        <a:solidFill>
                          <a:srgbClr val="666666"/>
                        </a:solidFill>
                        <a:effectLst/>
                        <a:latin typeface="+mn-lt"/>
                      </a:endParaRPr>
                    </a:p>
                    <a:p>
                      <a:pPr>
                        <a:lnSpc>
                          <a:spcPts val="1200"/>
                        </a:lnSpc>
                        <a:spcBef>
                          <a:spcPts val="250"/>
                        </a:spcBef>
                        <a:spcAft>
                          <a:spcPts val="350"/>
                        </a:spcAft>
                      </a:pPr>
                      <a:r>
                        <a:rPr lang="en-US" sz="1400" kern="1000" dirty="0">
                          <a:solidFill>
                            <a:srgbClr val="666666"/>
                          </a:solidFill>
                          <a:effectLst/>
                          <a:latin typeface="+mn-lt"/>
                        </a:rPr>
                        <a:t>Operations and Configuration Guide</a:t>
                      </a:r>
                      <a:endParaRPr lang="tr-TR" sz="1400" kern="1000" dirty="0">
                        <a:solidFill>
                          <a:srgbClr val="666666"/>
                        </a:solidFill>
                        <a:effectLst/>
                        <a:latin typeface="+mn-lt"/>
                        <a:ea typeface="Batang" panose="02030600000101010101" pitchFamily="18" charset="-127"/>
                        <a:cs typeface="Arial" panose="020B0604020202020204" pitchFamily="34" charset="0"/>
                      </a:endParaRPr>
                    </a:p>
                  </a:txBody>
                  <a:tcPr marL="27305" marR="27305" marT="0" marB="0"/>
                </a:tc>
                <a:extLst>
                  <a:ext uri="{0D108BD9-81ED-4DB2-BD59-A6C34878D82A}">
                    <a16:rowId xmlns:a16="http://schemas.microsoft.com/office/drawing/2014/main" xmlns="" val="816552198"/>
                  </a:ext>
                </a:extLst>
              </a:tr>
            </a:tbl>
          </a:graphicData>
        </a:graphic>
      </p:graphicFrame>
      <p:pic>
        <p:nvPicPr>
          <p:cNvPr id="10" name="Picture 9">
            <a:extLst>
              <a:ext uri="{FF2B5EF4-FFF2-40B4-BE49-F238E27FC236}">
                <a16:creationId xmlns:a16="http://schemas.microsoft.com/office/drawing/2014/main" xmlns="" id="{30882B96-1BCC-AD7F-8D4A-8A495F0FFA7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Tree>
    <p:extLst>
      <p:ext uri="{BB962C8B-B14F-4D97-AF65-F5344CB8AC3E}">
        <p14:creationId xmlns:p14="http://schemas.microsoft.com/office/powerpoint/2010/main" val="9907867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628650" y="-27384"/>
            <a:ext cx="7886700" cy="1325563"/>
          </a:xfrm>
        </p:spPr>
        <p:txBody>
          <a:bodyPr/>
          <a:lstStyle/>
          <a:p>
            <a:r>
              <a:rPr lang="tr-TR" b="1" dirty="0">
                <a:solidFill>
                  <a:srgbClr val="3E3A5F"/>
                </a:solidFill>
              </a:rPr>
              <a:t>Knowledge Transfer</a:t>
            </a:r>
          </a:p>
        </p:txBody>
      </p:sp>
      <p:sp>
        <p:nvSpPr>
          <p:cNvPr id="3" name="İçerik Yer Tutucusu 2"/>
          <p:cNvSpPr>
            <a:spLocks noGrp="1"/>
          </p:cNvSpPr>
          <p:nvPr>
            <p:ph idx="1"/>
          </p:nvPr>
        </p:nvSpPr>
        <p:spPr>
          <a:xfrm>
            <a:off x="628650" y="1268760"/>
            <a:ext cx="7886700" cy="4968552"/>
          </a:xfrm>
        </p:spPr>
        <p:txBody>
          <a:bodyPr>
            <a:noAutofit/>
          </a:bodyPr>
          <a:lstStyle/>
          <a:p>
            <a:pPr marL="0" indent="0">
              <a:buNone/>
            </a:pPr>
            <a:r>
              <a:rPr lang="tr-TR" sz="1400" dirty="0"/>
              <a:t>If </a:t>
            </a:r>
            <a:r>
              <a:rPr lang="tr-TR" sz="1400" b="1" dirty="0">
                <a:solidFill>
                  <a:srgbClr val="F15922"/>
                </a:solidFill>
              </a:rPr>
              <a:t>iKnow</a:t>
            </a:r>
            <a:r>
              <a:rPr lang="tr-TR" sz="1400" dirty="0"/>
              <a:t> awarded to a project t</a:t>
            </a:r>
            <a:r>
              <a:rPr lang="en-US" sz="1400" dirty="0"/>
              <a:t>o ensure the seamless transfer of critical project knowledge from the development team to the operations, support, and end-user teams, enabling effective management and future development of the project</a:t>
            </a:r>
            <a:r>
              <a:rPr lang="tr-TR" sz="1400" dirty="0"/>
              <a:t> these steps will be followed:</a:t>
            </a:r>
          </a:p>
          <a:p>
            <a:pPr marL="0" indent="0">
              <a:buNone/>
            </a:pPr>
            <a:r>
              <a:rPr lang="en-US" sz="1400" b="1" dirty="0">
                <a:solidFill>
                  <a:srgbClr val="3E3A5F"/>
                </a:solidFill>
              </a:rPr>
              <a:t>Documentation:</a:t>
            </a:r>
            <a:endParaRPr lang="tr-TR" sz="1400" b="1" dirty="0">
              <a:solidFill>
                <a:srgbClr val="3E3A5F"/>
              </a:solidFill>
            </a:endParaRPr>
          </a:p>
          <a:p>
            <a:pPr marL="0" indent="0">
              <a:buNone/>
            </a:pPr>
            <a:r>
              <a:rPr lang="en-US" sz="1400" dirty="0">
                <a:solidFill>
                  <a:srgbClr val="666666"/>
                </a:solidFill>
              </a:rPr>
              <a:t>Comprehensive documentation of system architecture, codebase, configurations, and workflow</a:t>
            </a:r>
            <a:r>
              <a:rPr lang="tr-TR" sz="1400" dirty="0">
                <a:solidFill>
                  <a:srgbClr val="666666"/>
                </a:solidFill>
              </a:rPr>
              <a:t>s,   d</a:t>
            </a:r>
            <a:r>
              <a:rPr lang="en-US" sz="1400" dirty="0" err="1">
                <a:solidFill>
                  <a:srgbClr val="666666"/>
                </a:solidFill>
              </a:rPr>
              <a:t>etailed</a:t>
            </a:r>
            <a:r>
              <a:rPr lang="en-US" sz="1400" dirty="0">
                <a:solidFill>
                  <a:srgbClr val="666666"/>
                </a:solidFill>
              </a:rPr>
              <a:t> technical guides, user manuals, and FAQs</a:t>
            </a:r>
            <a:r>
              <a:rPr lang="tr-TR" sz="1400" dirty="0">
                <a:solidFill>
                  <a:srgbClr val="666666"/>
                </a:solidFill>
              </a:rPr>
              <a:t> will be prepared</a:t>
            </a:r>
            <a:r>
              <a:rPr lang="en-US" sz="1400" dirty="0">
                <a:solidFill>
                  <a:srgbClr val="666666"/>
                </a:solidFill>
              </a:rPr>
              <a:t>.</a:t>
            </a:r>
          </a:p>
          <a:p>
            <a:pPr marL="0" indent="0">
              <a:buNone/>
            </a:pPr>
            <a:r>
              <a:rPr lang="en-US" sz="1400" b="1" dirty="0">
                <a:solidFill>
                  <a:srgbClr val="3E3A5F"/>
                </a:solidFill>
              </a:rPr>
              <a:t>Training Sessions:</a:t>
            </a:r>
            <a:endParaRPr lang="tr-TR" sz="1400" b="1" dirty="0">
              <a:solidFill>
                <a:srgbClr val="3E3A5F"/>
              </a:solidFill>
            </a:endParaRPr>
          </a:p>
          <a:p>
            <a:pPr marL="0" indent="0">
              <a:buNone/>
            </a:pPr>
            <a:r>
              <a:rPr lang="en-US" sz="1400" dirty="0">
                <a:solidFill>
                  <a:srgbClr val="666666"/>
                </a:solidFill>
              </a:rPr>
              <a:t>Interactive sessions for stakeholders, including developers, IT support, and end-users</a:t>
            </a:r>
            <a:r>
              <a:rPr lang="tr-TR" sz="1400" dirty="0">
                <a:solidFill>
                  <a:srgbClr val="666666"/>
                </a:solidFill>
              </a:rPr>
              <a:t> and h</a:t>
            </a:r>
            <a:r>
              <a:rPr lang="en-US" sz="1400" dirty="0">
                <a:solidFill>
                  <a:srgbClr val="666666"/>
                </a:solidFill>
              </a:rPr>
              <a:t>ands-on training with live system demonstrations and Q&amp;A</a:t>
            </a:r>
            <a:r>
              <a:rPr lang="tr-TR" sz="1400" dirty="0">
                <a:solidFill>
                  <a:srgbClr val="666666"/>
                </a:solidFill>
              </a:rPr>
              <a:t> will be held</a:t>
            </a:r>
            <a:r>
              <a:rPr lang="en-US" sz="1400" dirty="0">
                <a:solidFill>
                  <a:srgbClr val="666666"/>
                </a:solidFill>
              </a:rPr>
              <a:t>.</a:t>
            </a:r>
          </a:p>
          <a:p>
            <a:pPr marL="0" indent="0">
              <a:buNone/>
            </a:pPr>
            <a:r>
              <a:rPr lang="en-US" sz="1400" b="1" dirty="0">
                <a:solidFill>
                  <a:srgbClr val="3E3A5F"/>
                </a:solidFill>
              </a:rPr>
              <a:t>Knowledge Repositories:</a:t>
            </a:r>
            <a:endParaRPr lang="tr-TR" sz="1400" b="1" dirty="0">
              <a:solidFill>
                <a:srgbClr val="3E3A5F"/>
              </a:solidFill>
            </a:endParaRPr>
          </a:p>
          <a:p>
            <a:pPr marL="0" indent="0">
              <a:buNone/>
            </a:pPr>
            <a:r>
              <a:rPr lang="en-US" sz="1400" dirty="0">
                <a:solidFill>
                  <a:srgbClr val="666666"/>
                </a:solidFill>
              </a:rPr>
              <a:t>Centralized knowledge base or wiki for easy access to project documentation and resources</a:t>
            </a:r>
            <a:r>
              <a:rPr lang="tr-TR" sz="1400" dirty="0">
                <a:solidFill>
                  <a:srgbClr val="666666"/>
                </a:solidFill>
              </a:rPr>
              <a:t> and      v</a:t>
            </a:r>
            <a:r>
              <a:rPr lang="en-US" sz="1400" dirty="0" err="1">
                <a:solidFill>
                  <a:srgbClr val="666666"/>
                </a:solidFill>
              </a:rPr>
              <a:t>ersion</a:t>
            </a:r>
            <a:r>
              <a:rPr lang="en-US" sz="1400" dirty="0">
                <a:solidFill>
                  <a:srgbClr val="666666"/>
                </a:solidFill>
              </a:rPr>
              <a:t>-controlled repositories to manage updates and changes</a:t>
            </a:r>
            <a:r>
              <a:rPr lang="tr-TR" sz="1400" dirty="0">
                <a:solidFill>
                  <a:srgbClr val="666666"/>
                </a:solidFill>
              </a:rPr>
              <a:t> will be created</a:t>
            </a:r>
            <a:r>
              <a:rPr lang="en-US" sz="1400" dirty="0">
                <a:solidFill>
                  <a:srgbClr val="666666"/>
                </a:solidFill>
              </a:rPr>
              <a:t>.</a:t>
            </a:r>
          </a:p>
          <a:p>
            <a:pPr marL="0" indent="0">
              <a:buNone/>
            </a:pPr>
            <a:r>
              <a:rPr lang="en-US" sz="1400" b="1" dirty="0">
                <a:solidFill>
                  <a:srgbClr val="3E3A5F"/>
                </a:solidFill>
              </a:rPr>
              <a:t>Shadowing and Pairing:</a:t>
            </a:r>
            <a:endParaRPr lang="tr-TR" sz="1400" b="1" dirty="0">
              <a:solidFill>
                <a:srgbClr val="3E3A5F"/>
              </a:solidFill>
            </a:endParaRPr>
          </a:p>
          <a:p>
            <a:pPr marL="0" indent="0">
              <a:buNone/>
            </a:pPr>
            <a:r>
              <a:rPr lang="en-US" sz="1400" dirty="0">
                <a:solidFill>
                  <a:srgbClr val="666666"/>
                </a:solidFill>
              </a:rPr>
              <a:t>Structured periods where incoming team members shadow experienced team members</a:t>
            </a:r>
            <a:r>
              <a:rPr lang="tr-TR" sz="1400" dirty="0">
                <a:solidFill>
                  <a:srgbClr val="666666"/>
                </a:solidFill>
              </a:rPr>
              <a:t> and p</a:t>
            </a:r>
            <a:r>
              <a:rPr lang="en-US" sz="1400" dirty="0">
                <a:solidFill>
                  <a:srgbClr val="666666"/>
                </a:solidFill>
              </a:rPr>
              <a:t>air programming or paired troubleshooting for hands-on learning</a:t>
            </a:r>
            <a:r>
              <a:rPr lang="tr-TR" sz="1400" dirty="0">
                <a:solidFill>
                  <a:srgbClr val="666666"/>
                </a:solidFill>
              </a:rPr>
              <a:t> will be organised</a:t>
            </a:r>
            <a:r>
              <a:rPr lang="en-US" sz="1400" dirty="0">
                <a:solidFill>
                  <a:srgbClr val="666666"/>
                </a:solidFill>
              </a:rPr>
              <a:t>.</a:t>
            </a:r>
          </a:p>
          <a:p>
            <a:pPr marL="0" indent="0">
              <a:buNone/>
            </a:pPr>
            <a:r>
              <a:rPr lang="en-US" sz="1400" b="1" dirty="0">
                <a:solidFill>
                  <a:srgbClr val="3E3A5F"/>
                </a:solidFill>
              </a:rPr>
              <a:t>Feedback Loops:</a:t>
            </a:r>
            <a:endParaRPr lang="tr-TR" sz="1400" b="1" dirty="0">
              <a:solidFill>
                <a:srgbClr val="3E3A5F"/>
              </a:solidFill>
            </a:endParaRPr>
          </a:p>
          <a:p>
            <a:pPr marL="0" indent="0">
              <a:buNone/>
            </a:pPr>
            <a:r>
              <a:rPr lang="en-US" sz="1400" dirty="0">
                <a:solidFill>
                  <a:srgbClr val="666666"/>
                </a:solidFill>
              </a:rPr>
              <a:t>Regular feedback sessions to identify knowledge gaps</a:t>
            </a:r>
            <a:r>
              <a:rPr lang="tr-TR" sz="1400" dirty="0">
                <a:solidFill>
                  <a:srgbClr val="666666"/>
                </a:solidFill>
              </a:rPr>
              <a:t> will be held.</a:t>
            </a:r>
            <a:endParaRPr lang="en-US" sz="1400" dirty="0">
              <a:solidFill>
                <a:srgbClr val="666666"/>
              </a:solidFill>
            </a:endParaRPr>
          </a:p>
          <a:p>
            <a:pPr marL="0" indent="0">
              <a:buNone/>
            </a:pPr>
            <a:r>
              <a:rPr lang="en-US" sz="1400" b="1" dirty="0">
                <a:solidFill>
                  <a:srgbClr val="3E3A5F"/>
                </a:solidFill>
              </a:rPr>
              <a:t>Handover Process:</a:t>
            </a:r>
            <a:endParaRPr lang="tr-TR" sz="1400" b="1" dirty="0">
              <a:solidFill>
                <a:srgbClr val="3E3A5F"/>
              </a:solidFill>
            </a:endParaRPr>
          </a:p>
          <a:p>
            <a:pPr marL="0" indent="0">
              <a:buNone/>
            </a:pPr>
            <a:r>
              <a:rPr lang="tr-TR" sz="1400" dirty="0">
                <a:solidFill>
                  <a:srgbClr val="666666"/>
                </a:solidFill>
              </a:rPr>
              <a:t>T</a:t>
            </a:r>
            <a:r>
              <a:rPr lang="en-US" sz="1400" dirty="0">
                <a:solidFill>
                  <a:srgbClr val="666666"/>
                </a:solidFill>
              </a:rPr>
              <a:t>o ensure all knowledge is transferred</a:t>
            </a:r>
            <a:r>
              <a:rPr lang="tr-TR" sz="1400" dirty="0">
                <a:solidFill>
                  <a:srgbClr val="666666"/>
                </a:solidFill>
              </a:rPr>
              <a:t>,</a:t>
            </a:r>
            <a:r>
              <a:rPr lang="en-US" sz="1400" dirty="0">
                <a:solidFill>
                  <a:srgbClr val="666666"/>
                </a:solidFill>
              </a:rPr>
              <a:t> </a:t>
            </a:r>
            <a:r>
              <a:rPr lang="tr-TR" sz="1400" dirty="0">
                <a:solidFill>
                  <a:srgbClr val="666666"/>
                </a:solidFill>
              </a:rPr>
              <a:t>c</a:t>
            </a:r>
            <a:r>
              <a:rPr lang="en-US" sz="1400" dirty="0" err="1">
                <a:solidFill>
                  <a:srgbClr val="666666"/>
                </a:solidFill>
              </a:rPr>
              <a:t>lear</a:t>
            </a:r>
            <a:r>
              <a:rPr lang="en-US" sz="1400" dirty="0">
                <a:solidFill>
                  <a:srgbClr val="666666"/>
                </a:solidFill>
              </a:rPr>
              <a:t> handover procedures, including checklists and sign-offs</a:t>
            </a:r>
            <a:r>
              <a:rPr lang="tr-TR" sz="1400" dirty="0">
                <a:solidFill>
                  <a:srgbClr val="666666"/>
                </a:solidFill>
              </a:rPr>
              <a:t> will be organised. </a:t>
            </a:r>
            <a:r>
              <a:rPr lang="en-US" sz="1400" dirty="0">
                <a:solidFill>
                  <a:srgbClr val="666666"/>
                </a:solidFill>
              </a:rPr>
              <a:t>Transition of responsibility with a support plan for post-handover assistance</a:t>
            </a:r>
            <a:r>
              <a:rPr lang="tr-TR" sz="1400" dirty="0">
                <a:solidFill>
                  <a:srgbClr val="666666"/>
                </a:solidFill>
              </a:rPr>
              <a:t> will be planned</a:t>
            </a:r>
            <a:r>
              <a:rPr lang="en-US" sz="1600" dirty="0">
                <a:solidFill>
                  <a:srgbClr val="666666"/>
                </a:solidFill>
              </a:rPr>
              <a:t>.</a:t>
            </a:r>
          </a:p>
        </p:txBody>
      </p:sp>
      <p:sp>
        <p:nvSpPr>
          <p:cNvPr id="4" name="Footer Placeholder 3">
            <a:extLst>
              <a:ext uri="{FF2B5EF4-FFF2-40B4-BE49-F238E27FC236}">
                <a16:creationId xmlns:a16="http://schemas.microsoft.com/office/drawing/2014/main" xmlns="" id="{8FB89F1C-65EC-6FF1-C12E-7A4DA2EE0D31}"/>
              </a:ext>
            </a:extLst>
          </p:cNvPr>
          <p:cNvSpPr>
            <a:spLocks noGrp="1"/>
          </p:cNvSpPr>
          <p:nvPr>
            <p:ph type="ftr" sz="quarter" idx="11"/>
          </p:nvPr>
        </p:nvSpPr>
        <p:spPr/>
        <p:txBody>
          <a:bodyPr/>
          <a:lstStyle/>
          <a:p>
            <a:r>
              <a:rPr lang="tr-TR" dirty="0"/>
              <a:t>iKnow Technology</a:t>
            </a:r>
          </a:p>
        </p:txBody>
      </p:sp>
      <p:sp>
        <p:nvSpPr>
          <p:cNvPr id="5" name="Slide Number Placeholder 4">
            <a:extLst>
              <a:ext uri="{FF2B5EF4-FFF2-40B4-BE49-F238E27FC236}">
                <a16:creationId xmlns:a16="http://schemas.microsoft.com/office/drawing/2014/main" xmlns="" id="{586AD352-1CA4-7370-3DC9-054A43868D10}"/>
              </a:ext>
            </a:extLst>
          </p:cNvPr>
          <p:cNvSpPr>
            <a:spLocks noGrp="1"/>
          </p:cNvSpPr>
          <p:nvPr>
            <p:ph type="sldNum" sz="quarter" idx="12"/>
          </p:nvPr>
        </p:nvSpPr>
        <p:spPr/>
        <p:txBody>
          <a:bodyPr/>
          <a:lstStyle/>
          <a:p>
            <a:fld id="{45536E09-86AD-465C-A544-548EAC427A74}" type="slidenum">
              <a:rPr lang="tr-TR" smtClean="0"/>
              <a:t>22</a:t>
            </a:fld>
            <a:endParaRPr lang="tr-TR"/>
          </a:p>
        </p:txBody>
      </p:sp>
      <p:pic>
        <p:nvPicPr>
          <p:cNvPr id="7" name="Picture 6">
            <a:extLst>
              <a:ext uri="{FF2B5EF4-FFF2-40B4-BE49-F238E27FC236}">
                <a16:creationId xmlns:a16="http://schemas.microsoft.com/office/drawing/2014/main" xmlns="" id="{C4D9A532-B32B-36BE-F6EF-11A3978807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Tree>
    <p:extLst>
      <p:ext uri="{BB962C8B-B14F-4D97-AF65-F5344CB8AC3E}">
        <p14:creationId xmlns:p14="http://schemas.microsoft.com/office/powerpoint/2010/main" val="25266621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52732" y="303237"/>
            <a:ext cx="5055372" cy="1325563"/>
          </a:xfrm>
        </p:spPr>
        <p:txBody>
          <a:bodyPr/>
          <a:lstStyle/>
          <a:p>
            <a:r>
              <a:rPr lang="tr-TR" b="1" dirty="0">
                <a:solidFill>
                  <a:srgbClr val="3E3A5F"/>
                </a:solidFill>
              </a:rPr>
              <a:t>iKnow’s Expertise</a:t>
            </a:r>
          </a:p>
        </p:txBody>
      </p:sp>
      <p:sp>
        <p:nvSpPr>
          <p:cNvPr id="3" name="Footer Placeholder 2">
            <a:extLst>
              <a:ext uri="{FF2B5EF4-FFF2-40B4-BE49-F238E27FC236}">
                <a16:creationId xmlns:a16="http://schemas.microsoft.com/office/drawing/2014/main" xmlns="" id="{60ABEDD9-4FB0-6DE6-AF0E-F6981E88FFE9}"/>
              </a:ext>
            </a:extLst>
          </p:cNvPr>
          <p:cNvSpPr>
            <a:spLocks noGrp="1"/>
          </p:cNvSpPr>
          <p:nvPr>
            <p:ph type="ftr" sz="quarter" idx="11"/>
          </p:nvPr>
        </p:nvSpPr>
        <p:spPr/>
        <p:txBody>
          <a:bodyPr/>
          <a:lstStyle/>
          <a:p>
            <a:r>
              <a:rPr lang="tr-TR" dirty="0"/>
              <a:t>iKnow Technology</a:t>
            </a:r>
          </a:p>
        </p:txBody>
      </p:sp>
      <p:sp>
        <p:nvSpPr>
          <p:cNvPr id="4" name="Slide Number Placeholder 3">
            <a:extLst>
              <a:ext uri="{FF2B5EF4-FFF2-40B4-BE49-F238E27FC236}">
                <a16:creationId xmlns:a16="http://schemas.microsoft.com/office/drawing/2014/main" xmlns="" id="{A9CE7995-922F-7C86-9F57-9E02A638F453}"/>
              </a:ext>
            </a:extLst>
          </p:cNvPr>
          <p:cNvSpPr>
            <a:spLocks noGrp="1"/>
          </p:cNvSpPr>
          <p:nvPr>
            <p:ph type="sldNum" sz="quarter" idx="12"/>
          </p:nvPr>
        </p:nvSpPr>
        <p:spPr/>
        <p:txBody>
          <a:bodyPr/>
          <a:lstStyle/>
          <a:p>
            <a:fld id="{45536E09-86AD-465C-A544-548EAC427A74}" type="slidenum">
              <a:rPr lang="tr-TR" smtClean="0"/>
              <a:t>23</a:t>
            </a:fld>
            <a:endParaRPr lang="tr-TR"/>
          </a:p>
        </p:txBody>
      </p:sp>
      <p:graphicFrame>
        <p:nvGraphicFramePr>
          <p:cNvPr id="8" name="Table 7">
            <a:extLst>
              <a:ext uri="{FF2B5EF4-FFF2-40B4-BE49-F238E27FC236}">
                <a16:creationId xmlns:a16="http://schemas.microsoft.com/office/drawing/2014/main" xmlns="" id="{94DFF651-7B32-C56E-911C-CB87560CEF3B}"/>
              </a:ext>
            </a:extLst>
          </p:cNvPr>
          <p:cNvGraphicFramePr>
            <a:graphicFrameLocks noGrp="1"/>
          </p:cNvGraphicFramePr>
          <p:nvPr>
            <p:extLst>
              <p:ext uri="{D42A27DB-BD31-4B8C-83A1-F6EECF244321}">
                <p14:modId xmlns:p14="http://schemas.microsoft.com/office/powerpoint/2010/main" val="1267582047"/>
              </p:ext>
            </p:extLst>
          </p:nvPr>
        </p:nvGraphicFramePr>
        <p:xfrm>
          <a:off x="611559" y="1345870"/>
          <a:ext cx="8208337" cy="4711534"/>
        </p:xfrm>
        <a:graphic>
          <a:graphicData uri="http://schemas.openxmlformats.org/drawingml/2006/table">
            <a:tbl>
              <a:tblPr firstRow="1" firstCol="1" bandRow="1">
                <a:tableStyleId>{2D5ABB26-0587-4C30-8999-92F81FD0307C}</a:tableStyleId>
              </a:tblPr>
              <a:tblGrid>
                <a:gridCol w="1223310">
                  <a:extLst>
                    <a:ext uri="{9D8B030D-6E8A-4147-A177-3AD203B41FA5}">
                      <a16:colId xmlns:a16="http://schemas.microsoft.com/office/drawing/2014/main" xmlns="" val="1458291667"/>
                    </a:ext>
                  </a:extLst>
                </a:gridCol>
                <a:gridCol w="864923">
                  <a:extLst>
                    <a:ext uri="{9D8B030D-6E8A-4147-A177-3AD203B41FA5}">
                      <a16:colId xmlns:a16="http://schemas.microsoft.com/office/drawing/2014/main" xmlns="" val="2877331519"/>
                    </a:ext>
                  </a:extLst>
                </a:gridCol>
                <a:gridCol w="1496331">
                  <a:extLst>
                    <a:ext uri="{9D8B030D-6E8A-4147-A177-3AD203B41FA5}">
                      <a16:colId xmlns:a16="http://schemas.microsoft.com/office/drawing/2014/main" xmlns="" val="1016852211"/>
                    </a:ext>
                  </a:extLst>
                </a:gridCol>
                <a:gridCol w="4623773">
                  <a:extLst>
                    <a:ext uri="{9D8B030D-6E8A-4147-A177-3AD203B41FA5}">
                      <a16:colId xmlns:a16="http://schemas.microsoft.com/office/drawing/2014/main" xmlns="" val="884801872"/>
                    </a:ext>
                  </a:extLst>
                </a:gridCol>
              </a:tblGrid>
              <a:tr h="323922">
                <a:tc gridSpan="4">
                  <a:txBody>
                    <a:bodyPr/>
                    <a:lstStyle/>
                    <a:p>
                      <a:pPr>
                        <a:spcBef>
                          <a:spcPts val="250"/>
                        </a:spcBef>
                        <a:spcAft>
                          <a:spcPts val="350"/>
                        </a:spcAft>
                      </a:pPr>
                      <a:r>
                        <a:rPr lang="tr-TR" sz="1400" b="1" kern="1200" dirty="0">
                          <a:solidFill>
                            <a:srgbClr val="3E3A5F"/>
                          </a:solidFill>
                          <a:effectLst/>
                        </a:rPr>
                        <a:t>   Head Count           Roles               Experience         Specialities</a:t>
                      </a:r>
                      <a:endParaRPr lang="tr-TR" sz="1400" b="1" kern="1200" dirty="0">
                        <a:solidFill>
                          <a:srgbClr val="3E3A5F"/>
                        </a:solidFill>
                        <a:effectLst/>
                        <a:latin typeface="+mn-lt"/>
                        <a:ea typeface="+mn-ea"/>
                        <a:cs typeface="+mn-cs"/>
                      </a:endParaRPr>
                    </a:p>
                  </a:txBody>
                  <a:tcPr marL="23986" marR="23986" marT="0" marB="0" anchor="b"/>
                </a:tc>
                <a:tc hMerge="1">
                  <a:txBody>
                    <a:bodyPr/>
                    <a:lstStyle/>
                    <a:p>
                      <a:endParaRPr lang="tr-TR"/>
                    </a:p>
                  </a:txBody>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xmlns="" val="181696715"/>
                  </a:ext>
                </a:extLst>
              </a:tr>
              <a:tr h="857629">
                <a:tc>
                  <a:txBody>
                    <a:bodyPr/>
                    <a:lstStyle/>
                    <a:p>
                      <a:pPr algn="ctr">
                        <a:spcBef>
                          <a:spcPts val="250"/>
                        </a:spcBef>
                        <a:spcAft>
                          <a:spcPts val="350"/>
                        </a:spcAft>
                      </a:pPr>
                      <a:r>
                        <a:rPr lang="tr-TR" sz="1400" b="0" kern="1200" dirty="0">
                          <a:solidFill>
                            <a:srgbClr val="666666"/>
                          </a:solidFill>
                          <a:effectLst/>
                        </a:rPr>
                        <a:t>8</a:t>
                      </a:r>
                      <a:endParaRPr lang="tr-TR" sz="1400" b="0" kern="1200" dirty="0">
                        <a:solidFill>
                          <a:srgbClr val="666666"/>
                        </a:solidFill>
                        <a:effectLst/>
                        <a:latin typeface="+mn-lt"/>
                        <a:ea typeface="+mn-ea"/>
                        <a:cs typeface="+mn-cs"/>
                      </a:endParaRPr>
                    </a:p>
                  </a:txBody>
                  <a:tcPr marL="23986" marR="23986" marT="0" marB="0"/>
                </a:tc>
                <a:tc>
                  <a:txBody>
                    <a:bodyPr/>
                    <a:lstStyle/>
                    <a:p>
                      <a:pPr marL="0" marR="0" lvl="0" indent="0" algn="l" defTabSz="685800" rtl="0" eaLnBrk="1" fontAlgn="auto" latinLnBrk="0" hangingPunct="1">
                        <a:lnSpc>
                          <a:spcPct val="100000"/>
                        </a:lnSpc>
                        <a:spcBef>
                          <a:spcPts val="250"/>
                        </a:spcBef>
                        <a:spcAft>
                          <a:spcPts val="350"/>
                        </a:spcAft>
                        <a:buClrTx/>
                        <a:buSzTx/>
                        <a:buFontTx/>
                        <a:buNone/>
                        <a:tabLst/>
                        <a:defRPr/>
                      </a:pPr>
                      <a:r>
                        <a:rPr lang="tr-TR" sz="1400" dirty="0">
                          <a:solidFill>
                            <a:srgbClr val="666666"/>
                          </a:solidFill>
                          <a:effectLst/>
                        </a:rPr>
                        <a:t>Project Managers, Team Leads</a:t>
                      </a:r>
                      <a:endParaRPr lang="tr-TR" sz="1400" dirty="0">
                        <a:solidFill>
                          <a:srgbClr val="666666"/>
                        </a:solidFill>
                        <a:effectLst/>
                        <a:latin typeface="Times New Roman" panose="02020603050405020304" pitchFamily="18" charset="0"/>
                        <a:ea typeface="Batang" panose="02030600000101010101" pitchFamily="18" charset="-127"/>
                      </a:endParaRPr>
                    </a:p>
                  </a:txBody>
                  <a:tcPr marL="23986" marR="23986" marT="0" marB="0"/>
                </a:tc>
                <a:tc>
                  <a:txBody>
                    <a:bodyPr/>
                    <a:lstStyle/>
                    <a:p>
                      <a:pPr marL="0" marR="0" lvl="0" indent="0" algn="ctr" defTabSz="685800" rtl="0" eaLnBrk="1" fontAlgn="auto" latinLnBrk="0" hangingPunct="1">
                        <a:lnSpc>
                          <a:spcPct val="100000"/>
                        </a:lnSpc>
                        <a:spcBef>
                          <a:spcPts val="250"/>
                        </a:spcBef>
                        <a:spcAft>
                          <a:spcPts val="350"/>
                        </a:spcAft>
                        <a:buClrTx/>
                        <a:buSzTx/>
                        <a:buFontTx/>
                        <a:buNone/>
                        <a:tabLst/>
                        <a:defRPr/>
                      </a:pPr>
                      <a:r>
                        <a:rPr lang="tr-TR" sz="1400" dirty="0">
                          <a:solidFill>
                            <a:srgbClr val="666666"/>
                          </a:solidFill>
                          <a:effectLst/>
                        </a:rPr>
                        <a:t>+15 Years</a:t>
                      </a:r>
                    </a:p>
                    <a:p>
                      <a:pPr algn="ctr">
                        <a:spcBef>
                          <a:spcPts val="250"/>
                        </a:spcBef>
                        <a:spcAft>
                          <a:spcPts val="350"/>
                        </a:spcAft>
                      </a:pPr>
                      <a:endParaRPr lang="tr-TR" sz="1400" dirty="0">
                        <a:solidFill>
                          <a:srgbClr val="666666"/>
                        </a:solidFill>
                        <a:effectLst/>
                        <a:latin typeface="Times New Roman" panose="02020603050405020304" pitchFamily="18" charset="0"/>
                        <a:ea typeface="Batang" panose="02030600000101010101" pitchFamily="18" charset="-127"/>
                      </a:endParaRPr>
                    </a:p>
                  </a:txBody>
                  <a:tcPr marL="23986" marR="23986" marT="0" marB="0"/>
                </a:tc>
                <a:tc>
                  <a:txBody>
                    <a:bodyPr/>
                    <a:lstStyle/>
                    <a:p>
                      <a:pPr>
                        <a:spcBef>
                          <a:spcPts val="250"/>
                        </a:spcBef>
                        <a:spcAft>
                          <a:spcPts val="350"/>
                        </a:spcAft>
                      </a:pPr>
                      <a:r>
                        <a:rPr lang="tr-TR" sz="1400" dirty="0">
                          <a:solidFill>
                            <a:srgbClr val="666666"/>
                          </a:solidFill>
                          <a:effectLst/>
                        </a:rPr>
                        <a:t>Project management, leadership, technical expertise, communication, problem-solving, risk management, architecture design, team coordination, strategic planning, stakeholder engagement, and decision-making.</a:t>
                      </a:r>
                      <a:endParaRPr lang="tr-TR" sz="1400" dirty="0">
                        <a:solidFill>
                          <a:srgbClr val="666666"/>
                        </a:solidFill>
                        <a:effectLst/>
                        <a:latin typeface="Times New Roman" panose="02020603050405020304" pitchFamily="18" charset="0"/>
                        <a:ea typeface="Batang" panose="02030600000101010101" pitchFamily="18" charset="-127"/>
                      </a:endParaRPr>
                    </a:p>
                  </a:txBody>
                  <a:tcPr marL="23986" marR="23986" marT="0" marB="0"/>
                </a:tc>
                <a:extLst>
                  <a:ext uri="{0D108BD9-81ED-4DB2-BD59-A6C34878D82A}">
                    <a16:rowId xmlns:a16="http://schemas.microsoft.com/office/drawing/2014/main" xmlns="" val="1172773174"/>
                  </a:ext>
                </a:extLst>
              </a:tr>
              <a:tr h="323922">
                <a:tc gridSpan="4">
                  <a:txBody>
                    <a:bodyPr/>
                    <a:lstStyle/>
                    <a:p>
                      <a:pPr algn="ctr">
                        <a:spcBef>
                          <a:spcPts val="250"/>
                        </a:spcBef>
                        <a:spcAft>
                          <a:spcPts val="350"/>
                        </a:spcAft>
                      </a:pPr>
                      <a:endParaRPr lang="tr-TR" sz="1400" b="0" kern="1200" dirty="0">
                        <a:solidFill>
                          <a:srgbClr val="666666"/>
                        </a:solidFill>
                        <a:effectLst/>
                        <a:latin typeface="+mn-lt"/>
                        <a:ea typeface="+mn-ea"/>
                        <a:cs typeface="+mn-cs"/>
                      </a:endParaRPr>
                    </a:p>
                  </a:txBody>
                  <a:tcPr marL="23986" marR="23986" marT="0" marB="0"/>
                </a:tc>
                <a:tc hMerge="1">
                  <a:txBody>
                    <a:bodyPr/>
                    <a:lstStyle/>
                    <a:p>
                      <a:endParaRPr lang="tr-TR"/>
                    </a:p>
                  </a:txBody>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xmlns="" val="1095526814"/>
                  </a:ext>
                </a:extLst>
              </a:tr>
              <a:tr h="857629">
                <a:tc>
                  <a:txBody>
                    <a:bodyPr/>
                    <a:lstStyle/>
                    <a:p>
                      <a:pPr algn="ctr">
                        <a:spcBef>
                          <a:spcPts val="250"/>
                        </a:spcBef>
                        <a:spcAft>
                          <a:spcPts val="350"/>
                        </a:spcAft>
                      </a:pPr>
                      <a:r>
                        <a:rPr lang="tr-TR" sz="1400" b="0" kern="1200" dirty="0">
                          <a:solidFill>
                            <a:srgbClr val="666666"/>
                          </a:solidFill>
                          <a:effectLst/>
                        </a:rPr>
                        <a:t>14</a:t>
                      </a:r>
                      <a:endParaRPr lang="tr-TR" sz="1400" b="0" kern="1200" dirty="0">
                        <a:solidFill>
                          <a:srgbClr val="666666"/>
                        </a:solidFill>
                        <a:effectLst/>
                        <a:latin typeface="+mn-lt"/>
                        <a:ea typeface="+mn-ea"/>
                        <a:cs typeface="+mn-cs"/>
                      </a:endParaRPr>
                    </a:p>
                  </a:txBody>
                  <a:tcPr marL="23986" marR="23986" marT="0" marB="0"/>
                </a:tc>
                <a:tc>
                  <a:txBody>
                    <a:bodyPr/>
                    <a:lstStyle/>
                    <a:p>
                      <a:pPr marL="0" marR="0" lvl="0" indent="0" algn="l" defTabSz="685800" rtl="0" eaLnBrk="1" fontAlgn="auto" latinLnBrk="0" hangingPunct="1">
                        <a:lnSpc>
                          <a:spcPct val="100000"/>
                        </a:lnSpc>
                        <a:spcBef>
                          <a:spcPts val="250"/>
                        </a:spcBef>
                        <a:spcAft>
                          <a:spcPts val="350"/>
                        </a:spcAft>
                        <a:buClrTx/>
                        <a:buSzTx/>
                        <a:buFontTx/>
                        <a:buNone/>
                        <a:tabLst/>
                        <a:defRPr/>
                      </a:pPr>
                      <a:r>
                        <a:rPr lang="tr-TR" sz="1400" dirty="0">
                          <a:solidFill>
                            <a:srgbClr val="666666"/>
                          </a:solidFill>
                          <a:effectLst/>
                        </a:rPr>
                        <a:t>Designers, Analyists, Solution Architects</a:t>
                      </a:r>
                      <a:endParaRPr lang="tr-TR" sz="1400" dirty="0">
                        <a:solidFill>
                          <a:srgbClr val="666666"/>
                        </a:solidFill>
                        <a:effectLst/>
                        <a:latin typeface="Times New Roman" panose="02020603050405020304" pitchFamily="18" charset="0"/>
                        <a:ea typeface="Batang" panose="02030600000101010101" pitchFamily="18" charset="-127"/>
                      </a:endParaRPr>
                    </a:p>
                  </a:txBody>
                  <a:tcPr marL="23986" marR="23986" marT="0" marB="0"/>
                </a:tc>
                <a:tc>
                  <a:txBody>
                    <a:bodyPr/>
                    <a:lstStyle/>
                    <a:p>
                      <a:pPr marL="0" marR="0" lvl="0" indent="0" algn="ctr" defTabSz="685800" rtl="0" eaLnBrk="1" fontAlgn="auto" latinLnBrk="0" hangingPunct="1">
                        <a:lnSpc>
                          <a:spcPct val="100000"/>
                        </a:lnSpc>
                        <a:spcBef>
                          <a:spcPts val="250"/>
                        </a:spcBef>
                        <a:spcAft>
                          <a:spcPts val="350"/>
                        </a:spcAft>
                        <a:buClrTx/>
                        <a:buSzTx/>
                        <a:buFontTx/>
                        <a:buNone/>
                        <a:tabLst/>
                        <a:defRPr/>
                      </a:pPr>
                      <a:r>
                        <a:rPr lang="tr-TR" sz="1400" dirty="0">
                          <a:solidFill>
                            <a:srgbClr val="666666"/>
                          </a:solidFill>
                          <a:effectLst/>
                        </a:rPr>
                        <a:t>+10 Years</a:t>
                      </a:r>
                    </a:p>
                    <a:p>
                      <a:pPr algn="ctr">
                        <a:spcBef>
                          <a:spcPts val="250"/>
                        </a:spcBef>
                        <a:spcAft>
                          <a:spcPts val="350"/>
                        </a:spcAft>
                      </a:pPr>
                      <a:endParaRPr lang="tr-TR" sz="1400" dirty="0">
                        <a:solidFill>
                          <a:srgbClr val="666666"/>
                        </a:solidFill>
                        <a:effectLst/>
                        <a:latin typeface="Times New Roman" panose="02020603050405020304" pitchFamily="18" charset="0"/>
                        <a:ea typeface="Batang" panose="02030600000101010101" pitchFamily="18" charset="-127"/>
                      </a:endParaRPr>
                    </a:p>
                  </a:txBody>
                  <a:tcPr marL="23986" marR="23986" marT="0" marB="0"/>
                </a:tc>
                <a:tc>
                  <a:txBody>
                    <a:bodyPr/>
                    <a:lstStyle/>
                    <a:p>
                      <a:pPr>
                        <a:spcBef>
                          <a:spcPts val="250"/>
                        </a:spcBef>
                        <a:spcAft>
                          <a:spcPts val="350"/>
                        </a:spcAft>
                      </a:pPr>
                      <a:r>
                        <a:rPr lang="tr-TR" sz="1400" dirty="0">
                          <a:solidFill>
                            <a:srgbClr val="666666"/>
                          </a:solidFill>
                          <a:effectLst/>
                        </a:rPr>
                        <a:t>Technical expertise, communication, problem-solving, risk management, architecture design, team coordination, strategic planning, stakeholder engagement, and decision-making.</a:t>
                      </a:r>
                      <a:endParaRPr lang="tr-TR" sz="1400" dirty="0">
                        <a:solidFill>
                          <a:srgbClr val="666666"/>
                        </a:solidFill>
                        <a:effectLst/>
                        <a:latin typeface="Times New Roman" panose="02020603050405020304" pitchFamily="18" charset="0"/>
                        <a:ea typeface="Batang" panose="02030600000101010101" pitchFamily="18" charset="-127"/>
                      </a:endParaRPr>
                    </a:p>
                  </a:txBody>
                  <a:tcPr marL="23986" marR="23986" marT="0" marB="0"/>
                </a:tc>
                <a:extLst>
                  <a:ext uri="{0D108BD9-81ED-4DB2-BD59-A6C34878D82A}">
                    <a16:rowId xmlns:a16="http://schemas.microsoft.com/office/drawing/2014/main" xmlns="" val="1335231657"/>
                  </a:ext>
                </a:extLst>
              </a:tr>
              <a:tr h="323922">
                <a:tc gridSpan="4">
                  <a:txBody>
                    <a:bodyPr/>
                    <a:lstStyle/>
                    <a:p>
                      <a:pPr algn="ctr">
                        <a:spcBef>
                          <a:spcPts val="250"/>
                        </a:spcBef>
                        <a:spcAft>
                          <a:spcPts val="350"/>
                        </a:spcAft>
                      </a:pPr>
                      <a:endParaRPr lang="tr-TR" sz="1400" b="0" kern="1200" dirty="0">
                        <a:solidFill>
                          <a:srgbClr val="666666"/>
                        </a:solidFill>
                        <a:effectLst/>
                        <a:latin typeface="+mn-lt"/>
                        <a:ea typeface="+mn-ea"/>
                        <a:cs typeface="+mn-cs"/>
                      </a:endParaRPr>
                    </a:p>
                  </a:txBody>
                  <a:tcPr marL="23986" marR="23986" marT="0" marB="0"/>
                </a:tc>
                <a:tc hMerge="1">
                  <a:txBody>
                    <a:bodyPr/>
                    <a:lstStyle/>
                    <a:p>
                      <a:endParaRPr lang="tr-TR"/>
                    </a:p>
                  </a:txBody>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xmlns="" val="1191245678"/>
                  </a:ext>
                </a:extLst>
              </a:tr>
              <a:tr h="850294">
                <a:tc>
                  <a:txBody>
                    <a:bodyPr/>
                    <a:lstStyle/>
                    <a:p>
                      <a:pPr algn="ctr">
                        <a:spcBef>
                          <a:spcPts val="250"/>
                        </a:spcBef>
                        <a:spcAft>
                          <a:spcPts val="350"/>
                        </a:spcAft>
                      </a:pPr>
                      <a:r>
                        <a:rPr lang="tr-TR" sz="1400" b="0" kern="1200" dirty="0">
                          <a:solidFill>
                            <a:srgbClr val="666666"/>
                          </a:solidFill>
                          <a:effectLst/>
                        </a:rPr>
                        <a:t>52</a:t>
                      </a:r>
                      <a:endParaRPr lang="tr-TR" sz="1400" b="0" kern="1200" dirty="0">
                        <a:solidFill>
                          <a:srgbClr val="666666"/>
                        </a:solidFill>
                        <a:effectLst/>
                        <a:latin typeface="+mn-lt"/>
                        <a:ea typeface="+mn-ea"/>
                        <a:cs typeface="+mn-cs"/>
                      </a:endParaRPr>
                    </a:p>
                  </a:txBody>
                  <a:tcPr marL="23986" marR="23986" marT="0" marB="0"/>
                </a:tc>
                <a:tc>
                  <a:txBody>
                    <a:bodyPr/>
                    <a:lstStyle/>
                    <a:p>
                      <a:pPr>
                        <a:spcBef>
                          <a:spcPts val="250"/>
                        </a:spcBef>
                        <a:spcAft>
                          <a:spcPts val="350"/>
                        </a:spcAft>
                      </a:pPr>
                      <a:r>
                        <a:rPr lang="tr-TR" sz="1400" dirty="0">
                          <a:solidFill>
                            <a:srgbClr val="666666"/>
                          </a:solidFill>
                          <a:effectLst/>
                        </a:rPr>
                        <a:t>Software Developers</a:t>
                      </a:r>
                      <a:endParaRPr lang="tr-TR" sz="1400" dirty="0">
                        <a:solidFill>
                          <a:srgbClr val="666666"/>
                        </a:solidFill>
                        <a:effectLst/>
                        <a:latin typeface="Times New Roman" panose="02020603050405020304" pitchFamily="18" charset="0"/>
                        <a:ea typeface="Batang" panose="02030600000101010101" pitchFamily="18" charset="-127"/>
                      </a:endParaRPr>
                    </a:p>
                  </a:txBody>
                  <a:tcPr marL="23986" marR="23986" marT="0" marB="0"/>
                </a:tc>
                <a:tc>
                  <a:txBody>
                    <a:bodyPr/>
                    <a:lstStyle/>
                    <a:p>
                      <a:pPr marL="0" marR="0" lvl="0" indent="0" algn="ctr" defTabSz="685800" rtl="0" eaLnBrk="1" fontAlgn="auto" latinLnBrk="0" hangingPunct="1">
                        <a:lnSpc>
                          <a:spcPct val="100000"/>
                        </a:lnSpc>
                        <a:spcBef>
                          <a:spcPts val="250"/>
                        </a:spcBef>
                        <a:spcAft>
                          <a:spcPts val="350"/>
                        </a:spcAft>
                        <a:buClrTx/>
                        <a:buSzTx/>
                        <a:buFontTx/>
                        <a:buNone/>
                        <a:tabLst/>
                        <a:defRPr/>
                      </a:pPr>
                      <a:r>
                        <a:rPr lang="tr-TR" sz="1400" dirty="0">
                          <a:solidFill>
                            <a:srgbClr val="666666"/>
                          </a:solidFill>
                          <a:effectLst/>
                        </a:rPr>
                        <a:t>2-10 Years</a:t>
                      </a:r>
                    </a:p>
                    <a:p>
                      <a:pPr algn="ctr">
                        <a:spcBef>
                          <a:spcPts val="250"/>
                        </a:spcBef>
                        <a:spcAft>
                          <a:spcPts val="350"/>
                        </a:spcAft>
                      </a:pPr>
                      <a:endParaRPr lang="tr-TR" sz="1400" dirty="0">
                        <a:solidFill>
                          <a:srgbClr val="666666"/>
                        </a:solidFill>
                        <a:effectLst/>
                        <a:latin typeface="Times New Roman" panose="02020603050405020304" pitchFamily="18" charset="0"/>
                        <a:ea typeface="Batang" panose="02030600000101010101" pitchFamily="18" charset="-127"/>
                      </a:endParaRPr>
                    </a:p>
                  </a:txBody>
                  <a:tcPr marL="23986" marR="23986" marT="0" marB="0"/>
                </a:tc>
                <a:tc>
                  <a:txBody>
                    <a:bodyPr/>
                    <a:lstStyle/>
                    <a:p>
                      <a:pPr>
                        <a:spcBef>
                          <a:spcPts val="250"/>
                        </a:spcBef>
                        <a:spcAft>
                          <a:spcPts val="350"/>
                        </a:spcAft>
                      </a:pPr>
                      <a:r>
                        <a:rPr lang="tr-TR" sz="1400" dirty="0">
                          <a:solidFill>
                            <a:srgbClr val="666666"/>
                          </a:solidFill>
                          <a:effectLst/>
                        </a:rPr>
                        <a:t>Java, .Net, React, RESTful APIs, microservices, database management, front-end/back-end integration, problem-solving, code optimization, DevOps.</a:t>
                      </a:r>
                      <a:endParaRPr lang="tr-TR" sz="1400" dirty="0">
                        <a:solidFill>
                          <a:srgbClr val="666666"/>
                        </a:solidFill>
                        <a:effectLst/>
                        <a:latin typeface="Times New Roman" panose="02020603050405020304" pitchFamily="18" charset="0"/>
                        <a:ea typeface="Batang" panose="02030600000101010101" pitchFamily="18" charset="-127"/>
                      </a:endParaRPr>
                    </a:p>
                  </a:txBody>
                  <a:tcPr marL="23986" marR="23986" marT="0" marB="0"/>
                </a:tc>
                <a:extLst>
                  <a:ext uri="{0D108BD9-81ED-4DB2-BD59-A6C34878D82A}">
                    <a16:rowId xmlns:a16="http://schemas.microsoft.com/office/drawing/2014/main" xmlns="" val="1314381338"/>
                  </a:ext>
                </a:extLst>
              </a:tr>
              <a:tr h="323922">
                <a:tc gridSpan="4">
                  <a:txBody>
                    <a:bodyPr/>
                    <a:lstStyle/>
                    <a:p>
                      <a:pPr algn="ctr">
                        <a:spcBef>
                          <a:spcPts val="250"/>
                        </a:spcBef>
                        <a:spcAft>
                          <a:spcPts val="350"/>
                        </a:spcAft>
                      </a:pPr>
                      <a:endParaRPr lang="tr-TR" sz="1400" b="0" kern="1200" dirty="0">
                        <a:solidFill>
                          <a:srgbClr val="666666"/>
                        </a:solidFill>
                        <a:effectLst/>
                        <a:latin typeface="+mn-lt"/>
                        <a:ea typeface="+mn-ea"/>
                        <a:cs typeface="+mn-cs"/>
                      </a:endParaRPr>
                    </a:p>
                  </a:txBody>
                  <a:tcPr marL="23986" marR="23986" marT="0" marB="0"/>
                </a:tc>
                <a:tc hMerge="1">
                  <a:txBody>
                    <a:bodyPr/>
                    <a:lstStyle/>
                    <a:p>
                      <a:endParaRPr lang="tr-TR"/>
                    </a:p>
                  </a:txBody>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xmlns="" val="1863734319"/>
                  </a:ext>
                </a:extLst>
              </a:tr>
              <a:tr h="850294">
                <a:tc>
                  <a:txBody>
                    <a:bodyPr/>
                    <a:lstStyle/>
                    <a:p>
                      <a:pPr algn="ctr">
                        <a:spcBef>
                          <a:spcPts val="250"/>
                        </a:spcBef>
                        <a:spcAft>
                          <a:spcPts val="350"/>
                        </a:spcAft>
                      </a:pPr>
                      <a:r>
                        <a:rPr lang="tr-TR" sz="1400" b="0" kern="1200" dirty="0">
                          <a:solidFill>
                            <a:srgbClr val="666666"/>
                          </a:solidFill>
                          <a:effectLst/>
                        </a:rPr>
                        <a:t>11</a:t>
                      </a:r>
                      <a:endParaRPr lang="tr-TR" sz="1400" b="0" kern="1200" dirty="0">
                        <a:solidFill>
                          <a:srgbClr val="666666"/>
                        </a:solidFill>
                        <a:effectLst/>
                        <a:latin typeface="+mn-lt"/>
                        <a:ea typeface="+mn-ea"/>
                        <a:cs typeface="+mn-cs"/>
                      </a:endParaRPr>
                    </a:p>
                  </a:txBody>
                  <a:tcPr marL="23986" marR="23986" marT="0" marB="0"/>
                </a:tc>
                <a:tc>
                  <a:txBody>
                    <a:bodyPr/>
                    <a:lstStyle/>
                    <a:p>
                      <a:pPr>
                        <a:spcBef>
                          <a:spcPts val="250"/>
                        </a:spcBef>
                        <a:spcAft>
                          <a:spcPts val="350"/>
                        </a:spcAft>
                      </a:pPr>
                      <a:r>
                        <a:rPr lang="tr-TR" sz="1400" dirty="0">
                          <a:solidFill>
                            <a:srgbClr val="666666"/>
                          </a:solidFill>
                          <a:effectLst/>
                        </a:rPr>
                        <a:t>Software Testers</a:t>
                      </a:r>
                      <a:endParaRPr lang="tr-TR" sz="1400" dirty="0">
                        <a:solidFill>
                          <a:srgbClr val="666666"/>
                        </a:solidFill>
                        <a:effectLst/>
                        <a:latin typeface="Times New Roman" panose="02020603050405020304" pitchFamily="18" charset="0"/>
                        <a:ea typeface="Batang" panose="02030600000101010101" pitchFamily="18" charset="-127"/>
                      </a:endParaRPr>
                    </a:p>
                  </a:txBody>
                  <a:tcPr marL="23986" marR="23986" marT="0" marB="0"/>
                </a:tc>
                <a:tc>
                  <a:txBody>
                    <a:bodyPr/>
                    <a:lstStyle/>
                    <a:p>
                      <a:pPr marL="0" marR="0" lvl="0" indent="0" algn="ctr" defTabSz="685800" rtl="0" eaLnBrk="1" fontAlgn="auto" latinLnBrk="0" hangingPunct="1">
                        <a:lnSpc>
                          <a:spcPct val="100000"/>
                        </a:lnSpc>
                        <a:spcBef>
                          <a:spcPts val="250"/>
                        </a:spcBef>
                        <a:spcAft>
                          <a:spcPts val="350"/>
                        </a:spcAft>
                        <a:buClrTx/>
                        <a:buSzTx/>
                        <a:buFontTx/>
                        <a:buNone/>
                        <a:tabLst/>
                        <a:defRPr/>
                      </a:pPr>
                      <a:r>
                        <a:rPr lang="tr-TR" sz="1400" dirty="0">
                          <a:solidFill>
                            <a:srgbClr val="666666"/>
                          </a:solidFill>
                          <a:effectLst/>
                        </a:rPr>
                        <a:t>2-10 Years</a:t>
                      </a:r>
                    </a:p>
                    <a:p>
                      <a:pPr algn="ctr">
                        <a:spcBef>
                          <a:spcPts val="250"/>
                        </a:spcBef>
                        <a:spcAft>
                          <a:spcPts val="350"/>
                        </a:spcAft>
                      </a:pPr>
                      <a:endParaRPr lang="tr-TR" sz="1400" dirty="0">
                        <a:solidFill>
                          <a:srgbClr val="666666"/>
                        </a:solidFill>
                        <a:effectLst/>
                        <a:latin typeface="Times New Roman" panose="02020603050405020304" pitchFamily="18" charset="0"/>
                        <a:ea typeface="Batang" panose="02030600000101010101" pitchFamily="18" charset="-127"/>
                      </a:endParaRPr>
                    </a:p>
                  </a:txBody>
                  <a:tcPr marL="23986" marR="23986" marT="0" marB="0"/>
                </a:tc>
                <a:tc>
                  <a:txBody>
                    <a:bodyPr/>
                    <a:lstStyle/>
                    <a:p>
                      <a:pPr>
                        <a:spcBef>
                          <a:spcPts val="250"/>
                        </a:spcBef>
                        <a:spcAft>
                          <a:spcPts val="350"/>
                        </a:spcAft>
                      </a:pPr>
                      <a:r>
                        <a:rPr lang="tr-TR" sz="1400" dirty="0">
                          <a:solidFill>
                            <a:srgbClr val="666666"/>
                          </a:solidFill>
                          <a:effectLst/>
                        </a:rPr>
                        <a:t>Test automation, manual testing, QA strategy, bug tracking, test planning, risk analysis, performance testing, regression testing, and continuous improvement.</a:t>
                      </a:r>
                      <a:endParaRPr lang="tr-TR" sz="1400" dirty="0">
                        <a:solidFill>
                          <a:srgbClr val="666666"/>
                        </a:solidFill>
                        <a:effectLst/>
                        <a:latin typeface="Times New Roman" panose="02020603050405020304" pitchFamily="18" charset="0"/>
                        <a:ea typeface="Batang" panose="02030600000101010101" pitchFamily="18" charset="-127"/>
                      </a:endParaRPr>
                    </a:p>
                  </a:txBody>
                  <a:tcPr marL="23986" marR="23986" marT="0" marB="0"/>
                </a:tc>
                <a:extLst>
                  <a:ext uri="{0D108BD9-81ED-4DB2-BD59-A6C34878D82A}">
                    <a16:rowId xmlns:a16="http://schemas.microsoft.com/office/drawing/2014/main" xmlns="" val="4054359355"/>
                  </a:ext>
                </a:extLst>
              </a:tr>
            </a:tbl>
          </a:graphicData>
        </a:graphic>
      </p:graphicFrame>
      <p:pic>
        <p:nvPicPr>
          <p:cNvPr id="5" name="Picture 4">
            <a:extLst>
              <a:ext uri="{FF2B5EF4-FFF2-40B4-BE49-F238E27FC236}">
                <a16:creationId xmlns:a16="http://schemas.microsoft.com/office/drawing/2014/main" xmlns="" id="{BA342381-271B-E254-4C46-A8C6CC7E4E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Tree>
    <p:extLst>
      <p:ext uri="{BB962C8B-B14F-4D97-AF65-F5344CB8AC3E}">
        <p14:creationId xmlns:p14="http://schemas.microsoft.com/office/powerpoint/2010/main" val="30443065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b="1" dirty="0">
                <a:solidFill>
                  <a:srgbClr val="3E3A5F"/>
                </a:solidFill>
              </a:rPr>
              <a:t>Some of Our Clients</a:t>
            </a:r>
          </a:p>
        </p:txBody>
      </p:sp>
      <p:pic>
        <p:nvPicPr>
          <p:cNvPr id="12" name="Content Placeholder 11">
            <a:extLst>
              <a:ext uri="{FF2B5EF4-FFF2-40B4-BE49-F238E27FC236}">
                <a16:creationId xmlns:a16="http://schemas.microsoft.com/office/drawing/2014/main" xmlns="" id="{7F7D82FF-FBBA-C499-0C4E-90A70071FFA9}"/>
              </a:ext>
            </a:extLst>
          </p:cNvPr>
          <p:cNvPicPr>
            <a:picLocks noGrp="1" noChangeAspect="1"/>
          </p:cNvPicPr>
          <p:nvPr>
            <p:ph idx="1"/>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6306614" y="3284984"/>
            <a:ext cx="2225826" cy="1246463"/>
          </a:xfrm>
        </p:spPr>
      </p:pic>
      <p:sp>
        <p:nvSpPr>
          <p:cNvPr id="5" name="Footer Placeholder 4">
            <a:extLst>
              <a:ext uri="{FF2B5EF4-FFF2-40B4-BE49-F238E27FC236}">
                <a16:creationId xmlns:a16="http://schemas.microsoft.com/office/drawing/2014/main" xmlns="" id="{0AE200A1-1D13-63A8-1B43-934D3C462A29}"/>
              </a:ext>
            </a:extLst>
          </p:cNvPr>
          <p:cNvSpPr>
            <a:spLocks noGrp="1"/>
          </p:cNvSpPr>
          <p:nvPr>
            <p:ph type="ftr" sz="quarter" idx="11"/>
          </p:nvPr>
        </p:nvSpPr>
        <p:spPr/>
        <p:txBody>
          <a:bodyPr/>
          <a:lstStyle/>
          <a:p>
            <a:r>
              <a:rPr lang="tr-TR" dirty="0"/>
              <a:t>iKnow Technology</a:t>
            </a:r>
          </a:p>
        </p:txBody>
      </p:sp>
      <p:sp>
        <p:nvSpPr>
          <p:cNvPr id="7" name="Slide Number Placeholder 6">
            <a:extLst>
              <a:ext uri="{FF2B5EF4-FFF2-40B4-BE49-F238E27FC236}">
                <a16:creationId xmlns:a16="http://schemas.microsoft.com/office/drawing/2014/main" xmlns="" id="{8C466C1F-A72C-DD8F-F63D-275E6A459458}"/>
              </a:ext>
            </a:extLst>
          </p:cNvPr>
          <p:cNvSpPr>
            <a:spLocks noGrp="1"/>
          </p:cNvSpPr>
          <p:nvPr>
            <p:ph type="sldNum" sz="quarter" idx="12"/>
          </p:nvPr>
        </p:nvSpPr>
        <p:spPr/>
        <p:txBody>
          <a:bodyPr/>
          <a:lstStyle/>
          <a:p>
            <a:fld id="{45536E09-86AD-465C-A544-548EAC427A74}" type="slidenum">
              <a:rPr lang="tr-TR" smtClean="0"/>
              <a:t>24</a:t>
            </a:fld>
            <a:endParaRPr lang="tr-TR"/>
          </a:p>
        </p:txBody>
      </p:sp>
      <p:pic>
        <p:nvPicPr>
          <p:cNvPr id="8" name="Picture 7">
            <a:extLst>
              <a:ext uri="{FF2B5EF4-FFF2-40B4-BE49-F238E27FC236}">
                <a16:creationId xmlns:a16="http://schemas.microsoft.com/office/drawing/2014/main" xmlns="" id="{6681EE3C-1D77-1F0A-7DB8-CD67DAD51A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pic>
        <p:nvPicPr>
          <p:cNvPr id="14" name="Picture 13">
            <a:extLst>
              <a:ext uri="{FF2B5EF4-FFF2-40B4-BE49-F238E27FC236}">
                <a16:creationId xmlns:a16="http://schemas.microsoft.com/office/drawing/2014/main" xmlns="" id="{80A00F9C-F3CA-9856-CE0E-532018306CE4}"/>
              </a:ext>
            </a:extLst>
          </p:cNvPr>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659059" y="3222197"/>
            <a:ext cx="2511217" cy="1455655"/>
          </a:xfrm>
          <a:prstGeom prst="rect">
            <a:avLst/>
          </a:prstGeom>
        </p:spPr>
      </p:pic>
      <p:pic>
        <p:nvPicPr>
          <p:cNvPr id="18" name="Picture 17">
            <a:extLst>
              <a:ext uri="{FF2B5EF4-FFF2-40B4-BE49-F238E27FC236}">
                <a16:creationId xmlns:a16="http://schemas.microsoft.com/office/drawing/2014/main" xmlns="" id="{88DA3109-6AD9-3794-6353-C35BCCB41F1C}"/>
              </a:ext>
            </a:extLst>
          </p:cNvPr>
          <p:cNvPicPr>
            <a:picLocks noChangeAspect="1"/>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491880" y="1564255"/>
            <a:ext cx="2130257" cy="640609"/>
          </a:xfrm>
          <a:prstGeom prst="rect">
            <a:avLst/>
          </a:prstGeom>
        </p:spPr>
      </p:pic>
      <p:pic>
        <p:nvPicPr>
          <p:cNvPr id="20" name="Picture 19">
            <a:extLst>
              <a:ext uri="{FF2B5EF4-FFF2-40B4-BE49-F238E27FC236}">
                <a16:creationId xmlns:a16="http://schemas.microsoft.com/office/drawing/2014/main" xmlns="" id="{89B94875-310B-C827-C4B3-380CD5CC95A8}"/>
              </a:ext>
            </a:extLst>
          </p:cNvPr>
          <p:cNvPicPr>
            <a:picLocks noChangeAspect="1"/>
          </p:cNvPicPr>
          <p:nvPr/>
        </p:nvPicPr>
        <p:blipFill>
          <a:blip r:embed="rId6">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286542" y="3369188"/>
            <a:ext cx="2826568" cy="1148293"/>
          </a:xfrm>
          <a:prstGeom prst="rect">
            <a:avLst/>
          </a:prstGeom>
        </p:spPr>
      </p:pic>
      <p:pic>
        <p:nvPicPr>
          <p:cNvPr id="22" name="Picture 21">
            <a:extLst>
              <a:ext uri="{FF2B5EF4-FFF2-40B4-BE49-F238E27FC236}">
                <a16:creationId xmlns:a16="http://schemas.microsoft.com/office/drawing/2014/main" xmlns="" id="{00FABD71-6920-C242-B6CB-08DC5EE6F9E8}"/>
              </a:ext>
            </a:extLst>
          </p:cNvPr>
          <p:cNvPicPr>
            <a:picLocks noChangeAspect="1"/>
          </p:cNvPicPr>
          <p:nvPr/>
        </p:nvPicPr>
        <p:blipFill>
          <a:blip r:embed="rId7">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6568747" y="2029889"/>
            <a:ext cx="1660019" cy="1660019"/>
          </a:xfrm>
          <a:prstGeom prst="rect">
            <a:avLst/>
          </a:prstGeom>
        </p:spPr>
      </p:pic>
      <p:pic>
        <p:nvPicPr>
          <p:cNvPr id="24" name="Picture 23">
            <a:extLst>
              <a:ext uri="{FF2B5EF4-FFF2-40B4-BE49-F238E27FC236}">
                <a16:creationId xmlns:a16="http://schemas.microsoft.com/office/drawing/2014/main" xmlns="" id="{55D69E84-3A26-04E9-8EBE-7F6675FD1468}"/>
              </a:ext>
            </a:extLst>
          </p:cNvPr>
          <p:cNvPicPr>
            <a:picLocks noChangeAspect="1"/>
          </p:cNvPicPr>
          <p:nvPr/>
        </p:nvPicPr>
        <p:blipFill>
          <a:blip r:embed="rId8">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6471729" y="1433350"/>
            <a:ext cx="1800200" cy="771514"/>
          </a:xfrm>
          <a:prstGeom prst="rect">
            <a:avLst/>
          </a:prstGeom>
        </p:spPr>
      </p:pic>
      <p:pic>
        <p:nvPicPr>
          <p:cNvPr id="26" name="Picture 25">
            <a:extLst>
              <a:ext uri="{FF2B5EF4-FFF2-40B4-BE49-F238E27FC236}">
                <a16:creationId xmlns:a16="http://schemas.microsoft.com/office/drawing/2014/main" xmlns="" id="{3C4DF5E7-3B5A-604C-2359-C73BF87AC84F}"/>
              </a:ext>
            </a:extLst>
          </p:cNvPr>
          <p:cNvPicPr>
            <a:picLocks noChangeAspect="1"/>
          </p:cNvPicPr>
          <p:nvPr/>
        </p:nvPicPr>
        <p:blipFill>
          <a:blip r:embed="rId9"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121553" y="1590102"/>
            <a:ext cx="1877424" cy="458009"/>
          </a:xfrm>
          <a:prstGeom prst="rect">
            <a:avLst/>
          </a:prstGeom>
        </p:spPr>
      </p:pic>
      <p:pic>
        <p:nvPicPr>
          <p:cNvPr id="28" name="Picture 27">
            <a:extLst>
              <a:ext uri="{FF2B5EF4-FFF2-40B4-BE49-F238E27FC236}">
                <a16:creationId xmlns:a16="http://schemas.microsoft.com/office/drawing/2014/main" xmlns="" id="{047BFABB-BEB1-1AAF-00C6-AB4BE0A44C27}"/>
              </a:ext>
            </a:extLst>
          </p:cNvPr>
          <p:cNvPicPr>
            <a:picLocks noChangeAspect="1"/>
          </p:cNvPicPr>
          <p:nvPr/>
        </p:nvPicPr>
        <p:blipFill>
          <a:blip r:embed="rId10">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611560" y="2547334"/>
            <a:ext cx="2511216" cy="662362"/>
          </a:xfrm>
          <a:prstGeom prst="rect">
            <a:avLst/>
          </a:prstGeom>
        </p:spPr>
      </p:pic>
      <p:pic>
        <p:nvPicPr>
          <p:cNvPr id="4" name="Picture 3">
            <a:extLst>
              <a:ext uri="{FF2B5EF4-FFF2-40B4-BE49-F238E27FC236}">
                <a16:creationId xmlns:a16="http://schemas.microsoft.com/office/drawing/2014/main" xmlns="" id="{752259E8-5455-0C41-2B21-86C2A112F211}"/>
              </a:ext>
            </a:extLst>
          </p:cNvPr>
          <p:cNvPicPr>
            <a:picLocks noChangeAspect="1"/>
          </p:cNvPicPr>
          <p:nvPr/>
        </p:nvPicPr>
        <p:blipFill>
          <a:blip r:embed="rId11">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403648" y="4677852"/>
            <a:ext cx="936104" cy="1123326"/>
          </a:xfrm>
          <a:prstGeom prst="rect">
            <a:avLst/>
          </a:prstGeom>
        </p:spPr>
      </p:pic>
      <p:pic>
        <p:nvPicPr>
          <p:cNvPr id="11" name="Picture 10">
            <a:extLst>
              <a:ext uri="{FF2B5EF4-FFF2-40B4-BE49-F238E27FC236}">
                <a16:creationId xmlns:a16="http://schemas.microsoft.com/office/drawing/2014/main" xmlns="" id="{FE00B362-1310-9A76-E93E-9BB5F373E774}"/>
              </a:ext>
            </a:extLst>
          </p:cNvPr>
          <p:cNvPicPr>
            <a:picLocks noChangeAspect="1"/>
          </p:cNvPicPr>
          <p:nvPr/>
        </p:nvPicPr>
        <p:blipFill>
          <a:blip r:embed="rId1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635896" y="2428350"/>
            <a:ext cx="1911974" cy="640610"/>
          </a:xfrm>
          <a:prstGeom prst="rect">
            <a:avLst/>
          </a:prstGeom>
        </p:spPr>
      </p:pic>
      <p:pic>
        <p:nvPicPr>
          <p:cNvPr id="16" name="Picture 15">
            <a:extLst>
              <a:ext uri="{FF2B5EF4-FFF2-40B4-BE49-F238E27FC236}">
                <a16:creationId xmlns:a16="http://schemas.microsoft.com/office/drawing/2014/main" xmlns="" id="{C4DAB6D6-FD4C-EA8F-19F7-56879BFA9BCE}"/>
              </a:ext>
            </a:extLst>
          </p:cNvPr>
          <p:cNvPicPr>
            <a:picLocks noChangeAspect="1"/>
          </p:cNvPicPr>
          <p:nvPr/>
        </p:nvPicPr>
        <p:blipFill>
          <a:blip r:embed="rId13">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6516216" y="4454031"/>
            <a:ext cx="1679428" cy="1679428"/>
          </a:xfrm>
          <a:prstGeom prst="rect">
            <a:avLst/>
          </a:prstGeom>
        </p:spPr>
      </p:pic>
      <p:pic>
        <p:nvPicPr>
          <p:cNvPr id="9" name="Picture 8">
            <a:extLst>
              <a:ext uri="{FF2B5EF4-FFF2-40B4-BE49-F238E27FC236}">
                <a16:creationId xmlns:a16="http://schemas.microsoft.com/office/drawing/2014/main" xmlns="" id="{5C96678B-C391-284A-FE31-90E08B2198FD}"/>
              </a:ext>
            </a:extLst>
          </p:cNvPr>
          <p:cNvPicPr>
            <a:picLocks noChangeAspect="1"/>
          </p:cNvPicPr>
          <p:nvPr/>
        </p:nvPicPr>
        <p:blipFill>
          <a:blip r:embed="rId14">
            <a:grayscl/>
            <a:extLst>
              <a:ext uri="{28A0092B-C50C-407E-A947-70E740481C1C}">
                <a14:useLocalDpi xmlns:a14="http://schemas.microsoft.com/office/drawing/2010/main" val="0"/>
              </a:ext>
            </a:extLst>
          </a:blip>
          <a:stretch>
            <a:fillRect/>
          </a:stretch>
        </p:blipFill>
        <p:spPr>
          <a:xfrm>
            <a:off x="4044352" y="4720003"/>
            <a:ext cx="1147484" cy="1147484"/>
          </a:xfrm>
          <a:prstGeom prst="rect">
            <a:avLst/>
          </a:prstGeom>
        </p:spPr>
      </p:pic>
    </p:spTree>
    <p:extLst>
      <p:ext uri="{BB962C8B-B14F-4D97-AF65-F5344CB8AC3E}">
        <p14:creationId xmlns:p14="http://schemas.microsoft.com/office/powerpoint/2010/main" val="32220003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BDF1A6-CE25-24DF-5479-DC70B625374B}"/>
              </a:ext>
            </a:extLst>
          </p:cNvPr>
          <p:cNvSpPr>
            <a:spLocks noGrp="1"/>
          </p:cNvSpPr>
          <p:nvPr>
            <p:ph type="title"/>
          </p:nvPr>
        </p:nvSpPr>
        <p:spPr/>
        <p:txBody>
          <a:bodyPr>
            <a:normAutofit/>
          </a:bodyPr>
          <a:lstStyle/>
          <a:p>
            <a:r>
              <a:rPr lang="tr-TR" b="1" dirty="0">
                <a:solidFill>
                  <a:srgbClr val="3E3A5F"/>
                </a:solidFill>
              </a:rPr>
              <a:t>Contact Us</a:t>
            </a:r>
          </a:p>
        </p:txBody>
      </p:sp>
      <p:sp>
        <p:nvSpPr>
          <p:cNvPr id="3" name="Content Placeholder 2">
            <a:extLst>
              <a:ext uri="{FF2B5EF4-FFF2-40B4-BE49-F238E27FC236}">
                <a16:creationId xmlns:a16="http://schemas.microsoft.com/office/drawing/2014/main" xmlns="" id="{F23BA601-9C79-2F26-EBF3-3AB48F8BD77A}"/>
              </a:ext>
            </a:extLst>
          </p:cNvPr>
          <p:cNvSpPr>
            <a:spLocks noGrp="1"/>
          </p:cNvSpPr>
          <p:nvPr>
            <p:ph idx="1"/>
          </p:nvPr>
        </p:nvSpPr>
        <p:spPr>
          <a:xfrm>
            <a:off x="628650" y="1597942"/>
            <a:ext cx="7886700" cy="4351338"/>
          </a:xfrm>
        </p:spPr>
        <p:txBody>
          <a:bodyPr>
            <a:normAutofit/>
          </a:bodyPr>
          <a:lstStyle/>
          <a:p>
            <a:pPr marL="0" indent="0">
              <a:buNone/>
            </a:pPr>
            <a:r>
              <a:rPr lang="tr-TR" sz="1800" b="1" dirty="0"/>
              <a:t>Tel 1: </a:t>
            </a:r>
            <a:r>
              <a:rPr lang="tr-TR" sz="1800" dirty="0">
                <a:solidFill>
                  <a:srgbClr val="666666"/>
                </a:solidFill>
              </a:rPr>
              <a:t>+44 7551 00 49 72 </a:t>
            </a:r>
          </a:p>
          <a:p>
            <a:pPr marL="0" indent="0">
              <a:buNone/>
            </a:pPr>
            <a:r>
              <a:rPr lang="tr-TR" sz="1800" b="1" dirty="0"/>
              <a:t>Tel 2: </a:t>
            </a:r>
            <a:r>
              <a:rPr lang="tr-TR" sz="1800" dirty="0">
                <a:solidFill>
                  <a:srgbClr val="666666"/>
                </a:solidFill>
              </a:rPr>
              <a:t>+44 7464 17 89 61</a:t>
            </a:r>
          </a:p>
          <a:p>
            <a:pPr marL="0" indent="0">
              <a:buNone/>
            </a:pPr>
            <a:r>
              <a:rPr lang="tr-TR" sz="1800" b="1" dirty="0"/>
              <a:t>Tel 3: </a:t>
            </a:r>
            <a:r>
              <a:rPr lang="tr-TR" sz="1800" dirty="0">
                <a:solidFill>
                  <a:srgbClr val="666666"/>
                </a:solidFill>
              </a:rPr>
              <a:t>+90 542 561 58 38</a:t>
            </a:r>
          </a:p>
          <a:p>
            <a:pPr marL="0" indent="0">
              <a:buNone/>
            </a:pPr>
            <a:r>
              <a:rPr lang="tr-TR" sz="1800" b="1" dirty="0"/>
              <a:t>E-mail: </a:t>
            </a:r>
            <a:r>
              <a:rPr lang="tr-TR" sz="1800" dirty="0">
                <a:solidFill>
                  <a:srgbClr val="666666"/>
                </a:solidFill>
              </a:rPr>
              <a:t>info@iknowtechnology.uk</a:t>
            </a:r>
          </a:p>
          <a:p>
            <a:pPr marL="0" indent="0">
              <a:buNone/>
            </a:pPr>
            <a:r>
              <a:rPr lang="tr-TR" sz="1800" b="1" dirty="0"/>
              <a:t>Web:</a:t>
            </a:r>
            <a:r>
              <a:rPr lang="tr-TR" sz="1800" dirty="0"/>
              <a:t> </a:t>
            </a:r>
            <a:r>
              <a:rPr lang="tr-TR" sz="1800" dirty="0">
                <a:solidFill>
                  <a:srgbClr val="666666"/>
                </a:solidFill>
              </a:rPr>
              <a:t>https://iknowtechnology.uk</a:t>
            </a:r>
          </a:p>
          <a:p>
            <a:pPr marL="0" indent="0">
              <a:buNone/>
            </a:pPr>
            <a:endParaRPr lang="tr-TR" sz="1800" b="1" dirty="0"/>
          </a:p>
          <a:p>
            <a:pPr marL="0" indent="0">
              <a:buNone/>
            </a:pPr>
            <a:r>
              <a:rPr lang="tr-TR" sz="1800" b="1" dirty="0">
                <a:solidFill>
                  <a:srgbClr val="3E3A5F"/>
                </a:solidFill>
              </a:rPr>
              <a:t>Offices:</a:t>
            </a:r>
          </a:p>
          <a:p>
            <a:pPr marL="342900" indent="-342900">
              <a:buFont typeface="+mj-lt"/>
              <a:buAutoNum type="arabicPeriod"/>
            </a:pPr>
            <a:r>
              <a:rPr lang="tr-TR" sz="1800" dirty="0">
                <a:solidFill>
                  <a:srgbClr val="666666"/>
                </a:solidFill>
              </a:rPr>
              <a:t>Darussafaka Mah. Kilim Sok. Maslak, Sariyer, Istanbul, Turkey</a:t>
            </a:r>
          </a:p>
          <a:p>
            <a:pPr marL="342900" indent="-342900">
              <a:buFont typeface="+mj-lt"/>
              <a:buAutoNum type="arabicPeriod"/>
            </a:pPr>
            <a:r>
              <a:rPr lang="tr-TR" sz="1800" dirty="0">
                <a:solidFill>
                  <a:srgbClr val="666666"/>
                </a:solidFill>
              </a:rPr>
              <a:t>Trakya University, 1. Murat, Trakya Science Park, Edirne, Turkey</a:t>
            </a:r>
          </a:p>
          <a:p>
            <a:pPr marL="342900" indent="-342900">
              <a:buFont typeface="+mj-lt"/>
              <a:buAutoNum type="arabicPeriod"/>
            </a:pPr>
            <a:r>
              <a:rPr lang="tr-TR" sz="1800" dirty="0">
                <a:solidFill>
                  <a:srgbClr val="666666"/>
                </a:solidFill>
              </a:rPr>
              <a:t>NKU Science Park, Silahtaraga Mah, Corlu, Tekirdag, Turkey</a:t>
            </a:r>
          </a:p>
          <a:p>
            <a:pPr marL="342900" indent="-342900">
              <a:buFont typeface="+mj-lt"/>
              <a:buAutoNum type="arabicPeriod"/>
            </a:pPr>
            <a:r>
              <a:rPr lang="tr-TR" sz="1800" dirty="0">
                <a:solidFill>
                  <a:srgbClr val="666666"/>
                </a:solidFill>
              </a:rPr>
              <a:t>17 Green Lanes, London, England, N16 9BS, United Kingdom</a:t>
            </a:r>
          </a:p>
          <a:p>
            <a:pPr marL="342900" indent="-342900">
              <a:buFont typeface="+mj-lt"/>
              <a:buAutoNum type="arabicPeriod"/>
            </a:pPr>
            <a:r>
              <a:rPr lang="en-US" sz="1800" dirty="0">
                <a:solidFill>
                  <a:srgbClr val="666666"/>
                </a:solidFill>
              </a:rPr>
              <a:t>Core, Brown St, Manchester</a:t>
            </a:r>
            <a:r>
              <a:rPr lang="tr-TR" sz="1800" dirty="0">
                <a:solidFill>
                  <a:srgbClr val="666666"/>
                </a:solidFill>
              </a:rPr>
              <a:t>,</a:t>
            </a:r>
            <a:r>
              <a:rPr lang="en-US" sz="1800" dirty="0">
                <a:solidFill>
                  <a:srgbClr val="666666"/>
                </a:solidFill>
              </a:rPr>
              <a:t> M2 1DH</a:t>
            </a:r>
            <a:r>
              <a:rPr lang="tr-TR" sz="1800" dirty="0">
                <a:solidFill>
                  <a:srgbClr val="666666"/>
                </a:solidFill>
              </a:rPr>
              <a:t>, United Kingdom</a:t>
            </a:r>
          </a:p>
        </p:txBody>
      </p:sp>
      <p:sp>
        <p:nvSpPr>
          <p:cNvPr id="4" name="Footer Placeholder 3">
            <a:extLst>
              <a:ext uri="{FF2B5EF4-FFF2-40B4-BE49-F238E27FC236}">
                <a16:creationId xmlns:a16="http://schemas.microsoft.com/office/drawing/2014/main" xmlns="" id="{A6F394CB-D667-4C4B-9A97-74CDC469E2CA}"/>
              </a:ext>
            </a:extLst>
          </p:cNvPr>
          <p:cNvSpPr>
            <a:spLocks noGrp="1"/>
          </p:cNvSpPr>
          <p:nvPr>
            <p:ph type="ftr" sz="quarter" idx="11"/>
          </p:nvPr>
        </p:nvSpPr>
        <p:spPr/>
        <p:txBody>
          <a:bodyPr/>
          <a:lstStyle/>
          <a:p>
            <a:r>
              <a:rPr lang="tr-TR" dirty="0"/>
              <a:t>iKnow Technology</a:t>
            </a:r>
          </a:p>
        </p:txBody>
      </p:sp>
      <p:sp>
        <p:nvSpPr>
          <p:cNvPr id="5" name="Slide Number Placeholder 4">
            <a:extLst>
              <a:ext uri="{FF2B5EF4-FFF2-40B4-BE49-F238E27FC236}">
                <a16:creationId xmlns:a16="http://schemas.microsoft.com/office/drawing/2014/main" xmlns="" id="{87359A34-F1FF-E642-E80A-663AFF9E487B}"/>
              </a:ext>
            </a:extLst>
          </p:cNvPr>
          <p:cNvSpPr>
            <a:spLocks noGrp="1"/>
          </p:cNvSpPr>
          <p:nvPr>
            <p:ph type="sldNum" sz="quarter" idx="12"/>
          </p:nvPr>
        </p:nvSpPr>
        <p:spPr/>
        <p:txBody>
          <a:bodyPr/>
          <a:lstStyle/>
          <a:p>
            <a:fld id="{45536E09-86AD-465C-A544-548EAC427A74}" type="slidenum">
              <a:rPr lang="tr-TR" smtClean="0"/>
              <a:t>25</a:t>
            </a:fld>
            <a:endParaRPr lang="tr-TR"/>
          </a:p>
        </p:txBody>
      </p:sp>
      <p:pic>
        <p:nvPicPr>
          <p:cNvPr id="6" name="Picture 5">
            <a:extLst>
              <a:ext uri="{FF2B5EF4-FFF2-40B4-BE49-F238E27FC236}">
                <a16:creationId xmlns:a16="http://schemas.microsoft.com/office/drawing/2014/main" xmlns="" id="{3B7D042B-D433-EBBF-CD53-BAD7D01155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6256" y="135972"/>
            <a:ext cx="2098196" cy="307334"/>
          </a:xfrm>
          <a:prstGeom prst="rect">
            <a:avLst/>
          </a:prstGeom>
        </p:spPr>
      </p:pic>
    </p:spTree>
    <p:extLst>
      <p:ext uri="{BB962C8B-B14F-4D97-AF65-F5344CB8AC3E}">
        <p14:creationId xmlns:p14="http://schemas.microsoft.com/office/powerpoint/2010/main" val="243700253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A68532-E41D-C3C4-4D21-A508EDC01A36}"/>
              </a:ext>
            </a:extLst>
          </p:cNvPr>
          <p:cNvSpPr>
            <a:spLocks noGrp="1"/>
          </p:cNvSpPr>
          <p:nvPr>
            <p:ph type="title"/>
          </p:nvPr>
        </p:nvSpPr>
        <p:spPr>
          <a:xfrm>
            <a:off x="630235" y="3068960"/>
            <a:ext cx="7886700" cy="1325563"/>
          </a:xfrm>
        </p:spPr>
        <p:txBody>
          <a:bodyPr/>
          <a:lstStyle/>
          <a:p>
            <a:pPr algn="ctr"/>
            <a:r>
              <a:rPr lang="tr-TR" b="1" dirty="0">
                <a:solidFill>
                  <a:srgbClr val="666666"/>
                </a:solidFill>
              </a:rPr>
              <a:t>THANK YOU</a:t>
            </a:r>
          </a:p>
        </p:txBody>
      </p:sp>
      <p:pic>
        <p:nvPicPr>
          <p:cNvPr id="7" name="Picture 6">
            <a:extLst>
              <a:ext uri="{FF2B5EF4-FFF2-40B4-BE49-F238E27FC236}">
                <a16:creationId xmlns:a16="http://schemas.microsoft.com/office/drawing/2014/main" xmlns="" id="{06A955C0-3140-89CE-8208-2679A274ADE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1636" y="1700808"/>
            <a:ext cx="7220727" cy="1057658"/>
          </a:xfrm>
          <a:prstGeom prst="rect">
            <a:avLst/>
          </a:prstGeom>
        </p:spPr>
      </p:pic>
    </p:spTree>
    <p:extLst>
      <p:ext uri="{BB962C8B-B14F-4D97-AF65-F5344CB8AC3E}">
        <p14:creationId xmlns:p14="http://schemas.microsoft.com/office/powerpoint/2010/main" val="420262162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13320</TotalTime>
  <Words>2286</Words>
  <Application>Microsoft Office PowerPoint</Application>
  <PresentationFormat>Ekran Gösterisi (4:3)</PresentationFormat>
  <Paragraphs>338</Paragraphs>
  <Slides>26</Slides>
  <Notes>0</Notes>
  <HiddenSlides>0</HiddenSlides>
  <MMClips>0</MMClips>
  <ScaleCrop>false</ScaleCrop>
  <HeadingPairs>
    <vt:vector size="4" baseType="variant">
      <vt:variant>
        <vt:lpstr>Tema</vt:lpstr>
      </vt:variant>
      <vt:variant>
        <vt:i4>1</vt:i4>
      </vt:variant>
      <vt:variant>
        <vt:lpstr>Slayt Başlıkları</vt:lpstr>
      </vt:variant>
      <vt:variant>
        <vt:i4>26</vt:i4>
      </vt:variant>
    </vt:vector>
  </HeadingPairs>
  <TitlesOfParts>
    <vt:vector size="27" baseType="lpstr">
      <vt:lpstr>Office Theme</vt:lpstr>
      <vt:lpstr>PowerPoint Sunusu</vt:lpstr>
      <vt:lpstr>Table of Contents</vt:lpstr>
      <vt:lpstr>Overview</vt:lpstr>
      <vt:lpstr>Our Values</vt:lpstr>
      <vt:lpstr>Industries</vt:lpstr>
      <vt:lpstr>Historical Milestones</vt:lpstr>
      <vt:lpstr>Our Services</vt:lpstr>
      <vt:lpstr>Our Services - Project Management</vt:lpstr>
      <vt:lpstr>Our Services - Software Development</vt:lpstr>
      <vt:lpstr>Our Services -   Business Analysis &amp; Solution Architecture</vt:lpstr>
      <vt:lpstr>Our Service - Testing &amp; Quality Assurance</vt:lpstr>
      <vt:lpstr>Our Service - Operation Support</vt:lpstr>
      <vt:lpstr>Working Models</vt:lpstr>
      <vt:lpstr>Working Models - Turn Key Solutions</vt:lpstr>
      <vt:lpstr>Working Models - Managed Services</vt:lpstr>
      <vt:lpstr>Working Models - Consultancy</vt:lpstr>
      <vt:lpstr>Working Models - Outsourcing Services</vt:lpstr>
      <vt:lpstr>About iKnow - Tech Stack</vt:lpstr>
      <vt:lpstr>About iKnow - Tech Stack</vt:lpstr>
      <vt:lpstr>What We Deliver?</vt:lpstr>
      <vt:lpstr>What We Deliver Rather Than Code? </vt:lpstr>
      <vt:lpstr>Knowledge Transfer</vt:lpstr>
      <vt:lpstr>iKnow’s Expertise</vt:lpstr>
      <vt:lpstr>Some of Our Clients</vt:lpstr>
      <vt:lpstr>Contact Us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IKNOW</dc:title>
  <dc:subject>Company Presentation</dc:subject>
  <dc:creator>Okan Pulukcu</dc:creator>
  <cp:lastModifiedBy>Lenovo</cp:lastModifiedBy>
  <cp:revision>38</cp:revision>
  <dcterms:created xsi:type="dcterms:W3CDTF">2024-08-29T16:43:26Z</dcterms:created>
  <dcterms:modified xsi:type="dcterms:W3CDTF">2025-08-05T18:57:48Z</dcterms:modified>
</cp:coreProperties>
</file>